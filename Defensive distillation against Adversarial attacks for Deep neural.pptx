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62" r:id="rId5"/>
    <p:sldId id="269" r:id="rId6"/>
    <p:sldId id="312" r:id="rId7"/>
    <p:sldId id="316" r:id="rId8"/>
    <p:sldId id="310" r:id="rId9"/>
    <p:sldId id="323" r:id="rId10"/>
    <p:sldId id="263" r:id="rId11"/>
    <p:sldId id="315" r:id="rId12"/>
    <p:sldId id="306" r:id="rId13"/>
    <p:sldId id="301" r:id="rId14"/>
    <p:sldId id="326" r:id="rId15"/>
    <p:sldId id="317" r:id="rId16"/>
    <p:sldId id="305" r:id="rId17"/>
    <p:sldId id="328" r:id="rId18"/>
    <p:sldId id="319" r:id="rId19"/>
    <p:sldId id="321" r:id="rId20"/>
    <p:sldId id="327" r:id="rId21"/>
    <p:sldId id="265" r:id="rId22"/>
    <p:sldId id="322" r:id="rId23"/>
    <p:sldId id="307" r:id="rId24"/>
    <p:sldId id="311" r:id="rId25"/>
    <p:sldId id="308" r:id="rId26"/>
    <p:sldId id="302" r:id="rId27"/>
    <p:sldId id="309" r:id="rId28"/>
    <p:sldId id="264" r:id="rId29"/>
    <p:sldId id="25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017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76601" autoAdjust="0"/>
  </p:normalViewPr>
  <p:slideViewPr>
    <p:cSldViewPr snapToGrid="0">
      <p:cViewPr varScale="1">
        <p:scale>
          <a:sx n="63" d="100"/>
          <a:sy n="63" d="100"/>
        </p:scale>
        <p:origin x="14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23:55:08.723"/>
    </inkml:context>
    <inkml:brush xml:id="br0">
      <inkml:brushProperty name="width" value="0.35" units="cm"/>
      <inkml:brushProperty name="height" value="0.35" units="cm"/>
      <inkml:brushProperty name="color" value="#FFFFFF"/>
    </inkml:brush>
  </inkml:definitions>
  <inkml:trace contextRef="#ctx0" brushRef="#br0">71 19 24575,'-8'0'0,"-3"-4"0,-3-1 0,-3 0 0,-3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23:55:27.590"/>
    </inkml:context>
    <inkml:brush xml:id="br0">
      <inkml:brushProperty name="width" value="0.35" units="cm"/>
      <inkml:brushProperty name="height" value="0.35" units="cm"/>
      <inkml:brushProperty name="color" value="#FFFFFF"/>
    </inkml:brush>
  </inkml:definitions>
  <inkml:trace contextRef="#ctx0" brushRef="#br0">1 189 24575,'903'0'0,"-838"-3"0,90-16 0,-146 18 0,25-6 0,-1-2 0,53-20 0,-57 18 0,1 0 0,1 3 0,39-7 0,280-36 0,-293 45 0,201-13 0,116 21 0,-1425-2 0,1002 2 0,-1 3 0,1 3 0,-50 13 0,51-10 0,-1-2 0,0-1 0,-60 0 0,-22-11 0,31 0 0,-178 16 0,246-8-273,1 2 0,0 0 0,0 2 0,-30 14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23:55:40.783"/>
    </inkml:context>
    <inkml:brush xml:id="br0">
      <inkml:brushProperty name="width" value="0.35" units="cm"/>
      <inkml:brushProperty name="height" value="0.35" units="cm"/>
      <inkml:brushProperty name="color" value="#FFFFFF"/>
    </inkml:brush>
  </inkml:definitions>
  <inkml:trace contextRef="#ctx0" brushRef="#br0">1 745 24575,'0'-9'0,"0"1"0,0-1 0,2 1 0,-2-1 0,0 1 0,1-1 0,-1 1 0,2 0 0,-2-1 0,1 9 0,-1-8 0,2-1 0,-2 1 0,1-1 0,1 9 0,-1-8 0,-1-1 0,2 9 0,-1-8 0,1 8 0,-1-8 0,1 8 0,-2-9 0,1 9 0,1 0 0,3-8 0,47-60 0,-43 68 0,120-84 0,198 24 0,-210 52 0,2855-17-761,-1511 41 502,-1316-7 379,157-26 522,-67-152-384,669 127-258,-480 67 0,-398-33 59,-1-9 0,45-51-1,-15 9-1599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23:55:49.195"/>
    </inkml:context>
    <inkml:brush xml:id="br0">
      <inkml:brushProperty name="width" value="0.35" units="cm"/>
      <inkml:brushProperty name="height" value="0.35" units="cm"/>
      <inkml:brushProperty name="color" value="#FFFFFF"/>
    </inkml:brush>
  </inkml:definitions>
  <inkml:trace contextRef="#ctx0" brushRef="#br0">1 0 24575,'0'3'0,"1"-1"0,-1 1 0,1 0 0,0-1 0,0 1 0,0-1 0,0 1 0,0-1 0,0 1 0,1-1 0,-1 0 0,1 0 0,-1 0 0,1 0 0,0 0 0,0 0 0,0 0 0,0 0 0,0-1 0,1 1 0,2 1 0,5 3 0,1-1 0,-1 0 0,19 6 0,17 1 0,0-2 0,80 7 0,-73-10 0,614 38 0,4-45 0,-356-3 0,1480 3 0,-3078 37-758,277-7 1137,-4-26 0,997-4-379,0 0 0,1 2 0,-24 4 0,32-5 0,-1 0 0,1 1 0,0-1 0,0 1 0,0 0 0,0 0 0,0 0 0,1 1 0,-1-1 0,1 1 0,-1 0 0,1 0 0,0 0 0,-4 4 0,7-6 0,-1 0 0,1 0 0,-1 0 0,1-1 0,-1 1 0,1 0 0,-1 0 0,1 0 0,0 0 0,-1 0 0,1 0 0,0 0 0,0 0 0,0 0 0,0 0 0,0 0 0,0 0 0,0 0 0,0 0 0,0 0 0,1 0 0,-1 0 0,0 0 0,1 0 0,-1 0 0,1 1 0,0 0 0,1-1 0,-1 1 0,1 0 0,0-1 0,-1 1 0,1-1 0,0 0 0,0 1 0,0-1 0,0 0 0,3 1 0,7 2 0,-1 0 0,1-1 0,20 2 0,93 7 0,186-8 0,-172-5 0,1996-3-1286,-2099 4 1314,0 1-1,0 2 0,0 1 0,-1 2 1,43 13-1,-41-8 160,2-2 0,-1-2 0,1-1 0,0-2 0,68-2 0,38-4-1552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9T10:35:18.411"/>
    </inkml:context>
    <inkml:brush xml:id="br0">
      <inkml:brushProperty name="width" value="0.05" units="cm"/>
      <inkml:brushProperty name="height" value="0.05" units="cm"/>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B5011-4EC5-4B67-B8FF-6E3C8AD983C2}" type="datetimeFigureOut">
              <a:rPr lang="en-IN" smtClean="0"/>
              <a:t>20-01-2026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C2B877-60DB-401D-A40C-35079CE2EC84}" type="slidenum">
              <a:rPr lang="en-IN" smtClean="0"/>
              <a:t>‹#›</a:t>
            </a:fld>
            <a:endParaRPr lang="en-IN"/>
          </a:p>
        </p:txBody>
      </p:sp>
    </p:spTree>
    <p:extLst>
      <p:ext uri="{BB962C8B-B14F-4D97-AF65-F5344CB8AC3E}">
        <p14:creationId xmlns:p14="http://schemas.microsoft.com/office/powerpoint/2010/main" val="1238792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2</a:t>
            </a:fld>
            <a:endParaRPr lang="en-IN"/>
          </a:p>
        </p:txBody>
      </p:sp>
    </p:spTree>
    <p:extLst>
      <p:ext uri="{BB962C8B-B14F-4D97-AF65-F5344CB8AC3E}">
        <p14:creationId xmlns:p14="http://schemas.microsoft.com/office/powerpoint/2010/main" val="461407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examines how this attack adversely impacts the classification accuracy of the model.</a:t>
            </a:r>
          </a:p>
          <a:p>
            <a:r>
              <a:rPr lang="en-US" sz="1200" b="0" i="0" kern="1200" dirty="0">
                <a:solidFill>
                  <a:schemeClr val="tx1"/>
                </a:solidFill>
                <a:effectLst/>
                <a:latin typeface="+mn-lt"/>
                <a:ea typeface="+mn-ea"/>
                <a:cs typeface="+mn-cs"/>
              </a:rPr>
              <a:t>Adversarial attacks involve the deliberate manipulation of input data to deceive an AI model into making erroneous predictions.</a:t>
            </a:r>
          </a:p>
          <a:p>
            <a:r>
              <a:rPr lang="en-US" dirty="0"/>
              <a:t>reduces the magnitude of the gradients of the model’s loss with respect to its inputs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It also introduces a modified Defensive Distillation approach </a:t>
            </a:r>
          </a:p>
          <a:p>
            <a:r>
              <a:rPr lang="en-US" sz="1200" b="0" i="0" kern="1200" dirty="0">
                <a:solidFill>
                  <a:schemeClr val="tx1"/>
                </a:solidFill>
                <a:effectLst/>
                <a:latin typeface="+mn-lt"/>
                <a:ea typeface="+mn-ea"/>
                <a:cs typeface="+mn-cs"/>
              </a:rPr>
              <a:t>to defend against the FGSM attack to make the classification </a:t>
            </a:r>
          </a:p>
          <a:p>
            <a:r>
              <a:rPr lang="en-US" sz="1200" b="0" i="0" kern="1200" dirty="0">
                <a:solidFill>
                  <a:schemeClr val="tx1"/>
                </a:solidFill>
                <a:effectLst/>
                <a:latin typeface="+mn-lt"/>
                <a:ea typeface="+mn-ea"/>
                <a:cs typeface="+mn-cs"/>
              </a:rPr>
              <a:t>models robust.</a:t>
            </a:r>
          </a:p>
          <a:p>
            <a:endParaRPr lang="en-IN" dirty="0"/>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anose="05000000000000000000" pitchFamily="2" charset="2"/>
              </a:rPr>
              <a:t>Use D</a:t>
            </a:r>
            <a:r>
              <a:rPr lang="en-US" dirty="0"/>
              <a:t>efensive distillation to reduce the effectiveness of adversarial samples on DNNs. </a:t>
            </a:r>
            <a:r>
              <a:rPr lang="en-US" dirty="0">
                <a:sym typeface="Wingdings" panose="05000000000000000000" pitchFamily="2" charset="2"/>
              </a:rPr>
              <a:t>D</a:t>
            </a:r>
            <a:r>
              <a:rPr lang="en-US" dirty="0"/>
              <a:t>istilling a network will tend to reduce gradients, encouraging the output to be nearly flat close to training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FF0000"/>
                </a:solidFill>
              </a:rPr>
              <a:t>defensive distillation </a:t>
            </a:r>
            <a:r>
              <a:rPr lang="en-US" dirty="0"/>
              <a:t>to </a:t>
            </a:r>
            <a:r>
              <a:rPr lang="en-US" i="1" u="sng" dirty="0">
                <a:solidFill>
                  <a:srgbClr val="FF0000"/>
                </a:solidFill>
              </a:rPr>
              <a:t>smoothen</a:t>
            </a:r>
            <a:r>
              <a:rPr lang="en-US" dirty="0"/>
              <a:t> the model learned by a DNN architecture during </a:t>
            </a:r>
            <a:r>
              <a:rPr lang="en-US" b="1" u="sng" dirty="0">
                <a:solidFill>
                  <a:schemeClr val="accent2">
                    <a:lumMod val="75000"/>
                  </a:schemeClr>
                </a:solidFill>
              </a:rPr>
              <a:t>training</a:t>
            </a:r>
            <a:r>
              <a:rPr lang="en-US" dirty="0">
                <a:solidFill>
                  <a:srgbClr val="00B050"/>
                </a:solidFill>
              </a:rPr>
              <a:t>,</a:t>
            </a:r>
            <a:r>
              <a:rPr lang="en-US" dirty="0"/>
              <a:t> by helping the model </a:t>
            </a:r>
            <a:r>
              <a:rPr lang="en-US" u="sng" dirty="0"/>
              <a:t>generalize</a:t>
            </a:r>
            <a:r>
              <a:rPr lang="en-US" dirty="0"/>
              <a:t> better to samples </a:t>
            </a:r>
            <a:r>
              <a:rPr lang="en-US" u="sng" dirty="0"/>
              <a:t>outside of its training dataset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sym typeface="Wingdings" panose="05000000000000000000" pitchFamily="2" charset="2"/>
            </a:endParaRPr>
          </a:p>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3</a:t>
            </a:fld>
            <a:endParaRPr lang="en-IN"/>
          </a:p>
        </p:txBody>
      </p:sp>
    </p:spTree>
    <p:extLst>
      <p:ext uri="{BB962C8B-B14F-4D97-AF65-F5344CB8AC3E}">
        <p14:creationId xmlns:p14="http://schemas.microsoft.com/office/powerpoint/2010/main" val="2970888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Sign just takes the direction of the gradient component </a:t>
            </a:r>
          </a:p>
          <a:p>
            <a:pPr marL="0" indent="0">
              <a:buNone/>
            </a:pPr>
            <a:r>
              <a:rPr lang="en-US" dirty="0"/>
              <a:t>Which allows us to take an neural network might </a:t>
            </a:r>
            <a:r>
              <a:rPr lang="en-US" dirty="0" err="1"/>
              <a:t>recoghnize</a:t>
            </a:r>
            <a:r>
              <a:rPr lang="en-US" dirty="0"/>
              <a:t> as one class and switch it up, </a:t>
            </a:r>
            <a:r>
              <a:rPr lang="en-US" dirty="0" err="1"/>
              <a:t>peturb</a:t>
            </a:r>
            <a:r>
              <a:rPr lang="en-US" dirty="0"/>
              <a:t> it and make it look like to the neural network a different class </a:t>
            </a:r>
          </a:p>
          <a:p>
            <a:pPr marL="0" indent="0">
              <a:buNone/>
            </a:pPr>
            <a:r>
              <a:rPr lang="en-US" sz="1200" b="0" i="0" kern="1200" dirty="0">
                <a:solidFill>
                  <a:schemeClr val="tx1"/>
                </a:solidFill>
                <a:effectLst/>
                <a:latin typeface="+mn-lt"/>
                <a:ea typeface="+mn-ea"/>
                <a:cs typeface="+mn-cs"/>
              </a:rPr>
              <a:t>The method works by computing the gradient of the loss function with respect to the input data and then adjusting the input data in the direction of the sign of this gradient. The perturbation is controlled by a parameter which determines the magnitude of the change applied to the input. The perturbed input is then given to the model, which often results in a misclassification.</a:t>
            </a:r>
            <a:endParaRPr lang="en-US" dirty="0"/>
          </a:p>
          <a:p>
            <a:pPr marL="0" indent="0">
              <a:buNone/>
            </a:pPr>
            <a:r>
              <a:rPr lang="en-US" dirty="0" err="1"/>
              <a:t>Essentialy</a:t>
            </a:r>
            <a:r>
              <a:rPr lang="en-US" dirty="0"/>
              <a:t> this is a technique to attack the machine learning model , the number 3 is </a:t>
            </a:r>
            <a:r>
              <a:rPr lang="en-US" dirty="0" err="1"/>
              <a:t>catoorized</a:t>
            </a:r>
            <a:r>
              <a:rPr lang="en-US" dirty="0"/>
              <a:t> as number 3 by the model , if you add a purposely designed noise to image </a:t>
            </a:r>
          </a:p>
          <a:p>
            <a:pPr marL="0" indent="0">
              <a:buNone/>
            </a:pPr>
            <a:r>
              <a:rPr lang="en-US" dirty="0"/>
              <a:t>perturb the input data by adding a small amount of noise based on the gradient of the loss with respect to the input</a:t>
            </a:r>
          </a:p>
          <a:p>
            <a:pPr marL="0" indent="0">
              <a:buNone/>
            </a:pPr>
            <a:r>
              <a:rPr lang="en-US" b="1" dirty="0"/>
              <a:t>Untargeted attack </a:t>
            </a:r>
            <a:r>
              <a:rPr lang="en-US" sz="1200" b="1" i="0" kern="1200" dirty="0">
                <a:solidFill>
                  <a:schemeClr val="tx1"/>
                </a:solidFill>
                <a:effectLst/>
                <a:latin typeface="+mn-lt"/>
                <a:ea typeface="+mn-ea"/>
                <a:cs typeface="+mn-cs"/>
              </a:rPr>
              <a:t>aims to cause a model to misclassify an input into </a:t>
            </a:r>
            <a:r>
              <a:rPr lang="en-US" sz="1200" b="1" i="1" kern="1200" dirty="0">
                <a:solidFill>
                  <a:schemeClr val="tx1"/>
                </a:solidFill>
                <a:effectLst/>
                <a:latin typeface="+mn-lt"/>
                <a:ea typeface="+mn-ea"/>
                <a:cs typeface="+mn-cs"/>
              </a:rPr>
              <a:t>any</a:t>
            </a:r>
            <a:r>
              <a:rPr lang="en-US" sz="1200" b="1" i="0" kern="1200" dirty="0">
                <a:solidFill>
                  <a:schemeClr val="tx1"/>
                </a:solidFill>
                <a:effectLst/>
                <a:latin typeface="+mn-lt"/>
                <a:ea typeface="+mn-ea"/>
                <a:cs typeface="+mn-cs"/>
              </a:rPr>
              <a:t> incorrect category, maximizing the model's overall loss</a:t>
            </a:r>
            <a:endParaRPr lang="en-US" b="1" dirty="0"/>
          </a:p>
          <a:p>
            <a:pPr marL="0" indent="0">
              <a:buNone/>
            </a:pPr>
            <a:r>
              <a:rPr lang="en-US" b="1" dirty="0"/>
              <a:t>Perturbation added in the direction that maximizes the classification loss</a:t>
            </a:r>
            <a:endParaRPr lang="en-US" sz="1200" b="1" i="0" kern="1200" dirty="0">
              <a:solidFill>
                <a:schemeClr val="tx1"/>
              </a:solidFill>
              <a:effectLst/>
              <a:latin typeface="+mn-lt"/>
              <a:ea typeface="+mn-ea"/>
              <a:cs typeface="+mn-cs"/>
            </a:endParaRPr>
          </a:p>
          <a:p>
            <a:pPr marL="0" indent="0">
              <a:buNone/>
            </a:pPr>
            <a:r>
              <a:rPr lang="en-US" sz="1200" b="0" i="0" kern="1200" dirty="0">
                <a:solidFill>
                  <a:schemeClr val="tx1"/>
                </a:solidFill>
                <a:effectLst/>
                <a:latin typeface="+mn-lt"/>
                <a:ea typeface="+mn-ea"/>
                <a:cs typeface="+mn-cs"/>
              </a:rPr>
              <a:t>At its core, FGSM is a white-box attack, meaning it requires knowledge of the model’s architecture and parameters</a:t>
            </a:r>
          </a:p>
          <a:p>
            <a:pPr marL="0" indent="0">
              <a:buNone/>
            </a:pPr>
            <a:r>
              <a:rPr lang="en-US" sz="1200" b="0" i="0" kern="1200" dirty="0">
                <a:solidFill>
                  <a:schemeClr val="tx1"/>
                </a:solidFill>
                <a:effectLst/>
                <a:latin typeface="+mn-lt"/>
                <a:ea typeface="+mn-ea"/>
                <a:cs typeface="+mn-cs"/>
              </a:rPr>
              <a:t> T</a:t>
            </a:r>
            <a:r>
              <a:rPr lang="en-US" dirty="0"/>
              <a:t>he idea is to The simplicity of FGSM lies in its effectiveness in creating adversarial exam perturb the input data by adding a small amount of noise based on the gradient of the loss with respect to the input .</a:t>
            </a:r>
            <a:r>
              <a:rPr lang="en-US" dirty="0" err="1"/>
              <a:t>ples</a:t>
            </a:r>
            <a:r>
              <a:rPr lang="en-US" dirty="0"/>
              <a:t> with minimal computational cost.</a:t>
            </a:r>
            <a:endParaRPr lang="en-US" sz="1200" dirty="0"/>
          </a:p>
          <a:p>
            <a:pPr marL="0" indent="0">
              <a:buNone/>
            </a:pPr>
            <a:r>
              <a:rPr lang="en-US" sz="1200" dirty="0"/>
              <a:t>O </a:t>
            </a:r>
            <a:r>
              <a:rPr lang="en-US" sz="1200" dirty="0">
                <a:sym typeface="Wingdings" panose="05000000000000000000" pitchFamily="2" charset="2"/>
              </a:rPr>
              <a:t> parameters of a model</a:t>
            </a:r>
          </a:p>
          <a:p>
            <a:pPr marL="0" indent="0">
              <a:buNone/>
            </a:pPr>
            <a:r>
              <a:rPr lang="en-US" sz="1200" dirty="0">
                <a:sym typeface="Wingdings" panose="05000000000000000000" pitchFamily="2" charset="2"/>
              </a:rPr>
              <a:t>x  input of the model </a:t>
            </a:r>
            <a:r>
              <a:rPr lang="en-US" sz="1200" dirty="0"/>
              <a:t> </a:t>
            </a:r>
            <a:endParaRPr lang="en-IN" sz="1200" dirty="0"/>
          </a:p>
          <a:p>
            <a:endParaRPr lang="en-IN" dirty="0"/>
          </a:p>
          <a:p>
            <a:r>
              <a:rPr lang="en-US" sz="1200" b="0" i="0" kern="1200" dirty="0">
                <a:solidFill>
                  <a:schemeClr val="tx1"/>
                </a:solidFill>
                <a:effectLst/>
                <a:latin typeface="+mn-lt"/>
                <a:ea typeface="+mn-ea"/>
                <a:cs typeface="+mn-cs"/>
              </a:rPr>
              <a:t>One of the first attack strategies proposed is Fast Gradient Sign Method (FGSM), developed by Ian Goodfellow et al. in 2014. Given an image, we create an adversarial example by the following expression:</a:t>
            </a:r>
          </a:p>
          <a:p>
            <a:r>
              <a:rPr lang="en-US" sz="1200" b="0" i="0" kern="1200" dirty="0">
                <a:solidFill>
                  <a:schemeClr val="tx1"/>
                </a:solidFill>
                <a:effectLst/>
                <a:latin typeface="+mn-lt"/>
                <a:ea typeface="+mn-ea"/>
                <a:cs typeface="+mn-cs"/>
              </a:rPr>
              <a:t>x~=x+ϵ⋅sign(∇</a:t>
            </a:r>
            <a:r>
              <a:rPr lang="en-US" sz="1200" b="0" i="0" kern="1200" dirty="0" err="1">
                <a:solidFill>
                  <a:schemeClr val="tx1"/>
                </a:solidFill>
                <a:effectLst/>
                <a:latin typeface="+mn-lt"/>
                <a:ea typeface="+mn-ea"/>
                <a:cs typeface="+mn-cs"/>
              </a:rPr>
              <a:t>xJ</a:t>
            </a:r>
            <a:r>
              <a:rPr lang="en-US" sz="1200" b="0" i="0" kern="1200" dirty="0">
                <a:solidFill>
                  <a:schemeClr val="tx1"/>
                </a:solidFill>
                <a:effectLst/>
                <a:latin typeface="+mn-lt"/>
                <a:ea typeface="+mn-ea"/>
                <a:cs typeface="+mn-cs"/>
              </a:rPr>
              <a:t>(</a:t>
            </a:r>
            <a:r>
              <a:rPr lang="en-US" sz="1200" b="0" i="0" kern="1200" dirty="0" err="1">
                <a:solidFill>
                  <a:schemeClr val="tx1"/>
                </a:solidFill>
                <a:effectLst/>
                <a:latin typeface="+mn-lt"/>
                <a:ea typeface="+mn-ea"/>
                <a:cs typeface="+mn-cs"/>
              </a:rPr>
              <a:t>θ,x,y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 term J(</a:t>
            </a:r>
            <a:r>
              <a:rPr lang="en-US" sz="1200" b="0" i="0" kern="1200" dirty="0" err="1">
                <a:solidFill>
                  <a:schemeClr val="tx1"/>
                </a:solidFill>
                <a:effectLst/>
                <a:latin typeface="+mn-lt"/>
                <a:ea typeface="+mn-ea"/>
                <a:cs typeface="+mn-cs"/>
              </a:rPr>
              <a:t>θ,x,y</a:t>
            </a:r>
            <a:r>
              <a:rPr lang="en-US" sz="1200" b="0" i="0" kern="1200" dirty="0">
                <a:solidFill>
                  <a:schemeClr val="tx1"/>
                </a:solidFill>
                <a:effectLst/>
                <a:latin typeface="+mn-lt"/>
                <a:ea typeface="+mn-ea"/>
                <a:cs typeface="+mn-cs"/>
              </a:rPr>
              <a:t>) represents the loss of the network for classifying input image x as label y ; ϵ is the intensity of the noise, and x~ the final adversarial example. The equation resembles SGD and is actually nothing else than that. We change the input image x in the direction of maximizing the loss J(</a:t>
            </a:r>
            <a:r>
              <a:rPr lang="en-US" sz="1200" b="0" i="0" kern="1200" dirty="0" err="1">
                <a:solidFill>
                  <a:schemeClr val="tx1"/>
                </a:solidFill>
                <a:effectLst/>
                <a:latin typeface="+mn-lt"/>
                <a:ea typeface="+mn-ea"/>
                <a:cs typeface="+mn-cs"/>
              </a:rPr>
              <a:t>θ,x,y</a:t>
            </a:r>
            <a:r>
              <a:rPr lang="en-US" sz="1200" b="0" i="0" kern="1200" dirty="0">
                <a:solidFill>
                  <a:schemeClr val="tx1"/>
                </a:solidFill>
                <a:effectLst/>
                <a:latin typeface="+mn-lt"/>
                <a:ea typeface="+mn-ea"/>
                <a:cs typeface="+mn-cs"/>
              </a:rPr>
              <a:t>) . This is exactly the other way round as during training, where we try to minimize the loss. The sign function and ϵ can be seen as gradient clipping and learning rate specifically. We only allow our attack to change each pixel value by ϵ . You can also see that the attack can be performed very fast, as it only requires a single forward and backward pass.</a:t>
            </a:r>
          </a:p>
          <a:p>
            <a:endParaRPr lang="en-IN" dirty="0"/>
          </a:p>
          <a:p>
            <a:r>
              <a:rPr lang="en-US" sz="1200" b="0" i="0" kern="1200" dirty="0">
                <a:solidFill>
                  <a:schemeClr val="tx1"/>
                </a:solidFill>
                <a:effectLst/>
                <a:latin typeface="+mn-lt"/>
                <a:ea typeface="+mn-ea"/>
                <a:cs typeface="+mn-cs"/>
              </a:rPr>
              <a:t> The objective is, with the minimum pixel changes to the image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it</a:t>
            </a:r>
          </a:p>
          <a:p>
            <a:r>
              <a:rPr lang="en-US" sz="1200" b="0" i="0" kern="1200" dirty="0">
                <a:solidFill>
                  <a:schemeClr val="tx1"/>
                </a:solidFill>
                <a:effectLst/>
                <a:latin typeface="+mn-lt"/>
                <a:ea typeface="+mn-ea"/>
                <a:cs typeface="+mn-cs"/>
              </a:rPr>
              <a:t>drops the probability </a:t>
            </a:r>
            <a:r>
              <a:rPr lang="en-US" sz="1200" b="0" i="1" kern="1200" dirty="0">
                <a:solidFill>
                  <a:schemeClr val="tx1"/>
                </a:solidFill>
                <a:effectLst/>
                <a:latin typeface="+mn-lt"/>
                <a:ea typeface="+mn-ea"/>
                <a:cs typeface="+mn-cs"/>
              </a:rPr>
              <a:t>pᵢ(x) </a:t>
            </a:r>
            <a:r>
              <a:rPr lang="en-US" sz="1200" b="0" i="0" kern="1200" dirty="0">
                <a:solidFill>
                  <a:schemeClr val="tx1"/>
                </a:solidFill>
                <a:effectLst/>
                <a:latin typeface="+mn-lt"/>
                <a:ea typeface="+mn-ea"/>
                <a:cs typeface="+mn-cs"/>
              </a:rPr>
              <a:t>the most for the ground truth label </a:t>
            </a:r>
            <a:r>
              <a:rPr lang="en-US" sz="1200" b="0" i="1"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 while</a:t>
            </a:r>
          </a:p>
          <a:p>
            <a:r>
              <a:rPr lang="en-US" sz="1200" b="0" i="0" kern="1200" dirty="0">
                <a:solidFill>
                  <a:schemeClr val="tx1"/>
                </a:solidFill>
                <a:effectLst/>
                <a:latin typeface="+mn-lt"/>
                <a:ea typeface="+mn-ea"/>
                <a:cs typeface="+mn-cs"/>
              </a:rPr>
              <a:t>increase </a:t>
            </a:r>
            <a:r>
              <a:rPr lang="en-US" sz="1200" b="0" i="1" kern="1200" dirty="0">
                <a:solidFill>
                  <a:schemeClr val="tx1"/>
                </a:solidFill>
                <a:effectLst/>
                <a:latin typeface="+mn-lt"/>
                <a:ea typeface="+mn-ea"/>
                <a:cs typeface="+mn-cs"/>
              </a:rPr>
              <a:t>pⱼ(x) </a:t>
            </a:r>
            <a:r>
              <a:rPr lang="en-US" sz="1200" b="0" i="0" kern="1200" dirty="0">
                <a:solidFill>
                  <a:schemeClr val="tx1"/>
                </a:solidFill>
                <a:effectLst/>
                <a:latin typeface="+mn-lt"/>
                <a:ea typeface="+mn-ea"/>
                <a:cs typeface="+mn-cs"/>
              </a:rPr>
              <a:t>the most for a wrong label </a:t>
            </a:r>
            <a:r>
              <a:rPr lang="en-US" sz="1200" b="0" i="1" kern="1200" dirty="0">
                <a:solidFill>
                  <a:schemeClr val="tx1"/>
                </a:solidFill>
                <a:effectLst/>
                <a:latin typeface="+mn-lt"/>
                <a:ea typeface="+mn-ea"/>
                <a:cs typeface="+mn-cs"/>
              </a:rPr>
              <a:t>j</a:t>
            </a:r>
            <a:r>
              <a:rPr lang="en-US" sz="1200" b="0" i="0" kern="1200" dirty="0">
                <a:solidFill>
                  <a:schemeClr val="tx1"/>
                </a:solidFill>
                <a:effectLst/>
                <a:latin typeface="+mn-lt"/>
                <a:ea typeface="+mn-ea"/>
                <a:cs typeface="+mn-cs"/>
              </a:rPr>
              <a:t> (or a specific target label </a:t>
            </a:r>
            <a:r>
              <a:rPr lang="en-US" sz="1200" b="0" i="1" kern="1200" dirty="0">
                <a:solidFill>
                  <a:schemeClr val="tx1"/>
                </a:solidFill>
                <a:effectLst/>
                <a:latin typeface="+mn-lt"/>
                <a:ea typeface="+mn-ea"/>
                <a:cs typeface="+mn-cs"/>
              </a:rPr>
              <a:t>j</a:t>
            </a:r>
            <a:r>
              <a:rPr lang="en-US" sz="1200" b="0" i="0" kern="1200" dirty="0">
                <a:solidFill>
                  <a:schemeClr val="tx1"/>
                </a:solidFill>
                <a:effectLst/>
                <a:latin typeface="+mn-lt"/>
                <a:ea typeface="+mn-ea"/>
                <a:cs typeface="+mn-cs"/>
              </a:rPr>
              <a:t>).</a:t>
            </a:r>
          </a:p>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5</a:t>
            </a:fld>
            <a:endParaRPr lang="en-IN"/>
          </a:p>
        </p:txBody>
      </p:sp>
    </p:spTree>
    <p:extLst>
      <p:ext uri="{BB962C8B-B14F-4D97-AF65-F5344CB8AC3E}">
        <p14:creationId xmlns:p14="http://schemas.microsoft.com/office/powerpoint/2010/main" val="3795855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6</a:t>
            </a:fld>
            <a:endParaRPr lang="en-IN"/>
          </a:p>
        </p:txBody>
      </p:sp>
    </p:spTree>
    <p:extLst>
      <p:ext uri="{BB962C8B-B14F-4D97-AF65-F5344CB8AC3E}">
        <p14:creationId xmlns:p14="http://schemas.microsoft.com/office/powerpoint/2010/main" val="11818720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F958B-2CC2-CF2B-E9DB-5ECB410BD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2CB89-499B-0097-0CFE-14809246A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B2E671-865F-6BCB-6F9D-BA810DD661C6}"/>
              </a:ext>
            </a:extLst>
          </p:cNvPr>
          <p:cNvSpPr>
            <a:spLocks noGrp="1"/>
          </p:cNvSpPr>
          <p:nvPr>
            <p:ph type="body" idx="1"/>
          </p:nvPr>
        </p:nvSpPr>
        <p:spPr/>
        <p:txBody>
          <a:bodyPr/>
          <a:lstStyle/>
          <a:p>
            <a:r>
              <a:rPr lang="en-US" dirty="0"/>
              <a:t>implement a deep neural network (DNN) — specifically, a convolutional neural network (CNN) — with two convolutional blocks followed by fully connected layers, matching standard architectures used in distillation and adversarial robustness studies [e.g., Paper X].”</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already found the theta that minimizes the loss and we </a:t>
            </a:r>
            <a:r>
              <a:rPr lang="en-US" dirty="0" err="1"/>
              <a:t>peturb</a:t>
            </a:r>
            <a:r>
              <a:rPr lang="en-US" dirty="0"/>
              <a:t> the input image x to max the loss causing the model to misclassify </a:t>
            </a:r>
            <a:endParaRPr lang="en-IN" dirty="0"/>
          </a:p>
          <a:p>
            <a:endParaRPr lang="en-IN" dirty="0"/>
          </a:p>
          <a:p>
            <a:r>
              <a:rPr lang="en-IN" dirty="0"/>
              <a:t>Training Phase:</a:t>
            </a:r>
          </a:p>
          <a:p>
            <a:r>
              <a:rPr lang="en-IN" dirty="0"/>
              <a:t>[Input Images] → [Model Learns </a:t>
            </a:r>
            <a:r>
              <a:rPr lang="el-GR" dirty="0"/>
              <a:t>θ] → [</a:t>
            </a:r>
            <a:r>
              <a:rPr lang="en-IN" dirty="0"/>
              <a:t>Minimize Loss] → Model Saved (</a:t>
            </a:r>
            <a:r>
              <a:rPr lang="el-GR" dirty="0"/>
              <a:t>θ </a:t>
            </a:r>
            <a:r>
              <a:rPr lang="en-IN" dirty="0"/>
              <a:t>fixed)</a:t>
            </a:r>
          </a:p>
          <a:p>
            <a:endParaRPr lang="en-IN" dirty="0"/>
          </a:p>
          <a:p>
            <a:r>
              <a:rPr lang="en-IN" dirty="0"/>
              <a:t>Testing Phase:</a:t>
            </a:r>
          </a:p>
          <a:p>
            <a:r>
              <a:rPr lang="en-IN" dirty="0"/>
              <a:t>[Clean Image '3'] </a:t>
            </a:r>
          </a:p>
          <a:p>
            <a:r>
              <a:rPr lang="en-IN" dirty="0"/>
              <a:t>     ↓</a:t>
            </a:r>
          </a:p>
          <a:p>
            <a:r>
              <a:rPr lang="en-IN" dirty="0"/>
              <a:t>[Compute ∇ₓL → Direction to fool model]</a:t>
            </a:r>
          </a:p>
          <a:p>
            <a:r>
              <a:rPr lang="en-IN" dirty="0"/>
              <a:t>     ↓</a:t>
            </a:r>
          </a:p>
          <a:p>
            <a:r>
              <a:rPr lang="en-IN" dirty="0"/>
              <a:t>[Add </a:t>
            </a:r>
            <a:r>
              <a:rPr lang="el-GR" dirty="0"/>
              <a:t>ε·</a:t>
            </a:r>
            <a:r>
              <a:rPr lang="en-IN" dirty="0"/>
              <a:t>sign(∇ₓL) → Perturbed '3']</a:t>
            </a:r>
          </a:p>
          <a:p>
            <a:r>
              <a:rPr lang="en-IN" dirty="0"/>
              <a:t>     ↓</a:t>
            </a:r>
          </a:p>
          <a:p>
            <a:r>
              <a:rPr lang="en-IN" dirty="0"/>
              <a:t>[Same Frozen Model → Predicts '8']</a:t>
            </a:r>
          </a:p>
        </p:txBody>
      </p:sp>
      <p:sp>
        <p:nvSpPr>
          <p:cNvPr id="4" name="Slide Number Placeholder 3">
            <a:extLst>
              <a:ext uri="{FF2B5EF4-FFF2-40B4-BE49-F238E27FC236}">
                <a16:creationId xmlns:a16="http://schemas.microsoft.com/office/drawing/2014/main" id="{6FBA8FE1-F12F-DBAC-0FD4-7569052A1EFF}"/>
              </a:ext>
            </a:extLst>
          </p:cNvPr>
          <p:cNvSpPr>
            <a:spLocks noGrp="1"/>
          </p:cNvSpPr>
          <p:nvPr>
            <p:ph type="sldNum" sz="quarter" idx="5"/>
          </p:nvPr>
        </p:nvSpPr>
        <p:spPr/>
        <p:txBody>
          <a:bodyPr/>
          <a:lstStyle/>
          <a:p>
            <a:fld id="{03C2B877-60DB-401D-A40C-35079CE2EC84}" type="slidenum">
              <a:rPr lang="en-IN" smtClean="0"/>
              <a:t>7</a:t>
            </a:fld>
            <a:endParaRPr lang="en-IN"/>
          </a:p>
        </p:txBody>
      </p:sp>
    </p:spTree>
    <p:extLst>
      <p:ext uri="{BB962C8B-B14F-4D97-AF65-F5344CB8AC3E}">
        <p14:creationId xmlns:p14="http://schemas.microsoft.com/office/powerpoint/2010/main" val="25190143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CA0CF-69EA-B5F2-9D69-E971B6ECD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49854-0B2F-B260-DB57-27D52061E3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D1A62-72DB-94A5-EB74-3B5CFB3753DF}"/>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ct</a:t>
            </a:r>
            <a:r>
              <a:rPr lang="en-US" sz="1200" b="0" i="0" kern="1200" dirty="0">
                <a:solidFill>
                  <a:schemeClr val="tx1"/>
                </a:solidFill>
                <a:effectLst/>
                <a:latin typeface="+mn-lt"/>
                <a:ea typeface="+mn-ea"/>
                <a:cs typeface="+mn-cs"/>
              </a:rPr>
              <a:t> of the FGSM attack on the CNN model for different noise levels in absence </a:t>
            </a:r>
          </a:p>
          <a:p>
            <a:r>
              <a:rPr lang="en-US" sz="1200" b="0" i="0" kern="1200" dirty="0">
                <a:solidFill>
                  <a:schemeClr val="tx1"/>
                </a:solidFill>
                <a:effectLst/>
                <a:latin typeface="+mn-lt"/>
                <a:ea typeface="+mn-ea"/>
                <a:cs typeface="+mn-cs"/>
              </a:rPr>
              <a:t>of defensive distillation</a:t>
            </a:r>
          </a:p>
          <a:p>
            <a:endParaRPr lang="en-IN" dirty="0"/>
          </a:p>
        </p:txBody>
      </p:sp>
      <p:sp>
        <p:nvSpPr>
          <p:cNvPr id="4" name="Slide Number Placeholder 3">
            <a:extLst>
              <a:ext uri="{FF2B5EF4-FFF2-40B4-BE49-F238E27FC236}">
                <a16:creationId xmlns:a16="http://schemas.microsoft.com/office/drawing/2014/main" id="{3A5D83A0-836E-E31F-4424-A3E4719B4D06}"/>
              </a:ext>
            </a:extLst>
          </p:cNvPr>
          <p:cNvSpPr>
            <a:spLocks noGrp="1"/>
          </p:cNvSpPr>
          <p:nvPr>
            <p:ph type="sldNum" sz="quarter" idx="5"/>
          </p:nvPr>
        </p:nvSpPr>
        <p:spPr/>
        <p:txBody>
          <a:bodyPr/>
          <a:lstStyle/>
          <a:p>
            <a:fld id="{03C2B877-60DB-401D-A40C-35079CE2EC84}" type="slidenum">
              <a:rPr lang="en-IN" smtClean="0"/>
              <a:t>8</a:t>
            </a:fld>
            <a:endParaRPr lang="en-IN"/>
          </a:p>
        </p:txBody>
      </p:sp>
    </p:spTree>
    <p:extLst>
      <p:ext uri="{BB962C8B-B14F-4D97-AF65-F5344CB8AC3E}">
        <p14:creationId xmlns:p14="http://schemas.microsoft.com/office/powerpoint/2010/main" val="18768967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933CF-11F9-5C74-C327-9AAFFA85A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01FBFD-C5AF-FEDB-F9CF-E06A9E811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BC277B-143D-48F4-4AB4-24FA365653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00D2769-6D77-3521-80A2-3254CA739F89}"/>
              </a:ext>
            </a:extLst>
          </p:cNvPr>
          <p:cNvSpPr>
            <a:spLocks noGrp="1"/>
          </p:cNvSpPr>
          <p:nvPr>
            <p:ph type="sldNum" sz="quarter" idx="5"/>
          </p:nvPr>
        </p:nvSpPr>
        <p:spPr/>
        <p:txBody>
          <a:bodyPr/>
          <a:lstStyle/>
          <a:p>
            <a:fld id="{03C2B877-60DB-401D-A40C-35079CE2EC84}" type="slidenum">
              <a:rPr lang="en-IN" smtClean="0"/>
              <a:t>9</a:t>
            </a:fld>
            <a:endParaRPr lang="en-IN"/>
          </a:p>
        </p:txBody>
      </p:sp>
    </p:spTree>
    <p:extLst>
      <p:ext uri="{BB962C8B-B14F-4D97-AF65-F5344CB8AC3E}">
        <p14:creationId xmlns:p14="http://schemas.microsoft.com/office/powerpoint/2010/main" val="4175589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behind the knowledge transfer operated by distillation is to reduce the computational complexity of DNN architectures by transferring knowledge from larger architectures to smaller ones.</a:t>
            </a:r>
          </a:p>
          <a:p>
            <a:r>
              <a:rPr lang="en-US" dirty="0"/>
              <a:t>	resource constrained devices (e.g. smartphones) which cannot rely on powerful GPUs to perform computations. </a:t>
            </a:r>
          </a:p>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10</a:t>
            </a:fld>
            <a:endParaRPr lang="en-IN"/>
          </a:p>
        </p:txBody>
      </p:sp>
    </p:spTree>
    <p:extLst>
      <p:ext uri="{BB962C8B-B14F-4D97-AF65-F5344CB8AC3E}">
        <p14:creationId xmlns:p14="http://schemas.microsoft.com/office/powerpoint/2010/main" val="3175923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the Teacher Model: First, you train a standard, often large, neural network (the “teacher”) on your dataset with the original, hard labels (e.g., “cat,” “dog,” “car”). This is a typical model training process.</a:t>
            </a:r>
          </a:p>
          <a:p>
            <a:r>
              <a:rPr lang="en-US" dirty="0"/>
              <a:t>Generate Soft Labels with Temperature: Next, you use the trained teacher model to generate predictions for the same training dataset. However, instead of using the standard </a:t>
            </a:r>
            <a:r>
              <a:rPr lang="en-US" dirty="0" err="1"/>
              <a:t>softmax</a:t>
            </a:r>
            <a:r>
              <a:rPr lang="en-US" dirty="0"/>
              <a:t> output, you use a modified version with a “temperature” parameter (T).</a:t>
            </a:r>
          </a:p>
          <a:p>
            <a:r>
              <a:rPr lang="en-US" dirty="0"/>
              <a:t>Train the Student Model: Finally, you train a second network (the “student”), which can have the same or a different architecture. The crucial difference is that this student model is trained using the soft labels produced by the teacher as its ground truth. </a:t>
            </a:r>
          </a:p>
          <a:p>
            <a:endParaRPr lang="en-US" dirty="0"/>
          </a:p>
          <a:p>
            <a:r>
              <a:rPr lang="en-US" dirty="0"/>
              <a:t>Our intuition is that knowledge extracted by distillation, in</a:t>
            </a:r>
          </a:p>
          <a:p>
            <a:r>
              <a:rPr lang="en-US" dirty="0"/>
              <a:t>the form of probability vectors, and transferred in smaller</a:t>
            </a:r>
          </a:p>
          <a:p>
            <a:r>
              <a:rPr lang="en-US" dirty="0"/>
              <a:t>networks to maintain accuracies comparable with those of</a:t>
            </a:r>
          </a:p>
          <a:p>
            <a:r>
              <a:rPr lang="en-US" dirty="0"/>
              <a:t>larger networks can also be beneficial to improving </a:t>
            </a:r>
            <a:r>
              <a:rPr lang="en-US" dirty="0" err="1"/>
              <a:t>gener</a:t>
            </a:r>
            <a:r>
              <a:rPr lang="en-US" dirty="0"/>
              <a:t>-</a:t>
            </a:r>
          </a:p>
          <a:p>
            <a:r>
              <a:rPr lang="en-US" dirty="0" err="1"/>
              <a:t>alization</a:t>
            </a:r>
            <a:r>
              <a:rPr lang="en-US" dirty="0"/>
              <a:t> capabilities of DNNs outside of their training dataset</a:t>
            </a:r>
          </a:p>
          <a:p>
            <a:r>
              <a:rPr lang="en-US" dirty="0"/>
              <a:t>and therefore enhances their resilience to perturbations. Note</a:t>
            </a:r>
          </a:p>
          <a:p>
            <a:r>
              <a:rPr lang="en-US" dirty="0"/>
              <a:t>that throughout the remainder of this paper, we assume that</a:t>
            </a:r>
          </a:p>
          <a:p>
            <a:r>
              <a:rPr lang="en-US" dirty="0"/>
              <a:t>considered DNNs are used for classification tasks and designed</a:t>
            </a:r>
          </a:p>
          <a:p>
            <a:r>
              <a:rPr lang="en-US" dirty="0"/>
              <a:t>with a </a:t>
            </a:r>
            <a:r>
              <a:rPr lang="en-US" dirty="0" err="1"/>
              <a:t>softmax</a:t>
            </a:r>
            <a:r>
              <a:rPr lang="en-US" dirty="0"/>
              <a:t> layer as their output layer</a:t>
            </a:r>
          </a:p>
          <a:p>
            <a:endParaRPr lang="en-US" dirty="0"/>
          </a:p>
          <a:p>
            <a:r>
              <a:rPr lang="en-US" dirty="0"/>
              <a:t>Figure 1: The extended defensive distillation procedure: (1) the first neural network is trained as usual on one-hot labels, (2) a new labeling vector is defined for each training point by combining the original label information together with the first model’s predictive uncertainty—which is measured by taking several stochastic passes through the model to infer the logits, (3) the distilled model is trained at temperature T ≥ 1 with the new label vectors.</a:t>
            </a:r>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11</a:t>
            </a:fld>
            <a:endParaRPr lang="en-IN"/>
          </a:p>
        </p:txBody>
      </p:sp>
    </p:spTree>
    <p:extLst>
      <p:ext uri="{BB962C8B-B14F-4D97-AF65-F5344CB8AC3E}">
        <p14:creationId xmlns:p14="http://schemas.microsoft.com/office/powerpoint/2010/main" val="10603640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Defensive distillation to smoothen the model learned by a DNN architecture during training, by helping the model generalize better to samples outside of its training dataset.</a:t>
            </a:r>
          </a:p>
          <a:p>
            <a:r>
              <a:rPr lang="en-US" sz="1200" dirty="0"/>
              <a:t>To smoothen the model learned by a DNN architecture during training, by helping the model generalize better to samples outside of its training dataset.</a:t>
            </a:r>
          </a:p>
          <a:p>
            <a:endParaRPr lang="en-US" sz="1200" dirty="0"/>
          </a:p>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12</a:t>
            </a:fld>
            <a:endParaRPr lang="en-IN"/>
          </a:p>
        </p:txBody>
      </p:sp>
    </p:spTree>
    <p:extLst>
      <p:ext uri="{BB962C8B-B14F-4D97-AF65-F5344CB8AC3E}">
        <p14:creationId xmlns:p14="http://schemas.microsoft.com/office/powerpoint/2010/main" val="217948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value of T impacts the distillation , if you have </a:t>
            </a:r>
            <a:r>
              <a:rPr lang="en-US" dirty="0" err="1"/>
              <a:t>inapproatiate</a:t>
            </a:r>
            <a:r>
              <a:rPr lang="en-US" dirty="0"/>
              <a:t> of value of T (which you could destroy your information ) then it not only distills the impurities but also the desired elements of it. This value is found with experimentation so its one of the </a:t>
            </a:r>
            <a:r>
              <a:rPr lang="en-US" dirty="0" err="1"/>
              <a:t>hyperparamter</a:t>
            </a:r>
            <a:endParaRPr lang="en-US" dirty="0"/>
          </a:p>
          <a:p>
            <a:r>
              <a:rPr lang="en-US" dirty="0" err="1"/>
              <a:t>Softmax</a:t>
            </a:r>
            <a:r>
              <a:rPr lang="en-US" dirty="0"/>
              <a:t> function tends to hide the relative similarity between the other classes </a:t>
            </a:r>
            <a:r>
              <a:rPr lang="en-US" dirty="0">
                <a:sym typeface="Wingdings" panose="05000000000000000000" pitchFamily="2" charset="2"/>
              </a:rPr>
              <a:t> this info is important for distill learning</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Defensive distillation to smoothen the model learned by a DNN architecture during training, by helping the model generalize better to samples outside of its training dataset.</a:t>
            </a:r>
          </a:p>
          <a:p>
            <a:endParaRPr lang="en-US" dirty="0"/>
          </a:p>
          <a:p>
            <a:r>
              <a:rPr lang="en-US" sz="1200" b="0" i="0" kern="1200" dirty="0">
                <a:solidFill>
                  <a:schemeClr val="tx1"/>
                </a:solidFill>
                <a:effectLst/>
                <a:latin typeface="+mn-lt"/>
                <a:ea typeface="+mn-ea"/>
                <a:cs typeface="+mn-cs"/>
              </a:rPr>
              <a:t> The theory is that training on soft labels forces the student model to learn a much smoother function. Adversarial examples, especially those generated by gradient-based methods like FGSM (discussed in Section 4.2.1), exploit sharp, high-gradient areas of the model’s decision boundary. They find the steepest, quickest path to push an input over the line into another class. By training the student model on a smoothed probability landscape, defensive distillation drastically reduces the magnitude of the gradients of the model’s loss with respect to its inputs. If the gradient is near zero, gradient-based attacks are effectively blinded. They receive no clear signal on how to modify the input to change the model’s prediction, rendering them ineffective.</a:t>
            </a:r>
          </a:p>
          <a:p>
            <a:endParaRPr lang="en-US" sz="1200" b="0" i="0" kern="1200" dirty="0">
              <a:solidFill>
                <a:schemeClr val="tx1"/>
              </a:solidFill>
              <a:effectLst/>
              <a:latin typeface="+mn-lt"/>
              <a:ea typeface="+mn-ea"/>
              <a:cs typeface="+mn-cs"/>
            </a:endParaRPr>
          </a:p>
          <a:p>
            <a:r>
              <a:rPr lang="en-US" dirty="0"/>
              <a:t>Again, the benefit of using soft-targets F (X) as training</a:t>
            </a:r>
          </a:p>
          <a:p>
            <a:r>
              <a:rPr lang="en-US" dirty="0"/>
              <a:t>labels lies in the additional knowledge found in probability</a:t>
            </a:r>
          </a:p>
          <a:p>
            <a:r>
              <a:rPr lang="en-US" dirty="0"/>
              <a:t>vectors compared to hard class labels. This additional entropy</a:t>
            </a:r>
          </a:p>
          <a:p>
            <a:r>
              <a:rPr lang="en-US" dirty="0"/>
              <a:t>encodes the relative differences between classes. For instance,</a:t>
            </a:r>
          </a:p>
          <a:p>
            <a:r>
              <a:rPr lang="en-US" dirty="0"/>
              <a:t>in the context of digit recognition developed later in section V,</a:t>
            </a:r>
          </a:p>
          <a:p>
            <a:r>
              <a:rPr lang="en-US" dirty="0"/>
              <a:t>given an image X of some handwritten digit, model F may</a:t>
            </a:r>
          </a:p>
          <a:p>
            <a:r>
              <a:rPr lang="en-US" dirty="0"/>
              <a:t>evaluate the probability of class 7 to F7(X) = 0.6 and the</a:t>
            </a:r>
          </a:p>
          <a:p>
            <a:r>
              <a:rPr lang="en-US" dirty="0"/>
              <a:t>probability of label 1 to F1(X) = 0.4, which then indicates</a:t>
            </a:r>
          </a:p>
          <a:p>
            <a:r>
              <a:rPr lang="en-US" dirty="0"/>
              <a:t>some structural similarity between 7s and 1s.</a:t>
            </a:r>
          </a:p>
          <a:p>
            <a:r>
              <a:rPr lang="en-US" dirty="0"/>
              <a:t>Training a network with this explicit relative information</a:t>
            </a:r>
          </a:p>
          <a:p>
            <a:r>
              <a:rPr lang="en-US" dirty="0"/>
              <a:t>about classes prevents models from fitting too tightly to the</a:t>
            </a:r>
          </a:p>
          <a:p>
            <a:r>
              <a:rPr lang="en-US" dirty="0"/>
              <a:t>data, and contributes to a better generalization around training</a:t>
            </a:r>
          </a:p>
          <a:p>
            <a:r>
              <a:rPr lang="en-US" dirty="0"/>
              <a:t>points. Note that the knowledge extraction performed by dis-</a:t>
            </a:r>
          </a:p>
          <a:p>
            <a:r>
              <a:rPr lang="en-US" dirty="0" err="1"/>
              <a:t>tillation</a:t>
            </a:r>
            <a:r>
              <a:rPr lang="en-US" dirty="0"/>
              <a:t> is controlled by a parameter: the </a:t>
            </a:r>
            <a:r>
              <a:rPr lang="en-US" dirty="0" err="1"/>
              <a:t>softmax</a:t>
            </a:r>
            <a:r>
              <a:rPr lang="en-US" dirty="0"/>
              <a:t> temperature</a:t>
            </a:r>
          </a:p>
          <a:p>
            <a:r>
              <a:rPr lang="en-US" dirty="0"/>
              <a:t>T . As described in section II, high temperatures force DNNs to</a:t>
            </a:r>
          </a:p>
          <a:p>
            <a:r>
              <a:rPr lang="en-US" dirty="0"/>
              <a:t>produce probabilities vectors with large values for each class.</a:t>
            </a:r>
          </a:p>
          <a:p>
            <a:r>
              <a:rPr lang="en-US" dirty="0"/>
              <a:t>In sections IV and V, we make this intuition more precise</a:t>
            </a:r>
          </a:p>
          <a:p>
            <a:r>
              <a:rPr lang="en-US" dirty="0"/>
              <a:t>with a theoretical analysis and an empirical evaluation</a:t>
            </a:r>
            <a:endParaRPr lang="en-IN" dirty="0"/>
          </a:p>
        </p:txBody>
      </p:sp>
      <p:sp>
        <p:nvSpPr>
          <p:cNvPr id="4" name="Slide Number Placeholder 3"/>
          <p:cNvSpPr>
            <a:spLocks noGrp="1"/>
          </p:cNvSpPr>
          <p:nvPr>
            <p:ph type="sldNum" sz="quarter" idx="5"/>
          </p:nvPr>
        </p:nvSpPr>
        <p:spPr/>
        <p:txBody>
          <a:bodyPr/>
          <a:lstStyle/>
          <a:p>
            <a:fld id="{E197A28A-97E5-49DC-B1F0-B9F7F5A1F686}" type="slidenum">
              <a:rPr lang="it-IT" smtClean="0"/>
              <a:t>13</a:t>
            </a:fld>
            <a:endParaRPr lang="it-IT"/>
          </a:p>
        </p:txBody>
      </p:sp>
    </p:spTree>
    <p:extLst>
      <p:ext uri="{BB962C8B-B14F-4D97-AF65-F5344CB8AC3E}">
        <p14:creationId xmlns:p14="http://schemas.microsoft.com/office/powerpoint/2010/main" val="1248350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7ABB6-7952-C977-6012-F463C01B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50E38-E751-8DE4-BE4F-50B98691D9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838314-3DEC-0A69-4BFC-1165B9BCF7EE}"/>
              </a:ext>
            </a:extLst>
          </p:cNvPr>
          <p:cNvSpPr>
            <a:spLocks noGrp="1"/>
          </p:cNvSpPr>
          <p:nvPr>
            <p:ph type="body" idx="1"/>
          </p:nvPr>
        </p:nvSpPr>
        <p:spPr/>
        <p:txBody>
          <a:bodyPr/>
          <a:lstStyle/>
          <a:p>
            <a:r>
              <a:rPr lang="en-US" dirty="0"/>
              <a:t>The value of T impacts the distillation , if you have </a:t>
            </a:r>
            <a:r>
              <a:rPr lang="en-US" dirty="0" err="1"/>
              <a:t>inapproatiate</a:t>
            </a:r>
            <a:r>
              <a:rPr lang="en-US" dirty="0"/>
              <a:t> of value of T (which you could destroy your information ) then it not only distills the impurities but also the desired elements of it. This value is found with experimentation so its one of the </a:t>
            </a:r>
            <a:r>
              <a:rPr lang="en-US" dirty="0" err="1"/>
              <a:t>hyperparamter</a:t>
            </a:r>
            <a:endParaRPr lang="en-US" dirty="0"/>
          </a:p>
          <a:p>
            <a:r>
              <a:rPr lang="en-US" dirty="0" err="1"/>
              <a:t>Softmax</a:t>
            </a:r>
            <a:r>
              <a:rPr lang="en-US" dirty="0"/>
              <a:t> function tends to hide the relative similarity between the other classes </a:t>
            </a:r>
            <a:r>
              <a:rPr lang="en-US" dirty="0">
                <a:sym typeface="Wingdings" panose="05000000000000000000" pitchFamily="2" charset="2"/>
              </a:rPr>
              <a:t> this info is important for distill learning</a:t>
            </a:r>
            <a:r>
              <a:rPr lang="en-US" dirty="0"/>
              <a:t>  </a:t>
            </a:r>
          </a:p>
          <a:p>
            <a:endParaRPr lang="en-US" dirty="0"/>
          </a:p>
          <a:p>
            <a:r>
              <a:rPr lang="en-US" sz="1200" b="0" i="0" kern="1200" dirty="0">
                <a:solidFill>
                  <a:schemeClr val="tx1"/>
                </a:solidFill>
                <a:effectLst/>
                <a:latin typeface="+mn-lt"/>
                <a:ea typeface="+mn-ea"/>
                <a:cs typeface="+mn-cs"/>
              </a:rPr>
              <a:t> The theory is that training on soft labels forces the student model to learn a much smoother function. Adversarial examples, especially those generated by gradient-based methods like FGSM (discussed in Section 4.2.1), exploit sharp, high-gradient areas of the model’s decision boundary. They find the steepest, quickest path to push an input over the line into another class. By training the student model on a smoothed probability landscape, defensive distillation drastically reduces the magnitude of the gradients of the model’s loss with respect to its inputs. If the gradient is near zero, gradient-based attacks are effectively blinded. They receive no clear signal on how to modify the input to change the model’s prediction, rendering them ineffective.</a:t>
            </a:r>
            <a:endParaRPr lang="en-IN" dirty="0"/>
          </a:p>
        </p:txBody>
      </p:sp>
      <p:sp>
        <p:nvSpPr>
          <p:cNvPr id="4" name="Slide Number Placeholder 3">
            <a:extLst>
              <a:ext uri="{FF2B5EF4-FFF2-40B4-BE49-F238E27FC236}">
                <a16:creationId xmlns:a16="http://schemas.microsoft.com/office/drawing/2014/main" id="{9677E45E-4558-8AE8-7B70-47A3DD775344}"/>
              </a:ext>
            </a:extLst>
          </p:cNvPr>
          <p:cNvSpPr>
            <a:spLocks noGrp="1"/>
          </p:cNvSpPr>
          <p:nvPr>
            <p:ph type="sldNum" sz="quarter" idx="5"/>
          </p:nvPr>
        </p:nvSpPr>
        <p:spPr/>
        <p:txBody>
          <a:bodyPr/>
          <a:lstStyle/>
          <a:p>
            <a:fld id="{E197A28A-97E5-49DC-B1F0-B9F7F5A1F686}" type="slidenum">
              <a:rPr lang="it-IT" smtClean="0"/>
              <a:t>14</a:t>
            </a:fld>
            <a:endParaRPr lang="it-IT"/>
          </a:p>
        </p:txBody>
      </p:sp>
    </p:spTree>
    <p:extLst>
      <p:ext uri="{BB962C8B-B14F-4D97-AF65-F5344CB8AC3E}">
        <p14:creationId xmlns:p14="http://schemas.microsoft.com/office/powerpoint/2010/main" val="964775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5636A-CA42-4C36-3767-06753CBF5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91305E-D2A7-B0B7-C922-443DBDBA4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83105-702A-9DC2-E02B-22EE34CCB4B4}"/>
              </a:ext>
            </a:extLst>
          </p:cNvPr>
          <p:cNvSpPr>
            <a:spLocks noGrp="1"/>
          </p:cNvSpPr>
          <p:nvPr>
            <p:ph type="body" idx="1"/>
          </p:nvPr>
        </p:nvSpPr>
        <p:spPr/>
        <p:txBody>
          <a:bodyPr/>
          <a:lstStyle/>
          <a:p>
            <a:r>
              <a:rPr lang="en-US" sz="1200" b="0" i="0" kern="1200" dirty="0" err="1">
                <a:solidFill>
                  <a:schemeClr val="tx1"/>
                </a:solidFill>
                <a:effectLst/>
                <a:latin typeface="+mn-lt"/>
                <a:ea typeface="+mn-ea"/>
                <a:cs typeface="+mn-cs"/>
              </a:rPr>
              <a:t>ct</a:t>
            </a:r>
            <a:r>
              <a:rPr lang="en-US" sz="1200" b="0" i="0" kern="1200" dirty="0">
                <a:solidFill>
                  <a:schemeClr val="tx1"/>
                </a:solidFill>
                <a:effectLst/>
                <a:latin typeface="+mn-lt"/>
                <a:ea typeface="+mn-ea"/>
                <a:cs typeface="+mn-cs"/>
              </a:rPr>
              <a:t> of the FGSM attack on the CNN model for different noise levels in absence </a:t>
            </a:r>
          </a:p>
          <a:p>
            <a:r>
              <a:rPr lang="en-US" sz="1200" b="0" i="0" kern="1200" dirty="0">
                <a:solidFill>
                  <a:schemeClr val="tx1"/>
                </a:solidFill>
                <a:effectLst/>
                <a:latin typeface="+mn-lt"/>
                <a:ea typeface="+mn-ea"/>
                <a:cs typeface="+mn-cs"/>
              </a:rPr>
              <a:t>of defensive distillation</a:t>
            </a:r>
          </a:p>
          <a:p>
            <a:endParaRPr lang="en-IN" dirty="0"/>
          </a:p>
        </p:txBody>
      </p:sp>
      <p:sp>
        <p:nvSpPr>
          <p:cNvPr id="4" name="Slide Number Placeholder 3">
            <a:extLst>
              <a:ext uri="{FF2B5EF4-FFF2-40B4-BE49-F238E27FC236}">
                <a16:creationId xmlns:a16="http://schemas.microsoft.com/office/drawing/2014/main" id="{C1D2FEB1-F3F9-40DD-B4C0-440BB7F3A19E}"/>
              </a:ext>
            </a:extLst>
          </p:cNvPr>
          <p:cNvSpPr>
            <a:spLocks noGrp="1"/>
          </p:cNvSpPr>
          <p:nvPr>
            <p:ph type="sldNum" sz="quarter" idx="5"/>
          </p:nvPr>
        </p:nvSpPr>
        <p:spPr/>
        <p:txBody>
          <a:bodyPr/>
          <a:lstStyle/>
          <a:p>
            <a:fld id="{03C2B877-60DB-401D-A40C-35079CE2EC84}" type="slidenum">
              <a:rPr lang="en-IN" smtClean="0"/>
              <a:t>15</a:t>
            </a:fld>
            <a:endParaRPr lang="en-IN"/>
          </a:p>
        </p:txBody>
      </p:sp>
    </p:spTree>
    <p:extLst>
      <p:ext uri="{BB962C8B-B14F-4D97-AF65-F5344CB8AC3E}">
        <p14:creationId xmlns:p14="http://schemas.microsoft.com/office/powerpoint/2010/main" val="1780602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both architectures and provides exact figures. In other</a:t>
            </a:r>
          </a:p>
          <a:p>
            <a:r>
              <a:rPr lang="en-US" dirty="0"/>
              <a:t>words, the rate plotted is the number of adversarial sample</a:t>
            </a:r>
          </a:p>
          <a:p>
            <a:r>
              <a:rPr lang="en-US" dirty="0"/>
              <a:t>targets that were reached. Two interesting observations can be</a:t>
            </a:r>
          </a:p>
          <a:p>
            <a:r>
              <a:rPr lang="en-US" dirty="0"/>
              <a:t>made: (1) increasing the temperature will generally speaking</a:t>
            </a:r>
          </a:p>
          <a:p>
            <a:r>
              <a:rPr lang="en-US" dirty="0"/>
              <a:t>make adversarial sample crafting harder, and (2) there is an</a:t>
            </a:r>
          </a:p>
          <a:p>
            <a:r>
              <a:rPr lang="en-US" dirty="0"/>
              <a:t>elbow point after which the rate largely remains constant</a:t>
            </a:r>
          </a:p>
          <a:p>
            <a:r>
              <a:rPr lang="en-US" dirty="0"/>
              <a:t>(≈ 0% for MNIST and ≈ 5% for CIFAR10).</a:t>
            </a:r>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16</a:t>
            </a:fld>
            <a:endParaRPr lang="en-IN"/>
          </a:p>
        </p:txBody>
      </p:sp>
    </p:spTree>
    <p:extLst>
      <p:ext uri="{BB962C8B-B14F-4D97-AF65-F5344CB8AC3E}">
        <p14:creationId xmlns:p14="http://schemas.microsoft.com/office/powerpoint/2010/main" val="2499795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C4B68-D31B-7A22-8AE2-F5FCC0D660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BAC05-B317-DF8D-1312-BCB63BB3B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F430C-F250-B5AA-E5E3-ECAB18C39BC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E2BD3D1-B8EB-FB1D-684C-22D88CFEB6A3}"/>
              </a:ext>
            </a:extLst>
          </p:cNvPr>
          <p:cNvSpPr>
            <a:spLocks noGrp="1"/>
          </p:cNvSpPr>
          <p:nvPr>
            <p:ph type="sldNum" sz="quarter" idx="5"/>
          </p:nvPr>
        </p:nvSpPr>
        <p:spPr/>
        <p:txBody>
          <a:bodyPr/>
          <a:lstStyle/>
          <a:p>
            <a:fld id="{03C2B877-60DB-401D-A40C-35079CE2EC84}" type="slidenum">
              <a:rPr lang="en-IN" smtClean="0"/>
              <a:t>17</a:t>
            </a:fld>
            <a:endParaRPr lang="en-IN"/>
          </a:p>
        </p:txBody>
      </p:sp>
    </p:spTree>
    <p:extLst>
      <p:ext uri="{BB962C8B-B14F-4D97-AF65-F5344CB8AC3E}">
        <p14:creationId xmlns:p14="http://schemas.microsoft.com/office/powerpoint/2010/main" val="10622764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023E3-734E-75C6-4095-C577D4CAF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07395-30CC-9D5D-5961-F23921546A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F49C5F-B143-1CF0-CAD8-593E5ED20F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7DD313-2C38-C1CC-501F-D0D133A254DE}"/>
              </a:ext>
            </a:extLst>
          </p:cNvPr>
          <p:cNvSpPr>
            <a:spLocks noGrp="1"/>
          </p:cNvSpPr>
          <p:nvPr>
            <p:ph type="sldNum" sz="quarter" idx="5"/>
          </p:nvPr>
        </p:nvSpPr>
        <p:spPr/>
        <p:txBody>
          <a:bodyPr/>
          <a:lstStyle/>
          <a:p>
            <a:fld id="{03C2B877-60DB-401D-A40C-35079CE2EC84}" type="slidenum">
              <a:rPr lang="en-IN" smtClean="0"/>
              <a:t>19</a:t>
            </a:fld>
            <a:endParaRPr lang="en-IN"/>
          </a:p>
        </p:txBody>
      </p:sp>
    </p:spTree>
    <p:extLst>
      <p:ext uri="{BB962C8B-B14F-4D97-AF65-F5344CB8AC3E}">
        <p14:creationId xmlns:p14="http://schemas.microsoft.com/office/powerpoint/2010/main" val="1924496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True robustness comes from learning better representations, not from hiding the attack surface. When your tools fail, question whether the defense is real or just an illusion.</a:t>
            </a:r>
          </a:p>
          <a:p>
            <a:r>
              <a:rPr lang="en-US" sz="1200" b="0" i="0" kern="1200" dirty="0">
                <a:solidFill>
                  <a:schemeClr val="tx1"/>
                </a:solidFill>
                <a:effectLst/>
                <a:latin typeface="+mn-lt"/>
                <a:ea typeface="+mn-ea"/>
                <a:cs typeface="+mn-cs"/>
              </a:rPr>
              <a:t>If the gradient is near zero, gradient-based attacks are effectively blinded. They receive no clear signal on how to modify the input to change the model’s prediction, rendering them ineffective</a:t>
            </a:r>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20</a:t>
            </a:fld>
            <a:endParaRPr lang="en-IN"/>
          </a:p>
        </p:txBody>
      </p:sp>
    </p:spTree>
    <p:extLst>
      <p:ext uri="{BB962C8B-B14F-4D97-AF65-F5344CB8AC3E}">
        <p14:creationId xmlns:p14="http://schemas.microsoft.com/office/powerpoint/2010/main" val="31909568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21</a:t>
            </a:fld>
            <a:endParaRPr lang="en-IN"/>
          </a:p>
        </p:txBody>
      </p:sp>
    </p:spTree>
    <p:extLst>
      <p:ext uri="{BB962C8B-B14F-4D97-AF65-F5344CB8AC3E}">
        <p14:creationId xmlns:p14="http://schemas.microsoft.com/office/powerpoint/2010/main" val="25065408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key to the adaptation of distillation to adversarial defense is a special parameter, the </a:t>
            </a:r>
            <a:r>
              <a:rPr lang="en-US" sz="1200" b="0" i="1" kern="1200" dirty="0">
                <a:solidFill>
                  <a:schemeClr val="tx1"/>
                </a:solidFill>
                <a:effectLst/>
                <a:latin typeface="+mn-lt"/>
                <a:ea typeface="+mn-ea"/>
                <a:cs typeface="+mn-cs"/>
              </a:rPr>
              <a:t>temperature</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T</a:t>
            </a:r>
            <a:r>
              <a:rPr lang="en-US" sz="1200" b="0" i="0" kern="1200" dirty="0">
                <a:solidFill>
                  <a:schemeClr val="tx1"/>
                </a:solidFill>
                <a:effectLst/>
                <a:latin typeface="+mn-lt"/>
                <a:ea typeface="+mn-ea"/>
                <a:cs typeface="+mn-cs"/>
              </a:rPr>
              <a:t>, that controls the variability of the SoftMax outputs. Higher values of T reduce the value of the </a:t>
            </a:r>
            <a:r>
              <a:rPr lang="en-US" sz="1200" b="1" i="0" kern="1200" dirty="0">
                <a:solidFill>
                  <a:schemeClr val="tx1"/>
                </a:solidFill>
                <a:effectLst/>
                <a:latin typeface="+mn-lt"/>
                <a:ea typeface="+mn-ea"/>
                <a:cs typeface="+mn-cs"/>
              </a:rPr>
              <a:t>maximum</a:t>
            </a:r>
            <a:r>
              <a:rPr lang="en-US" sz="1200" b="0" i="0" kern="1200" dirty="0">
                <a:solidFill>
                  <a:schemeClr val="tx1"/>
                </a:solidFill>
                <a:effectLst/>
                <a:latin typeface="+mn-lt"/>
                <a:ea typeface="+mn-ea"/>
                <a:cs typeface="+mn-cs"/>
              </a:rPr>
              <a:t> SoftMax probabilities produced by the DNNs and smooth the decision surface of the trained model. This smoother loss terrain substantially reduces gradients around the natural samples, so that adversarial examples are more easily classified. The authors found that a value of T = 20 worked well for distillation defense. After the distilled network is trained, T is set to 1.0 for classification</a:t>
            </a:r>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22</a:t>
            </a:fld>
            <a:endParaRPr lang="en-IN"/>
          </a:p>
        </p:txBody>
      </p:sp>
    </p:spTree>
    <p:extLst>
      <p:ext uri="{BB962C8B-B14F-4D97-AF65-F5344CB8AC3E}">
        <p14:creationId xmlns:p14="http://schemas.microsoft.com/office/powerpoint/2010/main" val="768456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3C2B877-60DB-401D-A40C-35079CE2EC84}" type="slidenum">
              <a:rPr lang="en-IN" smtClean="0"/>
              <a:t>23</a:t>
            </a:fld>
            <a:endParaRPr lang="en-IN"/>
          </a:p>
        </p:txBody>
      </p:sp>
    </p:spTree>
    <p:extLst>
      <p:ext uri="{BB962C8B-B14F-4D97-AF65-F5344CB8AC3E}">
        <p14:creationId xmlns:p14="http://schemas.microsoft.com/office/powerpoint/2010/main" val="1761383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4714-54A5-C841-E6F7-968A73B94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607CF-66BA-3281-07AC-D0072140C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15DC89-F315-E807-ABF7-E1114AAC374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3DAEFDC-5992-8C4E-6EFB-FA1FD65E9405}"/>
              </a:ext>
            </a:extLst>
          </p:cNvPr>
          <p:cNvSpPr>
            <a:spLocks noGrp="1"/>
          </p:cNvSpPr>
          <p:nvPr>
            <p:ph type="sldNum" sz="quarter" idx="5"/>
          </p:nvPr>
        </p:nvSpPr>
        <p:spPr/>
        <p:txBody>
          <a:bodyPr/>
          <a:lstStyle/>
          <a:p>
            <a:fld id="{03C2B877-60DB-401D-A40C-35079CE2EC84}" type="slidenum">
              <a:rPr lang="en-IN" smtClean="0"/>
              <a:t>24</a:t>
            </a:fld>
            <a:endParaRPr lang="en-IN"/>
          </a:p>
        </p:txBody>
      </p:sp>
    </p:spTree>
    <p:extLst>
      <p:ext uri="{BB962C8B-B14F-4D97-AF65-F5344CB8AC3E}">
        <p14:creationId xmlns:p14="http://schemas.microsoft.com/office/powerpoint/2010/main" val="10286639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DB50B-738E-AC8A-FBA8-47C758300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FBAF4-722D-0852-7B50-FBBA3A95C3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390B6-EF26-7E3D-0536-FDE8BA27397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24734AD-2390-B951-8C29-9C8943734A8F}"/>
              </a:ext>
            </a:extLst>
          </p:cNvPr>
          <p:cNvSpPr>
            <a:spLocks noGrp="1"/>
          </p:cNvSpPr>
          <p:nvPr>
            <p:ph type="sldNum" sz="quarter" idx="5"/>
          </p:nvPr>
        </p:nvSpPr>
        <p:spPr/>
        <p:txBody>
          <a:bodyPr/>
          <a:lstStyle/>
          <a:p>
            <a:fld id="{03C2B877-60DB-401D-A40C-35079CE2EC84}" type="slidenum">
              <a:rPr lang="en-IN" smtClean="0"/>
              <a:t>25</a:t>
            </a:fld>
            <a:endParaRPr lang="en-IN"/>
          </a:p>
        </p:txBody>
      </p:sp>
    </p:spTree>
    <p:extLst>
      <p:ext uri="{BB962C8B-B14F-4D97-AF65-F5344CB8AC3E}">
        <p14:creationId xmlns:p14="http://schemas.microsoft.com/office/powerpoint/2010/main" val="8863106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 knowledge distillation, alpha (α) is a hyperparameter that controls the balance between two loss functions: the student's loss on the ground truth labels (often cross-entropy) and the distillation loss (often KL divergence) comparing the student's soft predictions with the teacher's soft predictions. Essentially, it determines how much emphasis is placed on learning from the teacher's "knowledge" versus learning from the true labels. </a:t>
            </a:r>
            <a:endParaRPr lang="en-IN" dirty="0"/>
          </a:p>
        </p:txBody>
      </p:sp>
      <p:sp>
        <p:nvSpPr>
          <p:cNvPr id="4" name="Slide Number Placeholder 3"/>
          <p:cNvSpPr>
            <a:spLocks noGrp="1"/>
          </p:cNvSpPr>
          <p:nvPr>
            <p:ph type="sldNum" sz="quarter" idx="5"/>
          </p:nvPr>
        </p:nvSpPr>
        <p:spPr/>
        <p:txBody>
          <a:bodyPr/>
          <a:lstStyle/>
          <a:p>
            <a:fld id="{E197A28A-97E5-49DC-B1F0-B9F7F5A1F686}" type="slidenum">
              <a:rPr lang="it-IT" smtClean="0"/>
              <a:t>26</a:t>
            </a:fld>
            <a:endParaRPr lang="it-IT"/>
          </a:p>
        </p:txBody>
      </p:sp>
    </p:spTree>
    <p:extLst>
      <p:ext uri="{BB962C8B-B14F-4D97-AF65-F5344CB8AC3E}">
        <p14:creationId xmlns:p14="http://schemas.microsoft.com/office/powerpoint/2010/main" val="2082199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79087-3BAE-B6E0-AC33-9CCDDAA64E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57B6E-D6F8-3530-B644-D12A269B52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7E6DB-9122-1A7B-FF83-D8C607DD66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9036BB7-1881-3F5A-4686-371EF40A575F}"/>
              </a:ext>
            </a:extLst>
          </p:cNvPr>
          <p:cNvSpPr>
            <a:spLocks noGrp="1"/>
          </p:cNvSpPr>
          <p:nvPr>
            <p:ph type="sldNum" sz="quarter" idx="5"/>
          </p:nvPr>
        </p:nvSpPr>
        <p:spPr/>
        <p:txBody>
          <a:bodyPr/>
          <a:lstStyle/>
          <a:p>
            <a:fld id="{03C2B877-60DB-401D-A40C-35079CE2EC84}" type="slidenum">
              <a:rPr lang="en-IN" smtClean="0"/>
              <a:t>27</a:t>
            </a:fld>
            <a:endParaRPr lang="en-IN"/>
          </a:p>
        </p:txBody>
      </p:sp>
    </p:spTree>
    <p:extLst>
      <p:ext uri="{BB962C8B-B14F-4D97-AF65-F5344CB8AC3E}">
        <p14:creationId xmlns:p14="http://schemas.microsoft.com/office/powerpoint/2010/main" val="1996065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B58BB-4B6C-38B6-2C46-5EA49554BF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D32EB79-8126-013F-D2A0-ED978192A0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F3CD2E-F336-89A6-DCEE-B5CC539F7FA7}"/>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C249E1F3-5F6F-C05C-505D-1EE02FEDBD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F08AEE-BB36-3848-0598-0E22351480D3}"/>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02883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CB0CE-7621-630A-1AC3-02623C5C3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1B050AA-4DEC-887A-07CF-C762D84271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15AD5B-117D-830A-F376-7BCB2F9DB741}"/>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107AE874-A03F-7736-2110-BBE952F314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4D94B3-6FF6-ACAB-9E7B-E25EE70623B7}"/>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801281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97A16-EE17-5C6B-940A-13E6A3BA94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0366A54-7786-44C4-1606-E5EF059C9B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DC46A2-D257-0828-1F11-5B5760C5BCB3}"/>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B98FA13F-094A-0D59-A8DE-1D0D1B370C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3A241C-02FC-76A2-E67A-8AE3EB322BCA}"/>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529025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591CA-041A-80DD-B573-F4E5CC2183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E10088-E3CB-D0D3-EE52-9AD7988724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488F2E-7C7D-4F54-F4DE-3A1F868DA3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35D1F12-9626-4712-C937-CC966D377D40}"/>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6" name="Footer Placeholder 5">
            <a:extLst>
              <a:ext uri="{FF2B5EF4-FFF2-40B4-BE49-F238E27FC236}">
                <a16:creationId xmlns:a16="http://schemas.microsoft.com/office/drawing/2014/main" id="{A306AEF0-E8E3-DD18-AB20-0AA91F73F9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BCBE19-82A7-C0E6-4AD4-29C71C318E6F}"/>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731671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43926-42AC-B1ED-D4CC-6B1622158D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8F004C-B03F-FE8E-04E7-EEF624435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C6E2AE-E31D-5C63-8D6D-4CAF8EF42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DE0A9F3-5AED-9C82-DB2D-53EA56760B7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5DAB96-F6E3-B173-E9DC-53135F9CED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BEFC20-54CF-DC62-6A0B-B1CD93DA2938}"/>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8" name="Footer Placeholder 7">
            <a:extLst>
              <a:ext uri="{FF2B5EF4-FFF2-40B4-BE49-F238E27FC236}">
                <a16:creationId xmlns:a16="http://schemas.microsoft.com/office/drawing/2014/main" id="{A12ABF25-E129-B33D-5CD1-00F4024193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C6C1F1-923A-A967-7963-8895858BAE23}"/>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549207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F59E1-B47C-B67F-D00A-41ADCFF105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789874-D93C-2941-8B8D-837C03AACE39}"/>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4" name="Footer Placeholder 3">
            <a:extLst>
              <a:ext uri="{FF2B5EF4-FFF2-40B4-BE49-F238E27FC236}">
                <a16:creationId xmlns:a16="http://schemas.microsoft.com/office/drawing/2014/main" id="{16D954D0-FBFD-0F78-C4CC-7EA4BB7B46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27C2E-3BF5-B3C8-A0FB-DC12870A359A}"/>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3478633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2D0803-FA97-A2AE-84DA-AD753214B820}"/>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3" name="Footer Placeholder 2">
            <a:extLst>
              <a:ext uri="{FF2B5EF4-FFF2-40B4-BE49-F238E27FC236}">
                <a16:creationId xmlns:a16="http://schemas.microsoft.com/office/drawing/2014/main" id="{B3F217CC-F697-FCDF-7C2E-88337D15AE9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A422D3-2375-C60F-0537-5D6B4E9AEFA8}"/>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3699000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759A-A16E-4D77-A599-57E2102EDE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BBFD55-F5E5-2607-F07A-6ED51F87F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019785-D458-5127-739E-EC0A517E6A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F1FEBA-0317-00E5-C740-36C5EA7D1C6A}"/>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6" name="Footer Placeholder 5">
            <a:extLst>
              <a:ext uri="{FF2B5EF4-FFF2-40B4-BE49-F238E27FC236}">
                <a16:creationId xmlns:a16="http://schemas.microsoft.com/office/drawing/2014/main" id="{CFB93405-02CB-0B8C-6F59-F9AA8A7FC1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F098C0A-F986-1040-46BB-2A30EACFB249}"/>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80712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EDDD0-7FBF-7026-9226-6E51B08217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158DCA1-CCC2-0870-D410-2F8E8B9772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B1E8BD-6CC8-DE07-E717-C541A7D572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25060-949E-9998-F81F-A860A96E7520}"/>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6" name="Footer Placeholder 5">
            <a:extLst>
              <a:ext uri="{FF2B5EF4-FFF2-40B4-BE49-F238E27FC236}">
                <a16:creationId xmlns:a16="http://schemas.microsoft.com/office/drawing/2014/main" id="{E3686FD7-13EF-D721-B6F0-AAAC12EBFC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27CE835-44CE-FF6D-98D7-E49042A80597}"/>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72613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CFC2F-21EC-8D82-893E-B52E9422CD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ED7AA2-3B52-9E2D-CAF9-F348BAA86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2B33FA-E5F0-C0C7-0122-9FF462A74F01}"/>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5C171576-8637-6629-579D-A5BAFD1973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1F55D0-DB9C-2589-7A8C-24CDB6757128}"/>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3067910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F04FE1-8A8D-58D0-B5AB-96D5DFC447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9050DE-9CBC-332B-C533-85FA97A8F9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34275F-5BDD-051E-FC08-16E84A769026}"/>
              </a:ext>
            </a:extLst>
          </p:cNvPr>
          <p:cNvSpPr>
            <a:spLocks noGrp="1"/>
          </p:cNvSpPr>
          <p:nvPr>
            <p:ph type="dt" sz="half" idx="10"/>
          </p:nvPr>
        </p:nvSpPr>
        <p:spPr/>
        <p:txBody>
          <a:body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54171BAB-EB4E-2C0A-4ADE-334FF291EB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6D8734-E1B3-7005-2843-71D3EB476D29}"/>
              </a:ext>
            </a:extLst>
          </p:cNvPr>
          <p:cNvSpPr>
            <a:spLocks noGrp="1"/>
          </p:cNvSpPr>
          <p:nvPr>
            <p:ph type="sldNum" sz="quarter" idx="12"/>
          </p:nvPr>
        </p:nvSpPr>
        <p:spPr/>
        <p:txBody>
          <a:bodyPr/>
          <a:lstStyle/>
          <a:p>
            <a:fld id="{919EE074-AAB3-458F-AA49-F34D453A7521}" type="slidenum">
              <a:rPr lang="en-IN" smtClean="0"/>
              <a:t>‹#›</a:t>
            </a:fld>
            <a:endParaRPr lang="en-IN"/>
          </a:p>
        </p:txBody>
      </p:sp>
    </p:spTree>
    <p:extLst>
      <p:ext uri="{BB962C8B-B14F-4D97-AF65-F5344CB8AC3E}">
        <p14:creationId xmlns:p14="http://schemas.microsoft.com/office/powerpoint/2010/main" val="190988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458F7B-6520-0151-8E13-A7F01A95F9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EE2F30-E3D4-86C0-EAB0-6F6A330050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CCA40D-3290-1B32-AE2A-D88CF14ED5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A6E231-8FA5-4110-B7F2-747D69ED8816}" type="datetimeFigureOut">
              <a:rPr lang="en-IN" smtClean="0"/>
              <a:t>20-01-2026</a:t>
            </a:fld>
            <a:endParaRPr lang="en-IN"/>
          </a:p>
        </p:txBody>
      </p:sp>
      <p:sp>
        <p:nvSpPr>
          <p:cNvPr id="5" name="Footer Placeholder 4">
            <a:extLst>
              <a:ext uri="{FF2B5EF4-FFF2-40B4-BE49-F238E27FC236}">
                <a16:creationId xmlns:a16="http://schemas.microsoft.com/office/drawing/2014/main" id="{99AC2997-6C47-FC46-AAAE-42B7FB51D1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C3D4BA4C-658F-4B5A-F9E4-8732C0D0B3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9EE074-AAB3-458F-AA49-F34D453A7521}" type="slidenum">
              <a:rPr lang="en-IN" smtClean="0"/>
              <a:t>‹#›</a:t>
            </a:fld>
            <a:endParaRPr lang="en-IN"/>
          </a:p>
        </p:txBody>
      </p:sp>
    </p:spTree>
    <p:extLst>
      <p:ext uri="{BB962C8B-B14F-4D97-AF65-F5344CB8AC3E}">
        <p14:creationId xmlns:p14="http://schemas.microsoft.com/office/powerpoint/2010/main" val="1058108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customXml" Target="../ink/ink5.xm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customXml" Target="../ink/ink4.xml"/><Relationship Id="rId4" Type="http://schemas.openxmlformats.org/officeDocument/2006/relationships/customXml" Target="../ink/ink1.xml"/><Relationship Id="rId9" Type="http://schemas.openxmlformats.org/officeDocument/2006/relationships/image" Target="../media/image6.png"/><Relationship Id="rId1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8.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8F9E1-AACF-8121-A8CE-9538A7CD1580}"/>
              </a:ext>
            </a:extLst>
          </p:cNvPr>
          <p:cNvSpPr>
            <a:spLocks noGrp="1"/>
          </p:cNvSpPr>
          <p:nvPr>
            <p:ph type="ctrTitle"/>
          </p:nvPr>
        </p:nvSpPr>
        <p:spPr>
          <a:xfrm>
            <a:off x="762000" y="1832341"/>
            <a:ext cx="10668000" cy="2387600"/>
          </a:xfrm>
        </p:spPr>
        <p:txBody>
          <a:bodyPr>
            <a:normAutofit fontScale="90000"/>
          </a:bodyPr>
          <a:lstStyle/>
          <a:p>
            <a:r>
              <a:rPr lang="en-US" dirty="0"/>
              <a:t>Defensive distillation against Adversarial attacks for Deep neural networks</a:t>
            </a:r>
            <a:endParaRPr lang="en-IN" dirty="0"/>
          </a:p>
        </p:txBody>
      </p:sp>
      <p:sp>
        <p:nvSpPr>
          <p:cNvPr id="3" name="Subtitle 2">
            <a:extLst>
              <a:ext uri="{FF2B5EF4-FFF2-40B4-BE49-F238E27FC236}">
                <a16:creationId xmlns:a16="http://schemas.microsoft.com/office/drawing/2014/main" id="{9818EED3-A1EE-1108-5FED-5EE0DC32C02B}"/>
              </a:ext>
            </a:extLst>
          </p:cNvPr>
          <p:cNvSpPr>
            <a:spLocks noGrp="1"/>
          </p:cNvSpPr>
          <p:nvPr>
            <p:ph type="subTitle" idx="1"/>
          </p:nvPr>
        </p:nvSpPr>
        <p:spPr>
          <a:xfrm>
            <a:off x="1524000" y="4280512"/>
            <a:ext cx="9144000" cy="461665"/>
          </a:xfrm>
        </p:spPr>
        <p:txBody>
          <a:bodyPr>
            <a:normAutofit/>
          </a:bodyPr>
          <a:lstStyle/>
          <a:p>
            <a:r>
              <a:rPr lang="en-US" sz="2600" dirty="0"/>
              <a:t>  Advanced Topics in Machine Learning</a:t>
            </a:r>
            <a:endParaRPr lang="en-IN" sz="2600" dirty="0"/>
          </a:p>
        </p:txBody>
      </p:sp>
      <p:sp>
        <p:nvSpPr>
          <p:cNvPr id="4" name="TextBox 3">
            <a:extLst>
              <a:ext uri="{FF2B5EF4-FFF2-40B4-BE49-F238E27FC236}">
                <a16:creationId xmlns:a16="http://schemas.microsoft.com/office/drawing/2014/main" id="{28092908-59AC-596A-B6B4-D0AE72A158C6}"/>
              </a:ext>
            </a:extLst>
          </p:cNvPr>
          <p:cNvSpPr txBox="1"/>
          <p:nvPr/>
        </p:nvSpPr>
        <p:spPr>
          <a:xfrm>
            <a:off x="6313715" y="5996894"/>
            <a:ext cx="5774871" cy="461665"/>
          </a:xfrm>
          <a:prstGeom prst="rect">
            <a:avLst/>
          </a:prstGeom>
          <a:noFill/>
        </p:spPr>
        <p:txBody>
          <a:bodyPr wrap="square" rtlCol="0">
            <a:spAutoFit/>
          </a:bodyPr>
          <a:lstStyle/>
          <a:p>
            <a:r>
              <a:rPr lang="en-US" sz="2400" dirty="0"/>
              <a:t>Poornima Devi Krishnasamy Karthikeyan</a:t>
            </a:r>
            <a:endParaRPr lang="en-IN" sz="2400" dirty="0"/>
          </a:p>
        </p:txBody>
      </p:sp>
      <p:pic>
        <p:nvPicPr>
          <p:cNvPr id="5" name="Picture 4">
            <a:extLst>
              <a:ext uri="{FF2B5EF4-FFF2-40B4-BE49-F238E27FC236}">
                <a16:creationId xmlns:a16="http://schemas.microsoft.com/office/drawing/2014/main" id="{3D82BF40-51A5-F2AC-3FBB-9E0D208303F1}"/>
              </a:ext>
            </a:extLst>
          </p:cNvPr>
          <p:cNvPicPr>
            <a:picLocks noChangeAspect="1"/>
          </p:cNvPicPr>
          <p:nvPr/>
        </p:nvPicPr>
        <p:blipFill>
          <a:blip r:embed="rId2"/>
          <a:stretch>
            <a:fillRect/>
          </a:stretch>
        </p:blipFill>
        <p:spPr>
          <a:xfrm>
            <a:off x="190500" y="71855"/>
            <a:ext cx="3695700" cy="1238250"/>
          </a:xfrm>
          <a:prstGeom prst="rect">
            <a:avLst/>
          </a:prstGeom>
        </p:spPr>
      </p:pic>
      <p:sp>
        <p:nvSpPr>
          <p:cNvPr id="6" name="TextBox 5">
            <a:extLst>
              <a:ext uri="{FF2B5EF4-FFF2-40B4-BE49-F238E27FC236}">
                <a16:creationId xmlns:a16="http://schemas.microsoft.com/office/drawing/2014/main" id="{34EA9FE4-BAC1-2B53-E6AA-FC254B400986}"/>
              </a:ext>
            </a:extLst>
          </p:cNvPr>
          <p:cNvSpPr txBox="1"/>
          <p:nvPr/>
        </p:nvSpPr>
        <p:spPr>
          <a:xfrm>
            <a:off x="190500" y="6458559"/>
            <a:ext cx="3695700" cy="369332"/>
          </a:xfrm>
          <a:prstGeom prst="rect">
            <a:avLst/>
          </a:prstGeom>
          <a:noFill/>
        </p:spPr>
        <p:txBody>
          <a:bodyPr wrap="square" rtlCol="0">
            <a:spAutoFit/>
          </a:bodyPr>
          <a:lstStyle/>
          <a:p>
            <a:r>
              <a:rPr lang="en-IN" dirty="0"/>
              <a:t>https://arxiv.org/abs/1511.04508</a:t>
            </a:r>
          </a:p>
        </p:txBody>
      </p:sp>
    </p:spTree>
    <p:extLst>
      <p:ext uri="{BB962C8B-B14F-4D97-AF65-F5344CB8AC3E}">
        <p14:creationId xmlns:p14="http://schemas.microsoft.com/office/powerpoint/2010/main" val="1799437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B2643-84CE-C2E3-BB9E-855B7E8BD2AC}"/>
              </a:ext>
            </a:extLst>
          </p:cNvPr>
          <p:cNvSpPr>
            <a:spLocks noGrp="1"/>
          </p:cNvSpPr>
          <p:nvPr>
            <p:ph type="title"/>
          </p:nvPr>
        </p:nvSpPr>
        <p:spPr/>
        <p:txBody>
          <a:bodyPr/>
          <a:lstStyle/>
          <a:p>
            <a:r>
              <a:rPr lang="en-US" dirty="0"/>
              <a:t>Content </a:t>
            </a:r>
            <a:endParaRPr lang="en-IN" dirty="0"/>
          </a:p>
        </p:txBody>
      </p:sp>
      <p:sp>
        <p:nvSpPr>
          <p:cNvPr id="3" name="Content Placeholder 2">
            <a:extLst>
              <a:ext uri="{FF2B5EF4-FFF2-40B4-BE49-F238E27FC236}">
                <a16:creationId xmlns:a16="http://schemas.microsoft.com/office/drawing/2014/main" id="{8334A393-FF00-9CC8-A06F-09B45A450C57}"/>
              </a:ext>
            </a:extLst>
          </p:cNvPr>
          <p:cNvSpPr>
            <a:spLocks noGrp="1"/>
          </p:cNvSpPr>
          <p:nvPr>
            <p:ph idx="1"/>
          </p:nvPr>
        </p:nvSpPr>
        <p:spPr>
          <a:xfrm>
            <a:off x="1469570" y="1825625"/>
            <a:ext cx="9884229" cy="4351338"/>
          </a:xfrm>
        </p:spPr>
        <p:txBody>
          <a:bodyPr>
            <a:normAutofit lnSpcReduction="10000"/>
          </a:bodyPr>
          <a:lstStyle/>
          <a:p>
            <a:r>
              <a:rPr lang="en-US" dirty="0"/>
              <a:t>Objective </a:t>
            </a:r>
          </a:p>
          <a:p>
            <a:r>
              <a:rPr lang="en-US" dirty="0"/>
              <a:t>Dataset Description</a:t>
            </a:r>
          </a:p>
          <a:p>
            <a:r>
              <a:rPr lang="en-IN" dirty="0"/>
              <a:t>Implementation </a:t>
            </a:r>
          </a:p>
          <a:p>
            <a:pPr lvl="1"/>
            <a:r>
              <a:rPr lang="en-IN" dirty="0"/>
              <a:t>Fast Gradient Sign attack </a:t>
            </a:r>
            <a:r>
              <a:rPr lang="en-US" dirty="0"/>
              <a:t>(FGSM).</a:t>
            </a:r>
            <a:endParaRPr lang="en-IN" dirty="0"/>
          </a:p>
          <a:p>
            <a:pPr lvl="1"/>
            <a:r>
              <a:rPr lang="en-IN" dirty="0"/>
              <a:t>Baseline model </a:t>
            </a:r>
          </a:p>
          <a:p>
            <a:pPr lvl="1"/>
            <a:r>
              <a:rPr lang="en-IN" dirty="0"/>
              <a:t>Baseline model in the presence of FGSN</a:t>
            </a:r>
          </a:p>
          <a:p>
            <a:r>
              <a:rPr lang="en-IN" dirty="0"/>
              <a:t>Distillation models </a:t>
            </a:r>
          </a:p>
          <a:p>
            <a:pPr lvl="1"/>
            <a:r>
              <a:rPr lang="en-IN" dirty="0"/>
              <a:t>Distillation as defence</a:t>
            </a:r>
          </a:p>
          <a:p>
            <a:pPr lvl="1"/>
            <a:r>
              <a:rPr lang="en-IN" dirty="0"/>
              <a:t>Implementation of distillation model with FGSM</a:t>
            </a:r>
          </a:p>
          <a:p>
            <a:r>
              <a:rPr lang="en-IN" dirty="0"/>
              <a:t>Results</a:t>
            </a:r>
          </a:p>
          <a:p>
            <a:pPr lvl="1"/>
            <a:endParaRPr lang="en-IN" dirty="0"/>
          </a:p>
        </p:txBody>
      </p:sp>
    </p:spTree>
    <p:extLst>
      <p:ext uri="{BB962C8B-B14F-4D97-AF65-F5344CB8AC3E}">
        <p14:creationId xmlns:p14="http://schemas.microsoft.com/office/powerpoint/2010/main" val="2323457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0F550-A171-18F6-51A6-3DB4458818F0}"/>
              </a:ext>
            </a:extLst>
          </p:cNvPr>
          <p:cNvSpPr>
            <a:spLocks noGrp="1"/>
          </p:cNvSpPr>
          <p:nvPr>
            <p:ph type="title"/>
          </p:nvPr>
        </p:nvSpPr>
        <p:spPr/>
        <p:txBody>
          <a:bodyPr/>
          <a:lstStyle/>
          <a:p>
            <a:r>
              <a:rPr lang="en-US" dirty="0"/>
              <a:t>Objective :</a:t>
            </a:r>
            <a:endParaRPr lang="en-IN" dirty="0"/>
          </a:p>
        </p:txBody>
      </p:sp>
      <p:sp>
        <p:nvSpPr>
          <p:cNvPr id="3" name="Content Placeholder 2">
            <a:extLst>
              <a:ext uri="{FF2B5EF4-FFF2-40B4-BE49-F238E27FC236}">
                <a16:creationId xmlns:a16="http://schemas.microsoft.com/office/drawing/2014/main" id="{238CD0C0-BD28-7918-12A6-A5E3F8FA4F60}"/>
              </a:ext>
            </a:extLst>
          </p:cNvPr>
          <p:cNvSpPr>
            <a:spLocks noGrp="1"/>
          </p:cNvSpPr>
          <p:nvPr>
            <p:ph idx="1"/>
          </p:nvPr>
        </p:nvSpPr>
        <p:spPr>
          <a:xfrm>
            <a:off x="983226" y="1868129"/>
            <a:ext cx="10370573" cy="4308834"/>
          </a:xfrm>
        </p:spPr>
        <p:txBody>
          <a:bodyPr>
            <a:normAutofit/>
          </a:bodyPr>
          <a:lstStyle/>
          <a:p>
            <a:r>
              <a:rPr lang="en-US" sz="2400" b="1" dirty="0"/>
              <a:t>Problem </a:t>
            </a:r>
            <a:r>
              <a:rPr lang="en-US" sz="2400" dirty="0"/>
              <a:t>: Neural networks are vulnerable to small, imperceptible perturbations that can cause misclassification.</a:t>
            </a:r>
          </a:p>
          <a:p>
            <a:r>
              <a:rPr lang="en-US" sz="2400" b="1" dirty="0"/>
              <a:t>Goal</a:t>
            </a:r>
            <a:r>
              <a:rPr lang="en-US" sz="2400" dirty="0"/>
              <a:t> : Generate an adversarial attack and use a defensive strategy to make classification model robust.</a:t>
            </a:r>
          </a:p>
          <a:p>
            <a:pPr lvl="1"/>
            <a:r>
              <a:rPr lang="en-US" dirty="0"/>
              <a:t>Attack </a:t>
            </a:r>
            <a:r>
              <a:rPr lang="en-US" dirty="0">
                <a:sym typeface="Wingdings" panose="05000000000000000000" pitchFamily="2" charset="2"/>
              </a:rPr>
              <a:t>  Generate </a:t>
            </a:r>
            <a:r>
              <a:rPr lang="en-US" dirty="0"/>
              <a:t>Fast Gradient Sign Method (FGSM).</a:t>
            </a:r>
          </a:p>
          <a:p>
            <a:pPr lvl="2"/>
            <a:r>
              <a:rPr lang="en-US" dirty="0"/>
              <a:t> Examined the attack impacts on the classification accuracy of the model</a:t>
            </a:r>
          </a:p>
          <a:p>
            <a:pPr lvl="1"/>
            <a:r>
              <a:rPr lang="en-US" dirty="0">
                <a:sym typeface="Wingdings" panose="05000000000000000000" pitchFamily="2" charset="2"/>
              </a:rPr>
              <a:t>Defense  D</a:t>
            </a:r>
            <a:r>
              <a:rPr lang="en-US" dirty="0"/>
              <a:t>efensive distillation </a:t>
            </a:r>
          </a:p>
          <a:p>
            <a:pPr lvl="2"/>
            <a:r>
              <a:rPr lang="en-US" dirty="0"/>
              <a:t> Train the student network F1 using soft labels from Teacher F </a:t>
            </a:r>
            <a:r>
              <a:rPr lang="en-US" dirty="0">
                <a:sym typeface="Wingdings" panose="05000000000000000000" pitchFamily="2" charset="2"/>
              </a:rPr>
              <a:t> </a:t>
            </a:r>
            <a:r>
              <a:rPr lang="en-US" dirty="0"/>
              <a:t>reduce gradients, encouraging the output to be nearly flat close to training examples </a:t>
            </a:r>
            <a:r>
              <a:rPr lang="en-US" dirty="0">
                <a:sym typeface="Wingdings" panose="05000000000000000000" pitchFamily="2" charset="2"/>
              </a:rPr>
              <a:t> improves classification accuracy against some adversarial attacks during testing.</a:t>
            </a:r>
            <a:endParaRPr lang="en-US" dirty="0"/>
          </a:p>
        </p:txBody>
      </p:sp>
    </p:spTree>
    <p:extLst>
      <p:ext uri="{BB962C8B-B14F-4D97-AF65-F5344CB8AC3E}">
        <p14:creationId xmlns:p14="http://schemas.microsoft.com/office/powerpoint/2010/main" val="10083804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0D5AA-3895-B854-3B8B-52372D2F126F}"/>
              </a:ext>
            </a:extLst>
          </p:cNvPr>
          <p:cNvSpPr>
            <a:spLocks noGrp="1"/>
          </p:cNvSpPr>
          <p:nvPr>
            <p:ph type="title"/>
          </p:nvPr>
        </p:nvSpPr>
        <p:spPr/>
        <p:txBody>
          <a:bodyPr/>
          <a:lstStyle/>
          <a:p>
            <a:r>
              <a:rPr lang="en-US" dirty="0"/>
              <a:t>Dataset Description :</a:t>
            </a:r>
            <a:endParaRPr lang="en-IN" dirty="0"/>
          </a:p>
        </p:txBody>
      </p:sp>
      <p:sp>
        <p:nvSpPr>
          <p:cNvPr id="3" name="Content Placeholder 2">
            <a:extLst>
              <a:ext uri="{FF2B5EF4-FFF2-40B4-BE49-F238E27FC236}">
                <a16:creationId xmlns:a16="http://schemas.microsoft.com/office/drawing/2014/main" id="{07D7E163-91C6-C57F-BA99-4C3E6622FDF5}"/>
              </a:ext>
            </a:extLst>
          </p:cNvPr>
          <p:cNvSpPr>
            <a:spLocks noGrp="1"/>
          </p:cNvSpPr>
          <p:nvPr>
            <p:ph idx="1"/>
          </p:nvPr>
        </p:nvSpPr>
        <p:spPr>
          <a:xfrm>
            <a:off x="1172584" y="1376516"/>
            <a:ext cx="10181215" cy="5228679"/>
          </a:xfrm>
        </p:spPr>
        <p:txBody>
          <a:bodyPr>
            <a:normAutofit/>
          </a:bodyPr>
          <a:lstStyle/>
          <a:p>
            <a:pPr marL="0" indent="0">
              <a:buNone/>
            </a:pPr>
            <a:r>
              <a:rPr lang="en-US" sz="2200" b="1" dirty="0"/>
              <a:t>MNIST :</a:t>
            </a:r>
            <a:r>
              <a:rPr lang="en-US" sz="2200" dirty="0"/>
              <a:t> Contains 70,000 images of handwritten digits (0–9).</a:t>
            </a:r>
          </a:p>
          <a:p>
            <a:pPr lvl="1"/>
            <a:r>
              <a:rPr lang="en-US" sz="2200" dirty="0"/>
              <a:t>Train </a:t>
            </a:r>
            <a:r>
              <a:rPr lang="en-US" sz="2200" dirty="0">
                <a:sym typeface="Wingdings" panose="05000000000000000000" pitchFamily="2" charset="2"/>
              </a:rPr>
              <a:t> 5</a:t>
            </a:r>
            <a:r>
              <a:rPr lang="en-US" sz="2200" dirty="0"/>
              <a:t>0,000 images </a:t>
            </a:r>
          </a:p>
          <a:p>
            <a:pPr lvl="1"/>
            <a:r>
              <a:rPr lang="en-US" sz="2200" dirty="0"/>
              <a:t>Valid </a:t>
            </a:r>
            <a:r>
              <a:rPr lang="en-US" sz="2200" dirty="0">
                <a:sym typeface="Wingdings" panose="05000000000000000000" pitchFamily="2" charset="2"/>
              </a:rPr>
              <a:t> </a:t>
            </a:r>
            <a:r>
              <a:rPr lang="en-US" sz="2200" dirty="0"/>
              <a:t>10,000 images</a:t>
            </a:r>
          </a:p>
          <a:p>
            <a:pPr lvl="1"/>
            <a:r>
              <a:rPr lang="en-US" sz="2200" dirty="0"/>
              <a:t>Test </a:t>
            </a:r>
            <a:r>
              <a:rPr lang="en-US" sz="2200" dirty="0">
                <a:sym typeface="Wingdings" panose="05000000000000000000" pitchFamily="2" charset="2"/>
              </a:rPr>
              <a:t> </a:t>
            </a:r>
            <a:r>
              <a:rPr lang="en-US" sz="2200" dirty="0"/>
              <a:t> 10,000 images </a:t>
            </a:r>
          </a:p>
          <a:p>
            <a:r>
              <a:rPr lang="en-US" sz="2200" dirty="0"/>
              <a:t>Each image is 28×28 pixels, grayscale, and centered</a:t>
            </a:r>
          </a:p>
        </p:txBody>
      </p:sp>
      <p:pic>
        <p:nvPicPr>
          <p:cNvPr id="5" name="Picture 4">
            <a:extLst>
              <a:ext uri="{FF2B5EF4-FFF2-40B4-BE49-F238E27FC236}">
                <a16:creationId xmlns:a16="http://schemas.microsoft.com/office/drawing/2014/main" id="{BBA9D477-0DEB-425A-3813-1F79093FB1C6}"/>
              </a:ext>
            </a:extLst>
          </p:cNvPr>
          <p:cNvPicPr>
            <a:picLocks noChangeAspect="1"/>
          </p:cNvPicPr>
          <p:nvPr/>
        </p:nvPicPr>
        <p:blipFill>
          <a:blip r:embed="rId2"/>
          <a:stretch>
            <a:fillRect/>
          </a:stretch>
        </p:blipFill>
        <p:spPr>
          <a:xfrm>
            <a:off x="1531726" y="3287558"/>
            <a:ext cx="8327571" cy="3205317"/>
          </a:xfrm>
          <a:prstGeom prst="rect">
            <a:avLst/>
          </a:prstGeom>
        </p:spPr>
      </p:pic>
    </p:spTree>
    <p:extLst>
      <p:ext uri="{BB962C8B-B14F-4D97-AF65-F5344CB8AC3E}">
        <p14:creationId xmlns:p14="http://schemas.microsoft.com/office/powerpoint/2010/main" val="3356553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5B3930-3FF8-3624-480B-0B2BC7CBA9D5}"/>
              </a:ext>
            </a:extLst>
          </p:cNvPr>
          <p:cNvPicPr>
            <a:picLocks noChangeAspect="1"/>
          </p:cNvPicPr>
          <p:nvPr/>
        </p:nvPicPr>
        <p:blipFill>
          <a:blip r:embed="rId3"/>
          <a:stretch>
            <a:fillRect/>
          </a:stretch>
        </p:blipFill>
        <p:spPr>
          <a:xfrm>
            <a:off x="1180722" y="1935346"/>
            <a:ext cx="8951742" cy="3422002"/>
          </a:xfrm>
          <a:prstGeom prst="rect">
            <a:avLst/>
          </a:prstGeom>
        </p:spPr>
      </p:pic>
      <p:sp>
        <p:nvSpPr>
          <p:cNvPr id="2" name="Title 1">
            <a:extLst>
              <a:ext uri="{FF2B5EF4-FFF2-40B4-BE49-F238E27FC236}">
                <a16:creationId xmlns:a16="http://schemas.microsoft.com/office/drawing/2014/main" id="{A008F07A-C44D-D655-7772-3F67435ECE6E}"/>
              </a:ext>
            </a:extLst>
          </p:cNvPr>
          <p:cNvSpPr>
            <a:spLocks noGrp="1"/>
          </p:cNvSpPr>
          <p:nvPr>
            <p:ph type="title"/>
          </p:nvPr>
        </p:nvSpPr>
        <p:spPr/>
        <p:txBody>
          <a:bodyPr/>
          <a:lstStyle/>
          <a:p>
            <a:r>
              <a:rPr lang="en-US" dirty="0"/>
              <a:t>Implementation : Fast Gradient Sign Method  </a:t>
            </a:r>
            <a:endParaRPr lang="en-IN" dirty="0"/>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80BA95D-555A-85F6-D23B-9A7959858D8E}"/>
                  </a:ext>
                </a:extLst>
              </p14:cNvPr>
              <p14:cNvContentPartPr/>
              <p14:nvPr/>
            </p14:nvContentPartPr>
            <p14:xfrm>
              <a:off x="1312187" y="2634747"/>
              <a:ext cx="25560" cy="6840"/>
            </p14:xfrm>
          </p:contentPart>
        </mc:Choice>
        <mc:Fallback xmlns="">
          <p:pic>
            <p:nvPicPr>
              <p:cNvPr id="9" name="Ink 8">
                <a:extLst>
                  <a:ext uri="{FF2B5EF4-FFF2-40B4-BE49-F238E27FC236}">
                    <a16:creationId xmlns:a16="http://schemas.microsoft.com/office/drawing/2014/main" id="{280BA95D-555A-85F6-D23B-9A7959858D8E}"/>
                  </a:ext>
                </a:extLst>
              </p:cNvPr>
              <p:cNvPicPr/>
              <p:nvPr/>
            </p:nvPicPr>
            <p:blipFill>
              <a:blip r:embed="rId5"/>
              <a:stretch>
                <a:fillRect/>
              </a:stretch>
            </p:blipFill>
            <p:spPr>
              <a:xfrm>
                <a:off x="1249547" y="2572107"/>
                <a:ext cx="151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5A0B910-4745-E85B-2EB2-E61C81589C4F}"/>
                  </a:ext>
                </a:extLst>
              </p14:cNvPr>
              <p14:cNvContentPartPr/>
              <p14:nvPr/>
            </p14:nvContentPartPr>
            <p14:xfrm>
              <a:off x="2294267" y="2920587"/>
              <a:ext cx="894600" cy="68400"/>
            </p14:xfrm>
          </p:contentPart>
        </mc:Choice>
        <mc:Fallback xmlns="">
          <p:pic>
            <p:nvPicPr>
              <p:cNvPr id="11" name="Ink 10">
                <a:extLst>
                  <a:ext uri="{FF2B5EF4-FFF2-40B4-BE49-F238E27FC236}">
                    <a16:creationId xmlns:a16="http://schemas.microsoft.com/office/drawing/2014/main" id="{85A0B910-4745-E85B-2EB2-E61C81589C4F}"/>
                  </a:ext>
                </a:extLst>
              </p:cNvPr>
              <p:cNvPicPr/>
              <p:nvPr/>
            </p:nvPicPr>
            <p:blipFill>
              <a:blip r:embed="rId7"/>
              <a:stretch>
                <a:fillRect/>
              </a:stretch>
            </p:blipFill>
            <p:spPr>
              <a:xfrm>
                <a:off x="2231627" y="2857587"/>
                <a:ext cx="102024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51C2E290-AE64-F4EE-6B3C-0CD32DD27555}"/>
                  </a:ext>
                </a:extLst>
              </p14:cNvPr>
              <p14:cNvContentPartPr/>
              <p14:nvPr/>
            </p14:nvContentPartPr>
            <p14:xfrm>
              <a:off x="1949880" y="2962889"/>
              <a:ext cx="2621800" cy="270756"/>
            </p14:xfrm>
          </p:contentPart>
        </mc:Choice>
        <mc:Fallback xmlns="">
          <p:pic>
            <p:nvPicPr>
              <p:cNvPr id="15" name="Ink 14">
                <a:extLst>
                  <a:ext uri="{FF2B5EF4-FFF2-40B4-BE49-F238E27FC236}">
                    <a16:creationId xmlns:a16="http://schemas.microsoft.com/office/drawing/2014/main" id="{51C2E290-AE64-F4EE-6B3C-0CD32DD27555}"/>
                  </a:ext>
                </a:extLst>
              </p:cNvPr>
              <p:cNvPicPr/>
              <p:nvPr/>
            </p:nvPicPr>
            <p:blipFill>
              <a:blip r:embed="rId9"/>
              <a:stretch>
                <a:fillRect/>
              </a:stretch>
            </p:blipFill>
            <p:spPr>
              <a:xfrm>
                <a:off x="1886873" y="2899289"/>
                <a:ext cx="2747453" cy="39759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5FE7CAA9-F023-2C46-1679-90B4ACCBC468}"/>
                  </a:ext>
                </a:extLst>
              </p14:cNvPr>
              <p14:cNvContentPartPr/>
              <p14:nvPr/>
            </p14:nvContentPartPr>
            <p14:xfrm>
              <a:off x="7847570" y="2977267"/>
              <a:ext cx="1397160" cy="153360"/>
            </p14:xfrm>
          </p:contentPart>
        </mc:Choice>
        <mc:Fallback xmlns="">
          <p:pic>
            <p:nvPicPr>
              <p:cNvPr id="16" name="Ink 15">
                <a:extLst>
                  <a:ext uri="{FF2B5EF4-FFF2-40B4-BE49-F238E27FC236}">
                    <a16:creationId xmlns:a16="http://schemas.microsoft.com/office/drawing/2014/main" id="{5FE7CAA9-F023-2C46-1679-90B4ACCBC468}"/>
                  </a:ext>
                </a:extLst>
              </p:cNvPr>
              <p:cNvPicPr/>
              <p:nvPr/>
            </p:nvPicPr>
            <p:blipFill>
              <a:blip r:embed="rId11"/>
              <a:stretch>
                <a:fillRect/>
              </a:stretch>
            </p:blipFill>
            <p:spPr>
              <a:xfrm>
                <a:off x="7784570" y="2914267"/>
                <a:ext cx="1522800" cy="279000"/>
              </a:xfrm>
              <a:prstGeom prst="rect">
                <a:avLst/>
              </a:prstGeom>
            </p:spPr>
          </p:pic>
        </mc:Fallback>
      </mc:AlternateContent>
      <p:pic>
        <p:nvPicPr>
          <p:cNvPr id="18" name="Picture 17">
            <a:extLst>
              <a:ext uri="{FF2B5EF4-FFF2-40B4-BE49-F238E27FC236}">
                <a16:creationId xmlns:a16="http://schemas.microsoft.com/office/drawing/2014/main" id="{34963879-CE07-184A-B794-CC0FB3E5AC89}"/>
              </a:ext>
            </a:extLst>
          </p:cNvPr>
          <p:cNvPicPr>
            <a:picLocks noChangeAspect="1"/>
          </p:cNvPicPr>
          <p:nvPr/>
        </p:nvPicPr>
        <p:blipFill>
          <a:blip r:embed="rId12"/>
          <a:stretch>
            <a:fillRect/>
          </a:stretch>
        </p:blipFill>
        <p:spPr>
          <a:xfrm>
            <a:off x="2059536" y="3192692"/>
            <a:ext cx="2211044" cy="1911841"/>
          </a:xfrm>
          <a:prstGeom prst="rect">
            <a:avLst/>
          </a:prstGeom>
        </p:spPr>
      </p:pic>
      <p:pic>
        <p:nvPicPr>
          <p:cNvPr id="19" name="Picture 18">
            <a:extLst>
              <a:ext uri="{FF2B5EF4-FFF2-40B4-BE49-F238E27FC236}">
                <a16:creationId xmlns:a16="http://schemas.microsoft.com/office/drawing/2014/main" id="{AC9061E4-BE35-189E-D7B9-49E6909EBA27}"/>
              </a:ext>
            </a:extLst>
          </p:cNvPr>
          <p:cNvPicPr>
            <a:picLocks noChangeAspect="1"/>
          </p:cNvPicPr>
          <p:nvPr/>
        </p:nvPicPr>
        <p:blipFill>
          <a:blip r:embed="rId12"/>
          <a:stretch>
            <a:fillRect/>
          </a:stretch>
        </p:blipFill>
        <p:spPr>
          <a:xfrm>
            <a:off x="7568987" y="3147705"/>
            <a:ext cx="2119291" cy="1970880"/>
          </a:xfrm>
          <a:prstGeom prst="rect">
            <a:avLst/>
          </a:prstGeom>
        </p:spPr>
      </p:pic>
      <p:sp>
        <p:nvSpPr>
          <p:cNvPr id="3" name="TextBox 2">
            <a:extLst>
              <a:ext uri="{FF2B5EF4-FFF2-40B4-BE49-F238E27FC236}">
                <a16:creationId xmlns:a16="http://schemas.microsoft.com/office/drawing/2014/main" id="{1025A2E8-ED27-BB82-C19C-9DE02D4BCD11}"/>
              </a:ext>
            </a:extLst>
          </p:cNvPr>
          <p:cNvSpPr txBox="1"/>
          <p:nvPr/>
        </p:nvSpPr>
        <p:spPr>
          <a:xfrm>
            <a:off x="2579778" y="6107203"/>
            <a:ext cx="5888361" cy="369332"/>
          </a:xfrm>
          <a:prstGeom prst="rect">
            <a:avLst/>
          </a:prstGeom>
          <a:noFill/>
          <a:ln>
            <a:solidFill>
              <a:srgbClr val="FF0000"/>
            </a:solidFill>
          </a:ln>
        </p:spPr>
        <p:txBody>
          <a:bodyPr wrap="square" rtlCol="0">
            <a:spAutoFit/>
          </a:bodyPr>
          <a:lstStyle/>
          <a:p>
            <a:pPr algn="ctr"/>
            <a:r>
              <a:rPr lang="en-US" b="1" dirty="0"/>
              <a:t>ϵ controls the intensity of the noise</a:t>
            </a:r>
          </a:p>
        </p:txBody>
      </p:sp>
      <p:sp>
        <p:nvSpPr>
          <p:cNvPr id="4" name="TextBox 3">
            <a:extLst>
              <a:ext uri="{FF2B5EF4-FFF2-40B4-BE49-F238E27FC236}">
                <a16:creationId xmlns:a16="http://schemas.microsoft.com/office/drawing/2014/main" id="{45819B4F-D874-0443-DC9B-F56D23598E6D}"/>
              </a:ext>
            </a:extLst>
          </p:cNvPr>
          <p:cNvSpPr txBox="1"/>
          <p:nvPr/>
        </p:nvSpPr>
        <p:spPr>
          <a:xfrm>
            <a:off x="2058567" y="5269977"/>
            <a:ext cx="2119291" cy="369332"/>
          </a:xfrm>
          <a:prstGeom prst="rect">
            <a:avLst/>
          </a:prstGeom>
          <a:noFill/>
        </p:spPr>
        <p:txBody>
          <a:bodyPr wrap="square" rtlCol="0">
            <a:spAutoFit/>
          </a:bodyPr>
          <a:lstStyle/>
          <a:p>
            <a:r>
              <a:rPr lang="en-US" dirty="0"/>
              <a:t>97 % Confident is 3</a:t>
            </a:r>
            <a:endParaRPr lang="en-IN" dirty="0"/>
          </a:p>
        </p:txBody>
      </p:sp>
      <p:sp>
        <p:nvSpPr>
          <p:cNvPr id="6" name="TextBox 5">
            <a:extLst>
              <a:ext uri="{FF2B5EF4-FFF2-40B4-BE49-F238E27FC236}">
                <a16:creationId xmlns:a16="http://schemas.microsoft.com/office/drawing/2014/main" id="{46157EA6-D4FD-AAAD-3578-4D6D1002AE99}"/>
              </a:ext>
            </a:extLst>
          </p:cNvPr>
          <p:cNvSpPr txBox="1"/>
          <p:nvPr/>
        </p:nvSpPr>
        <p:spPr>
          <a:xfrm>
            <a:off x="7568987" y="5217820"/>
            <a:ext cx="2119291" cy="369332"/>
          </a:xfrm>
          <a:prstGeom prst="rect">
            <a:avLst/>
          </a:prstGeom>
          <a:noFill/>
        </p:spPr>
        <p:txBody>
          <a:bodyPr wrap="square" rtlCol="0">
            <a:spAutoFit/>
          </a:bodyPr>
          <a:lstStyle/>
          <a:p>
            <a:r>
              <a:rPr lang="en-US" dirty="0"/>
              <a:t>30 % Confident is 8</a:t>
            </a:r>
            <a:endParaRPr lang="en-IN" dirty="0"/>
          </a:p>
        </p:txBody>
      </p:sp>
      <p:sp>
        <p:nvSpPr>
          <p:cNvPr id="12" name="TextBox 11">
            <a:extLst>
              <a:ext uri="{FF2B5EF4-FFF2-40B4-BE49-F238E27FC236}">
                <a16:creationId xmlns:a16="http://schemas.microsoft.com/office/drawing/2014/main" id="{4EC50359-4476-8DA5-AB5A-23F0FCED8592}"/>
              </a:ext>
            </a:extLst>
          </p:cNvPr>
          <p:cNvSpPr txBox="1"/>
          <p:nvPr/>
        </p:nvSpPr>
        <p:spPr>
          <a:xfrm>
            <a:off x="9523331" y="5512538"/>
            <a:ext cx="2119292" cy="923330"/>
          </a:xfrm>
          <a:prstGeom prst="rect">
            <a:avLst/>
          </a:prstGeom>
          <a:noFill/>
        </p:spPr>
        <p:txBody>
          <a:bodyPr wrap="square" rtlCol="0">
            <a:spAutoFit/>
          </a:bodyPr>
          <a:lstStyle/>
          <a:p>
            <a:pPr algn="ctr"/>
            <a:r>
              <a:rPr lang="en-US" dirty="0"/>
              <a:t>crafted to maximize the loss causes misclassification</a:t>
            </a:r>
            <a:endParaRPr lang="en-IN" dirty="0"/>
          </a:p>
        </p:txBody>
      </p:sp>
      <p:sp>
        <p:nvSpPr>
          <p:cNvPr id="14" name="Flowchart: Extract 13">
            <a:extLst>
              <a:ext uri="{FF2B5EF4-FFF2-40B4-BE49-F238E27FC236}">
                <a16:creationId xmlns:a16="http://schemas.microsoft.com/office/drawing/2014/main" id="{80C7D55F-AD0C-D22D-A530-C033B438309F}"/>
              </a:ext>
            </a:extLst>
          </p:cNvPr>
          <p:cNvSpPr/>
          <p:nvPr/>
        </p:nvSpPr>
        <p:spPr>
          <a:xfrm rot="7904138" flipH="1">
            <a:off x="9276402" y="5702559"/>
            <a:ext cx="215257" cy="181320"/>
          </a:xfrm>
          <a:prstGeom prst="flowChartExtra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13">
            <p14:nvContentPartPr>
              <p14:cNvPr id="21" name="Ink 20">
                <a:extLst>
                  <a:ext uri="{FF2B5EF4-FFF2-40B4-BE49-F238E27FC236}">
                    <a16:creationId xmlns:a16="http://schemas.microsoft.com/office/drawing/2014/main" id="{B9710914-DD2A-AF12-E2CC-0DEEFCA8FB4D}"/>
                  </a:ext>
                </a:extLst>
              </p14:cNvPr>
              <p14:cNvContentPartPr/>
              <p14:nvPr/>
            </p14:nvContentPartPr>
            <p14:xfrm>
              <a:off x="10443221" y="2394038"/>
              <a:ext cx="360" cy="360"/>
            </p14:xfrm>
          </p:contentPart>
        </mc:Choice>
        <mc:Fallback xmlns="">
          <p:pic>
            <p:nvPicPr>
              <p:cNvPr id="21" name="Ink 20">
                <a:extLst>
                  <a:ext uri="{FF2B5EF4-FFF2-40B4-BE49-F238E27FC236}">
                    <a16:creationId xmlns:a16="http://schemas.microsoft.com/office/drawing/2014/main" id="{B9710914-DD2A-AF12-E2CC-0DEEFCA8FB4D}"/>
                  </a:ext>
                </a:extLst>
              </p:cNvPr>
              <p:cNvPicPr/>
              <p:nvPr/>
            </p:nvPicPr>
            <p:blipFill>
              <a:blip r:embed="rId14"/>
              <a:stretch>
                <a:fillRect/>
              </a:stretch>
            </p:blipFill>
            <p:spPr>
              <a:xfrm>
                <a:off x="10434581" y="2385038"/>
                <a:ext cx="18000" cy="18000"/>
              </a:xfrm>
              <a:prstGeom prst="rect">
                <a:avLst/>
              </a:prstGeom>
            </p:spPr>
          </p:pic>
        </mc:Fallback>
      </mc:AlternateContent>
      <p:sp>
        <p:nvSpPr>
          <p:cNvPr id="25" name="Arc 24">
            <a:extLst>
              <a:ext uri="{FF2B5EF4-FFF2-40B4-BE49-F238E27FC236}">
                <a16:creationId xmlns:a16="http://schemas.microsoft.com/office/drawing/2014/main" id="{BE4374EF-5F17-6D83-4C77-3C6C544BB1E3}"/>
              </a:ext>
            </a:extLst>
          </p:cNvPr>
          <p:cNvSpPr/>
          <p:nvPr/>
        </p:nvSpPr>
        <p:spPr>
          <a:xfrm>
            <a:off x="8734926" y="5566974"/>
            <a:ext cx="623460" cy="490308"/>
          </a:xfrm>
          <a:prstGeom prst="arc">
            <a:avLst>
              <a:gd name="adj1" fmla="val 15697457"/>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26" name="TextBox 25">
            <a:extLst>
              <a:ext uri="{FF2B5EF4-FFF2-40B4-BE49-F238E27FC236}">
                <a16:creationId xmlns:a16="http://schemas.microsoft.com/office/drawing/2014/main" id="{B4276130-F335-6C0C-DE62-0D4CEB064B41}"/>
              </a:ext>
            </a:extLst>
          </p:cNvPr>
          <p:cNvSpPr txBox="1"/>
          <p:nvPr/>
        </p:nvSpPr>
        <p:spPr>
          <a:xfrm>
            <a:off x="3188867" y="6476535"/>
            <a:ext cx="5565913" cy="615553"/>
          </a:xfrm>
          <a:prstGeom prst="rect">
            <a:avLst/>
          </a:prstGeom>
          <a:noFill/>
        </p:spPr>
        <p:txBody>
          <a:bodyPr wrap="square" rtlCol="0">
            <a:spAutoFit/>
          </a:bodyPr>
          <a:lstStyle/>
          <a:p>
            <a:r>
              <a:rPr lang="en-US" sz="1600" dirty="0"/>
              <a:t>Larger ε → stronger attack → higher misclassification</a:t>
            </a:r>
            <a:endParaRPr lang="en-IN" sz="1600" b="1" dirty="0"/>
          </a:p>
          <a:p>
            <a:endParaRPr lang="en-IN" dirty="0"/>
          </a:p>
        </p:txBody>
      </p:sp>
      <p:sp>
        <p:nvSpPr>
          <p:cNvPr id="28" name="TextBox 27">
            <a:extLst>
              <a:ext uri="{FF2B5EF4-FFF2-40B4-BE49-F238E27FC236}">
                <a16:creationId xmlns:a16="http://schemas.microsoft.com/office/drawing/2014/main" id="{496BDB9C-954B-45B2-B76A-61C4A65B2AE6}"/>
              </a:ext>
            </a:extLst>
          </p:cNvPr>
          <p:cNvSpPr txBox="1"/>
          <p:nvPr/>
        </p:nvSpPr>
        <p:spPr>
          <a:xfrm>
            <a:off x="1027288" y="1401418"/>
            <a:ext cx="10072033" cy="1015663"/>
          </a:xfrm>
          <a:prstGeom prst="rect">
            <a:avLst/>
          </a:prstGeom>
          <a:noFill/>
        </p:spPr>
        <p:txBody>
          <a:bodyPr wrap="square" rtlCol="0">
            <a:spAutoFit/>
          </a:bodyPr>
          <a:lstStyle/>
          <a:p>
            <a:r>
              <a:rPr lang="en-US" sz="2000" b="1" dirty="0"/>
              <a:t>Attack setting : </a:t>
            </a:r>
          </a:p>
          <a:p>
            <a:pPr marL="742950" lvl="1" indent="-285750">
              <a:buFont typeface="Arial" panose="020B0604020202020204" pitchFamily="34" charset="0"/>
              <a:buChar char="•"/>
            </a:pPr>
            <a:r>
              <a:rPr lang="en-US" sz="2000" dirty="0"/>
              <a:t>White box attack </a:t>
            </a:r>
            <a:r>
              <a:rPr lang="en-US" sz="2000" dirty="0">
                <a:sym typeface="Wingdings" panose="05000000000000000000" pitchFamily="2" charset="2"/>
              </a:rPr>
              <a:t> </a:t>
            </a:r>
            <a:r>
              <a:rPr lang="en-US" sz="2000" dirty="0"/>
              <a:t>it requires knowledge of the model’s architecture and parameters. </a:t>
            </a:r>
            <a:r>
              <a:rPr lang="en-US" sz="2000" dirty="0">
                <a:sym typeface="Wingdings" panose="05000000000000000000" pitchFamily="2" charset="2"/>
              </a:rPr>
              <a:t>Untargeted.</a:t>
            </a:r>
            <a:endParaRPr lang="en-IN" sz="2000" dirty="0"/>
          </a:p>
        </p:txBody>
      </p:sp>
      <p:sp>
        <p:nvSpPr>
          <p:cNvPr id="29" name="TextBox 28">
            <a:extLst>
              <a:ext uri="{FF2B5EF4-FFF2-40B4-BE49-F238E27FC236}">
                <a16:creationId xmlns:a16="http://schemas.microsoft.com/office/drawing/2014/main" id="{704FB62B-DBDF-4F79-A23A-63323F97D5BC}"/>
              </a:ext>
            </a:extLst>
          </p:cNvPr>
          <p:cNvSpPr txBox="1"/>
          <p:nvPr/>
        </p:nvSpPr>
        <p:spPr>
          <a:xfrm>
            <a:off x="0" y="6488668"/>
            <a:ext cx="3227294" cy="369332"/>
          </a:xfrm>
          <a:prstGeom prst="rect">
            <a:avLst/>
          </a:prstGeom>
          <a:noFill/>
        </p:spPr>
        <p:txBody>
          <a:bodyPr wrap="square" rtlCol="0">
            <a:spAutoFit/>
          </a:bodyPr>
          <a:lstStyle/>
          <a:p>
            <a:r>
              <a:rPr lang="en-US" dirty="0"/>
              <a:t> </a:t>
            </a:r>
            <a:r>
              <a:rPr lang="en-US" sz="1100" dirty="0"/>
              <a:t>Goodfellow et al. in 2014 [3].</a:t>
            </a:r>
            <a:endParaRPr lang="en-IN" sz="1100" dirty="0"/>
          </a:p>
        </p:txBody>
      </p:sp>
    </p:spTree>
    <p:extLst>
      <p:ext uri="{BB962C8B-B14F-4D97-AF65-F5344CB8AC3E}">
        <p14:creationId xmlns:p14="http://schemas.microsoft.com/office/powerpoint/2010/main" val="2496630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BC80-76A3-AC6F-7A30-72FF2CB21D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11ECF-AF57-E541-B95F-0D2FFEE73FBF}"/>
              </a:ext>
            </a:extLst>
          </p:cNvPr>
          <p:cNvSpPr>
            <a:spLocks noGrp="1"/>
          </p:cNvSpPr>
          <p:nvPr>
            <p:ph type="title"/>
          </p:nvPr>
        </p:nvSpPr>
        <p:spPr>
          <a:xfrm>
            <a:off x="838200" y="364410"/>
            <a:ext cx="10515600" cy="1325563"/>
          </a:xfrm>
        </p:spPr>
        <p:txBody>
          <a:bodyPr/>
          <a:lstStyle/>
          <a:p>
            <a:r>
              <a:rPr lang="en-US" dirty="0"/>
              <a:t>Implementation : Baseline model</a:t>
            </a:r>
            <a:endParaRPr lang="en-IN" dirty="0"/>
          </a:p>
        </p:txBody>
      </p:sp>
      <p:pic>
        <p:nvPicPr>
          <p:cNvPr id="5" name="Content Placeholder 4">
            <a:extLst>
              <a:ext uri="{FF2B5EF4-FFF2-40B4-BE49-F238E27FC236}">
                <a16:creationId xmlns:a16="http://schemas.microsoft.com/office/drawing/2014/main" id="{6DD40154-3F77-C1E4-88EE-7E3B4977F5E7}"/>
              </a:ext>
            </a:extLst>
          </p:cNvPr>
          <p:cNvPicPr>
            <a:picLocks noGrp="1" noChangeAspect="1"/>
          </p:cNvPicPr>
          <p:nvPr>
            <p:ph idx="1"/>
          </p:nvPr>
        </p:nvPicPr>
        <p:blipFill>
          <a:blip r:embed="rId3"/>
          <a:srcRect l="2744" t="-708" r="-2744" b="708"/>
          <a:stretch>
            <a:fillRect/>
          </a:stretch>
        </p:blipFill>
        <p:spPr>
          <a:xfrm>
            <a:off x="2630081" y="1503620"/>
            <a:ext cx="6764232" cy="4584359"/>
          </a:xfrm>
          <a:prstGeom prst="rect">
            <a:avLst/>
          </a:prstGeom>
        </p:spPr>
      </p:pic>
      <p:sp>
        <p:nvSpPr>
          <p:cNvPr id="7" name="Rectangle 6">
            <a:extLst>
              <a:ext uri="{FF2B5EF4-FFF2-40B4-BE49-F238E27FC236}">
                <a16:creationId xmlns:a16="http://schemas.microsoft.com/office/drawing/2014/main" id="{6677DCE0-C313-C062-3CAE-9CB3595BC423}"/>
              </a:ext>
            </a:extLst>
          </p:cNvPr>
          <p:cNvSpPr/>
          <p:nvPr/>
        </p:nvSpPr>
        <p:spPr>
          <a:xfrm>
            <a:off x="2382374" y="3268133"/>
            <a:ext cx="914400" cy="9784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7C720B3-AEA1-C3AB-359B-A4DF38667EFE}"/>
              </a:ext>
            </a:extLst>
          </p:cNvPr>
          <p:cNvPicPr>
            <a:picLocks noChangeAspect="1"/>
          </p:cNvPicPr>
          <p:nvPr/>
        </p:nvPicPr>
        <p:blipFill>
          <a:blip r:embed="rId4"/>
          <a:stretch>
            <a:fillRect/>
          </a:stretch>
        </p:blipFill>
        <p:spPr>
          <a:xfrm>
            <a:off x="655459" y="3171295"/>
            <a:ext cx="1075267" cy="1075267"/>
          </a:xfrm>
          <a:prstGeom prst="rect">
            <a:avLst/>
          </a:prstGeom>
        </p:spPr>
      </p:pic>
      <p:sp>
        <p:nvSpPr>
          <p:cNvPr id="8" name="TextBox 7">
            <a:extLst>
              <a:ext uri="{FF2B5EF4-FFF2-40B4-BE49-F238E27FC236}">
                <a16:creationId xmlns:a16="http://schemas.microsoft.com/office/drawing/2014/main" id="{38B01792-A594-1CB3-1B33-0E4FD6B89B1F}"/>
              </a:ext>
            </a:extLst>
          </p:cNvPr>
          <p:cNvSpPr txBox="1"/>
          <p:nvPr/>
        </p:nvSpPr>
        <p:spPr>
          <a:xfrm>
            <a:off x="810126" y="4268199"/>
            <a:ext cx="789780" cy="369332"/>
          </a:xfrm>
          <a:prstGeom prst="rect">
            <a:avLst/>
          </a:prstGeom>
          <a:noFill/>
        </p:spPr>
        <p:txBody>
          <a:bodyPr wrap="square" rtlCol="0">
            <a:spAutoFit/>
          </a:bodyPr>
          <a:lstStyle/>
          <a:p>
            <a:r>
              <a:rPr lang="en-US" dirty="0"/>
              <a:t>Input </a:t>
            </a:r>
            <a:endParaRPr lang="en-IN" dirty="0"/>
          </a:p>
        </p:txBody>
      </p:sp>
      <p:sp>
        <p:nvSpPr>
          <p:cNvPr id="17" name="Arrow: Right 16">
            <a:extLst>
              <a:ext uri="{FF2B5EF4-FFF2-40B4-BE49-F238E27FC236}">
                <a16:creationId xmlns:a16="http://schemas.microsoft.com/office/drawing/2014/main" id="{D5B38A7D-D455-0117-C2F1-FF0337589D8B}"/>
              </a:ext>
            </a:extLst>
          </p:cNvPr>
          <p:cNvSpPr/>
          <p:nvPr/>
        </p:nvSpPr>
        <p:spPr>
          <a:xfrm>
            <a:off x="9274706" y="3429000"/>
            <a:ext cx="914400" cy="499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5B4F187-1CF6-59BB-52B5-4A19AD85EFB4}"/>
              </a:ext>
            </a:extLst>
          </p:cNvPr>
          <p:cNvSpPr txBox="1"/>
          <p:nvPr/>
        </p:nvSpPr>
        <p:spPr>
          <a:xfrm>
            <a:off x="10545729" y="3217102"/>
            <a:ext cx="711200" cy="923330"/>
          </a:xfrm>
          <a:prstGeom prst="rect">
            <a:avLst/>
          </a:prstGeom>
          <a:noFill/>
        </p:spPr>
        <p:txBody>
          <a:bodyPr wrap="square" rtlCol="0">
            <a:spAutoFit/>
          </a:bodyPr>
          <a:lstStyle/>
          <a:p>
            <a:r>
              <a:rPr lang="en-US" sz="5400" b="1" dirty="0">
                <a:solidFill>
                  <a:schemeClr val="accent6"/>
                </a:solidFill>
              </a:rPr>
              <a:t>3</a:t>
            </a:r>
            <a:endParaRPr lang="en-IN" sz="5400" b="1" dirty="0">
              <a:solidFill>
                <a:schemeClr val="accent6"/>
              </a:solidFill>
            </a:endParaRPr>
          </a:p>
        </p:txBody>
      </p:sp>
      <p:pic>
        <p:nvPicPr>
          <p:cNvPr id="20" name="Picture 19">
            <a:extLst>
              <a:ext uri="{FF2B5EF4-FFF2-40B4-BE49-F238E27FC236}">
                <a16:creationId xmlns:a16="http://schemas.microsoft.com/office/drawing/2014/main" id="{85581831-E50B-C3DA-F6F4-7C217448B9FE}"/>
              </a:ext>
            </a:extLst>
          </p:cNvPr>
          <p:cNvPicPr>
            <a:picLocks noChangeAspect="1"/>
          </p:cNvPicPr>
          <p:nvPr/>
        </p:nvPicPr>
        <p:blipFill>
          <a:blip r:embed="rId5"/>
          <a:stretch>
            <a:fillRect/>
          </a:stretch>
        </p:blipFill>
        <p:spPr>
          <a:xfrm>
            <a:off x="1938264" y="3404423"/>
            <a:ext cx="938865" cy="548688"/>
          </a:xfrm>
          <a:prstGeom prst="rect">
            <a:avLst/>
          </a:prstGeom>
        </p:spPr>
      </p:pic>
      <p:sp>
        <p:nvSpPr>
          <p:cNvPr id="4" name="TextBox 3">
            <a:extLst>
              <a:ext uri="{FF2B5EF4-FFF2-40B4-BE49-F238E27FC236}">
                <a16:creationId xmlns:a16="http://schemas.microsoft.com/office/drawing/2014/main" id="{D48862A8-D3DE-14B2-DED2-87F9DFFF3F7A}"/>
              </a:ext>
            </a:extLst>
          </p:cNvPr>
          <p:cNvSpPr txBox="1"/>
          <p:nvPr/>
        </p:nvSpPr>
        <p:spPr>
          <a:xfrm>
            <a:off x="9274706" y="1689971"/>
            <a:ext cx="2473554" cy="1015663"/>
          </a:xfrm>
          <a:prstGeom prst="rect">
            <a:avLst/>
          </a:prstGeom>
          <a:noFill/>
          <a:ln>
            <a:solidFill>
              <a:srgbClr val="FF0000"/>
            </a:solidFill>
          </a:ln>
        </p:spPr>
        <p:txBody>
          <a:bodyPr wrap="square" rtlCol="0">
            <a:spAutoFit/>
          </a:bodyPr>
          <a:lstStyle/>
          <a:p>
            <a:r>
              <a:rPr lang="en-US" b="1" dirty="0"/>
              <a:t>Test accuracy </a:t>
            </a:r>
            <a:r>
              <a:rPr lang="en-US" sz="2000" b="1" dirty="0"/>
              <a:t>97% with true test images</a:t>
            </a:r>
            <a:r>
              <a:rPr lang="en-US" b="1" dirty="0"/>
              <a:t> </a:t>
            </a:r>
            <a:endParaRPr lang="en-IN" b="1" dirty="0"/>
          </a:p>
        </p:txBody>
      </p:sp>
      <p:sp>
        <p:nvSpPr>
          <p:cNvPr id="9" name="TextBox 8">
            <a:extLst>
              <a:ext uri="{FF2B5EF4-FFF2-40B4-BE49-F238E27FC236}">
                <a16:creationId xmlns:a16="http://schemas.microsoft.com/office/drawing/2014/main" id="{AF9D09DB-E6BC-07A1-CD62-BD3D9E92F2DA}"/>
              </a:ext>
            </a:extLst>
          </p:cNvPr>
          <p:cNvSpPr txBox="1"/>
          <p:nvPr/>
        </p:nvSpPr>
        <p:spPr>
          <a:xfrm>
            <a:off x="336231" y="2733818"/>
            <a:ext cx="1817077" cy="369332"/>
          </a:xfrm>
          <a:prstGeom prst="rect">
            <a:avLst/>
          </a:prstGeom>
          <a:noFill/>
        </p:spPr>
        <p:txBody>
          <a:bodyPr wrap="square" rtlCol="0">
            <a:spAutoFit/>
          </a:bodyPr>
          <a:lstStyle/>
          <a:p>
            <a:r>
              <a:rPr lang="en-US" dirty="0"/>
              <a:t>Train set Images</a:t>
            </a:r>
            <a:endParaRPr lang="en-IN" dirty="0"/>
          </a:p>
        </p:txBody>
      </p:sp>
      <p:sp>
        <p:nvSpPr>
          <p:cNvPr id="10" name="TextBox 9">
            <a:extLst>
              <a:ext uri="{FF2B5EF4-FFF2-40B4-BE49-F238E27FC236}">
                <a16:creationId xmlns:a16="http://schemas.microsoft.com/office/drawing/2014/main" id="{036ED403-9C1B-9A68-0AC2-0502BB56F4AC}"/>
              </a:ext>
            </a:extLst>
          </p:cNvPr>
          <p:cNvSpPr txBox="1"/>
          <p:nvPr/>
        </p:nvSpPr>
        <p:spPr>
          <a:xfrm>
            <a:off x="443740" y="1944738"/>
            <a:ext cx="1896463" cy="369332"/>
          </a:xfrm>
          <a:prstGeom prst="rect">
            <a:avLst/>
          </a:prstGeom>
          <a:noFill/>
          <a:ln>
            <a:solidFill>
              <a:srgbClr val="FF0000"/>
            </a:solidFill>
          </a:ln>
        </p:spPr>
        <p:txBody>
          <a:bodyPr wrap="square" rtlCol="0">
            <a:spAutoFit/>
          </a:bodyPr>
          <a:lstStyle/>
          <a:p>
            <a:r>
              <a:rPr lang="en-US" b="1" dirty="0"/>
              <a:t>At Training </a:t>
            </a:r>
            <a:endParaRPr lang="en-IN" b="1" dirty="0"/>
          </a:p>
        </p:txBody>
      </p:sp>
      <p:sp>
        <p:nvSpPr>
          <p:cNvPr id="11" name="TextBox 10">
            <a:extLst>
              <a:ext uri="{FF2B5EF4-FFF2-40B4-BE49-F238E27FC236}">
                <a16:creationId xmlns:a16="http://schemas.microsoft.com/office/drawing/2014/main" id="{38F9D7B8-D043-2819-DB3F-87C677EF7C08}"/>
              </a:ext>
            </a:extLst>
          </p:cNvPr>
          <p:cNvSpPr txBox="1"/>
          <p:nvPr/>
        </p:nvSpPr>
        <p:spPr>
          <a:xfrm>
            <a:off x="4101844" y="6308924"/>
            <a:ext cx="3309610" cy="369332"/>
          </a:xfrm>
          <a:prstGeom prst="rect">
            <a:avLst/>
          </a:prstGeom>
          <a:noFill/>
          <a:ln>
            <a:solidFill>
              <a:srgbClr val="FF0000"/>
            </a:solidFill>
          </a:ln>
        </p:spPr>
        <p:txBody>
          <a:bodyPr wrap="square" rtlCol="0">
            <a:spAutoFit/>
          </a:bodyPr>
          <a:lstStyle/>
          <a:p>
            <a:r>
              <a:rPr lang="en-IN" dirty="0"/>
              <a:t>Objective: </a:t>
            </a:r>
            <a:r>
              <a:rPr lang="en-IN" b="1" dirty="0"/>
              <a:t>minimize the loss</a:t>
            </a:r>
            <a:endParaRPr lang="en-IN" dirty="0"/>
          </a:p>
        </p:txBody>
      </p:sp>
    </p:spTree>
    <p:extLst>
      <p:ext uri="{BB962C8B-B14F-4D97-AF65-F5344CB8AC3E}">
        <p14:creationId xmlns:p14="http://schemas.microsoft.com/office/powerpoint/2010/main" val="1807212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A6B68-A180-6597-7079-F32223A90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441B3-7635-10F9-D538-753534DE7112}"/>
              </a:ext>
            </a:extLst>
          </p:cNvPr>
          <p:cNvSpPr>
            <a:spLocks noGrp="1"/>
          </p:cNvSpPr>
          <p:nvPr>
            <p:ph type="title"/>
          </p:nvPr>
        </p:nvSpPr>
        <p:spPr>
          <a:xfrm>
            <a:off x="482600" y="117990"/>
            <a:ext cx="10515600" cy="1325563"/>
          </a:xfrm>
        </p:spPr>
        <p:txBody>
          <a:bodyPr>
            <a:normAutofit/>
          </a:bodyPr>
          <a:lstStyle/>
          <a:p>
            <a:r>
              <a:rPr lang="en-US" sz="3600" dirty="0"/>
              <a:t>Implementation : Impacts Baseline model in Presence of FGSN</a:t>
            </a:r>
            <a:endParaRPr lang="en-IN" sz="3600" dirty="0"/>
          </a:p>
        </p:txBody>
      </p:sp>
      <p:pic>
        <p:nvPicPr>
          <p:cNvPr id="5" name="Content Placeholder 4">
            <a:extLst>
              <a:ext uri="{FF2B5EF4-FFF2-40B4-BE49-F238E27FC236}">
                <a16:creationId xmlns:a16="http://schemas.microsoft.com/office/drawing/2014/main" id="{5E77C431-8469-B96A-BCFF-C44DC1AA7594}"/>
              </a:ext>
            </a:extLst>
          </p:cNvPr>
          <p:cNvPicPr>
            <a:picLocks noGrp="1" noChangeAspect="1"/>
          </p:cNvPicPr>
          <p:nvPr>
            <p:ph idx="1"/>
          </p:nvPr>
        </p:nvPicPr>
        <p:blipFill>
          <a:blip r:embed="rId3"/>
          <a:srcRect l="2744" t="-708" r="-1961" b="11288"/>
          <a:stretch>
            <a:fillRect/>
          </a:stretch>
        </p:blipFill>
        <p:spPr>
          <a:xfrm>
            <a:off x="2881418" y="1742684"/>
            <a:ext cx="6309892" cy="4035417"/>
          </a:xfrm>
          <a:prstGeom prst="rect">
            <a:avLst/>
          </a:prstGeom>
        </p:spPr>
      </p:pic>
      <p:sp>
        <p:nvSpPr>
          <p:cNvPr id="7" name="Rectangle 6">
            <a:extLst>
              <a:ext uri="{FF2B5EF4-FFF2-40B4-BE49-F238E27FC236}">
                <a16:creationId xmlns:a16="http://schemas.microsoft.com/office/drawing/2014/main" id="{8981F24C-8C44-193F-7F89-8F2B8FF97BDC}"/>
              </a:ext>
            </a:extLst>
          </p:cNvPr>
          <p:cNvSpPr/>
          <p:nvPr/>
        </p:nvSpPr>
        <p:spPr>
          <a:xfrm>
            <a:off x="2829051" y="3511608"/>
            <a:ext cx="725609" cy="84011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a:extLst>
              <a:ext uri="{FF2B5EF4-FFF2-40B4-BE49-F238E27FC236}">
                <a16:creationId xmlns:a16="http://schemas.microsoft.com/office/drawing/2014/main" id="{0BC34BE3-ED9B-589E-8394-920AD13C2FDC}"/>
              </a:ext>
            </a:extLst>
          </p:cNvPr>
          <p:cNvPicPr>
            <a:picLocks noChangeAspect="1"/>
          </p:cNvPicPr>
          <p:nvPr/>
        </p:nvPicPr>
        <p:blipFill>
          <a:blip r:embed="rId4"/>
          <a:stretch>
            <a:fillRect/>
          </a:stretch>
        </p:blipFill>
        <p:spPr>
          <a:xfrm>
            <a:off x="422579" y="3091787"/>
            <a:ext cx="1075267" cy="1075267"/>
          </a:xfrm>
          <a:prstGeom prst="rect">
            <a:avLst/>
          </a:prstGeom>
        </p:spPr>
      </p:pic>
      <p:sp>
        <p:nvSpPr>
          <p:cNvPr id="17" name="Arrow: Right 16">
            <a:extLst>
              <a:ext uri="{FF2B5EF4-FFF2-40B4-BE49-F238E27FC236}">
                <a16:creationId xmlns:a16="http://schemas.microsoft.com/office/drawing/2014/main" id="{6BE7D258-8BB3-51BE-E437-BAF51780B368}"/>
              </a:ext>
            </a:extLst>
          </p:cNvPr>
          <p:cNvSpPr/>
          <p:nvPr/>
        </p:nvSpPr>
        <p:spPr>
          <a:xfrm>
            <a:off x="9512456" y="3236434"/>
            <a:ext cx="914400" cy="4995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EAEDF94-B44A-98C9-779A-AC0F91DA15B5}"/>
              </a:ext>
            </a:extLst>
          </p:cNvPr>
          <p:cNvSpPr txBox="1"/>
          <p:nvPr/>
        </p:nvSpPr>
        <p:spPr>
          <a:xfrm>
            <a:off x="10642600" y="2945913"/>
            <a:ext cx="711200" cy="923330"/>
          </a:xfrm>
          <a:prstGeom prst="rect">
            <a:avLst/>
          </a:prstGeom>
          <a:noFill/>
        </p:spPr>
        <p:txBody>
          <a:bodyPr wrap="square" rtlCol="0">
            <a:spAutoFit/>
          </a:bodyPr>
          <a:lstStyle/>
          <a:p>
            <a:r>
              <a:rPr lang="en-US" sz="5400" b="1" dirty="0">
                <a:solidFill>
                  <a:schemeClr val="accent6"/>
                </a:solidFill>
              </a:rPr>
              <a:t>8</a:t>
            </a:r>
            <a:endParaRPr lang="en-IN" sz="5400" b="1" dirty="0">
              <a:solidFill>
                <a:schemeClr val="accent6"/>
              </a:solidFill>
            </a:endParaRPr>
          </a:p>
        </p:txBody>
      </p:sp>
      <p:pic>
        <p:nvPicPr>
          <p:cNvPr id="20" name="Picture 19">
            <a:extLst>
              <a:ext uri="{FF2B5EF4-FFF2-40B4-BE49-F238E27FC236}">
                <a16:creationId xmlns:a16="http://schemas.microsoft.com/office/drawing/2014/main" id="{E34F545C-014D-EA20-7BD7-8A39D71A1472}"/>
              </a:ext>
            </a:extLst>
          </p:cNvPr>
          <p:cNvPicPr>
            <a:picLocks noChangeAspect="1"/>
          </p:cNvPicPr>
          <p:nvPr/>
        </p:nvPicPr>
        <p:blipFill>
          <a:blip r:embed="rId5"/>
          <a:stretch>
            <a:fillRect/>
          </a:stretch>
        </p:blipFill>
        <p:spPr>
          <a:xfrm>
            <a:off x="1674442" y="3211705"/>
            <a:ext cx="938865" cy="548688"/>
          </a:xfrm>
          <a:prstGeom prst="rect">
            <a:avLst/>
          </a:prstGeom>
        </p:spPr>
      </p:pic>
      <p:sp>
        <p:nvSpPr>
          <p:cNvPr id="4" name="TextBox 3">
            <a:extLst>
              <a:ext uri="{FF2B5EF4-FFF2-40B4-BE49-F238E27FC236}">
                <a16:creationId xmlns:a16="http://schemas.microsoft.com/office/drawing/2014/main" id="{E7D3A0E5-3266-6776-BABE-BD80E9595AFC}"/>
              </a:ext>
            </a:extLst>
          </p:cNvPr>
          <p:cNvSpPr txBox="1"/>
          <p:nvPr/>
        </p:nvSpPr>
        <p:spPr>
          <a:xfrm>
            <a:off x="207640" y="5408768"/>
            <a:ext cx="1817078" cy="646331"/>
          </a:xfrm>
          <a:prstGeom prst="rect">
            <a:avLst/>
          </a:prstGeom>
          <a:noFill/>
          <a:ln>
            <a:solidFill>
              <a:srgbClr val="FF0000"/>
            </a:solidFill>
          </a:ln>
        </p:spPr>
        <p:txBody>
          <a:bodyPr wrap="square" rtlCol="0">
            <a:spAutoFit/>
          </a:bodyPr>
          <a:lstStyle/>
          <a:p>
            <a:pPr algn="ctr"/>
            <a:r>
              <a:rPr lang="en-US" b="1" dirty="0"/>
              <a:t>ϵ is increased from 0 to 0.3 </a:t>
            </a:r>
          </a:p>
        </p:txBody>
      </p:sp>
      <p:sp>
        <p:nvSpPr>
          <p:cNvPr id="6" name="TextBox 5">
            <a:extLst>
              <a:ext uri="{FF2B5EF4-FFF2-40B4-BE49-F238E27FC236}">
                <a16:creationId xmlns:a16="http://schemas.microsoft.com/office/drawing/2014/main" id="{F507BBA2-EAD1-ADD3-507E-8333E50CB5DA}"/>
              </a:ext>
            </a:extLst>
          </p:cNvPr>
          <p:cNvSpPr txBox="1"/>
          <p:nvPr/>
        </p:nvSpPr>
        <p:spPr>
          <a:xfrm>
            <a:off x="9697154" y="3982388"/>
            <a:ext cx="2314223" cy="369332"/>
          </a:xfrm>
          <a:prstGeom prst="rect">
            <a:avLst/>
          </a:prstGeom>
          <a:noFill/>
          <a:ln>
            <a:solidFill>
              <a:srgbClr val="FF0000"/>
            </a:solidFill>
          </a:ln>
        </p:spPr>
        <p:txBody>
          <a:bodyPr wrap="square" rtlCol="0">
            <a:spAutoFit/>
          </a:bodyPr>
          <a:lstStyle/>
          <a:p>
            <a:pPr algn="ctr"/>
            <a:r>
              <a:rPr lang="en-US" b="1" dirty="0"/>
              <a:t>Misclassification</a:t>
            </a:r>
          </a:p>
        </p:txBody>
      </p:sp>
      <p:sp>
        <p:nvSpPr>
          <p:cNvPr id="13" name="TextBox 12">
            <a:extLst>
              <a:ext uri="{FF2B5EF4-FFF2-40B4-BE49-F238E27FC236}">
                <a16:creationId xmlns:a16="http://schemas.microsoft.com/office/drawing/2014/main" id="{318E535B-0761-80B0-A9D0-1088C7C51CB5}"/>
              </a:ext>
            </a:extLst>
          </p:cNvPr>
          <p:cNvSpPr txBox="1"/>
          <p:nvPr/>
        </p:nvSpPr>
        <p:spPr>
          <a:xfrm>
            <a:off x="199895" y="4302033"/>
            <a:ext cx="1817077" cy="584775"/>
          </a:xfrm>
          <a:prstGeom prst="rect">
            <a:avLst/>
          </a:prstGeom>
          <a:noFill/>
        </p:spPr>
        <p:txBody>
          <a:bodyPr wrap="square" rtlCol="0">
            <a:spAutoFit/>
          </a:bodyPr>
          <a:lstStyle/>
          <a:p>
            <a:r>
              <a:rPr lang="en-US" sz="1600" dirty="0"/>
              <a:t>Input : Test set + Add perturbations</a:t>
            </a:r>
            <a:endParaRPr lang="en-IN" sz="1600" dirty="0"/>
          </a:p>
        </p:txBody>
      </p:sp>
      <p:sp>
        <p:nvSpPr>
          <p:cNvPr id="15" name="TextBox 14">
            <a:extLst>
              <a:ext uri="{FF2B5EF4-FFF2-40B4-BE49-F238E27FC236}">
                <a16:creationId xmlns:a16="http://schemas.microsoft.com/office/drawing/2014/main" id="{87B2ADB1-8F9A-D689-0EA1-8BB3E03F558C}"/>
              </a:ext>
            </a:extLst>
          </p:cNvPr>
          <p:cNvSpPr txBox="1"/>
          <p:nvPr/>
        </p:nvSpPr>
        <p:spPr>
          <a:xfrm>
            <a:off x="113794" y="2651799"/>
            <a:ext cx="2124079" cy="369332"/>
          </a:xfrm>
          <a:prstGeom prst="rect">
            <a:avLst/>
          </a:prstGeom>
          <a:noFill/>
        </p:spPr>
        <p:txBody>
          <a:bodyPr wrap="square" rtlCol="0">
            <a:spAutoFit/>
          </a:bodyPr>
          <a:lstStyle/>
          <a:p>
            <a:r>
              <a:rPr lang="en-US" dirty="0"/>
              <a:t>Adversarial image </a:t>
            </a:r>
            <a:endParaRPr lang="en-IN" dirty="0"/>
          </a:p>
        </p:txBody>
      </p:sp>
      <p:sp>
        <p:nvSpPr>
          <p:cNvPr id="16" name="TextBox 15">
            <a:extLst>
              <a:ext uri="{FF2B5EF4-FFF2-40B4-BE49-F238E27FC236}">
                <a16:creationId xmlns:a16="http://schemas.microsoft.com/office/drawing/2014/main" id="{4ED001CF-CE57-EA91-F5F3-AEBB48DCE945}"/>
              </a:ext>
            </a:extLst>
          </p:cNvPr>
          <p:cNvSpPr txBox="1"/>
          <p:nvPr/>
        </p:nvSpPr>
        <p:spPr>
          <a:xfrm>
            <a:off x="4803376" y="5892566"/>
            <a:ext cx="2860740" cy="369332"/>
          </a:xfrm>
          <a:prstGeom prst="rect">
            <a:avLst/>
          </a:prstGeom>
          <a:noFill/>
          <a:ln>
            <a:solidFill>
              <a:srgbClr val="FF0000"/>
            </a:solidFill>
          </a:ln>
        </p:spPr>
        <p:txBody>
          <a:bodyPr wrap="square" rtlCol="0">
            <a:spAutoFit/>
          </a:bodyPr>
          <a:lstStyle/>
          <a:p>
            <a:r>
              <a:rPr lang="en-IN" b="1" dirty="0"/>
              <a:t>             max the loss</a:t>
            </a:r>
            <a:endParaRPr lang="en-IN" dirty="0"/>
          </a:p>
        </p:txBody>
      </p:sp>
      <p:sp>
        <p:nvSpPr>
          <p:cNvPr id="18" name="TextBox 17">
            <a:extLst>
              <a:ext uri="{FF2B5EF4-FFF2-40B4-BE49-F238E27FC236}">
                <a16:creationId xmlns:a16="http://schemas.microsoft.com/office/drawing/2014/main" id="{6624AB9C-943A-E4FD-29C2-33982353B248}"/>
              </a:ext>
            </a:extLst>
          </p:cNvPr>
          <p:cNvSpPr txBox="1"/>
          <p:nvPr/>
        </p:nvSpPr>
        <p:spPr>
          <a:xfrm>
            <a:off x="9274706" y="1689971"/>
            <a:ext cx="2263578" cy="646331"/>
          </a:xfrm>
          <a:prstGeom prst="rect">
            <a:avLst/>
          </a:prstGeom>
          <a:noFill/>
          <a:ln>
            <a:solidFill>
              <a:srgbClr val="FF0000"/>
            </a:solidFill>
          </a:ln>
        </p:spPr>
        <p:txBody>
          <a:bodyPr wrap="square" rtlCol="0">
            <a:spAutoFit/>
          </a:bodyPr>
          <a:lstStyle/>
          <a:p>
            <a:r>
              <a:rPr lang="en-US" b="1" dirty="0"/>
              <a:t>Test accuracy dropped till 30 % </a:t>
            </a:r>
            <a:endParaRPr lang="en-IN" b="1" dirty="0"/>
          </a:p>
        </p:txBody>
      </p:sp>
      <p:sp>
        <p:nvSpPr>
          <p:cNvPr id="25" name="TextBox 24">
            <a:extLst>
              <a:ext uri="{FF2B5EF4-FFF2-40B4-BE49-F238E27FC236}">
                <a16:creationId xmlns:a16="http://schemas.microsoft.com/office/drawing/2014/main" id="{8514F56C-4669-AF65-9A15-049DCB3D78B6}"/>
              </a:ext>
            </a:extLst>
          </p:cNvPr>
          <p:cNvSpPr txBox="1"/>
          <p:nvPr/>
        </p:nvSpPr>
        <p:spPr>
          <a:xfrm>
            <a:off x="443740" y="1944738"/>
            <a:ext cx="1896463" cy="369332"/>
          </a:xfrm>
          <a:prstGeom prst="rect">
            <a:avLst/>
          </a:prstGeom>
          <a:noFill/>
          <a:ln>
            <a:solidFill>
              <a:srgbClr val="FF0000"/>
            </a:solidFill>
          </a:ln>
        </p:spPr>
        <p:txBody>
          <a:bodyPr wrap="square" rtlCol="0">
            <a:spAutoFit/>
          </a:bodyPr>
          <a:lstStyle/>
          <a:p>
            <a:r>
              <a:rPr lang="en-US" b="1" dirty="0"/>
              <a:t>At Inference </a:t>
            </a:r>
            <a:endParaRPr lang="en-IN" b="1" dirty="0"/>
          </a:p>
        </p:txBody>
      </p:sp>
    </p:spTree>
    <p:extLst>
      <p:ext uri="{BB962C8B-B14F-4D97-AF65-F5344CB8AC3E}">
        <p14:creationId xmlns:p14="http://schemas.microsoft.com/office/powerpoint/2010/main" val="3815203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A0838-7639-9041-30A0-F00E85561D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E505E-AA50-8EED-6579-CDFF428CA3D6}"/>
              </a:ext>
            </a:extLst>
          </p:cNvPr>
          <p:cNvSpPr>
            <a:spLocks noGrp="1"/>
          </p:cNvSpPr>
          <p:nvPr>
            <p:ph type="title"/>
          </p:nvPr>
        </p:nvSpPr>
        <p:spPr>
          <a:xfrm>
            <a:off x="661241" y="102092"/>
            <a:ext cx="10515600" cy="1325563"/>
          </a:xfrm>
        </p:spPr>
        <p:txBody>
          <a:bodyPr/>
          <a:lstStyle/>
          <a:p>
            <a:r>
              <a:rPr lang="en-US" dirty="0"/>
              <a:t>Results : In Presence of FGSM  </a:t>
            </a:r>
            <a:endParaRPr lang="en-IN" dirty="0"/>
          </a:p>
        </p:txBody>
      </p:sp>
      <p:pic>
        <p:nvPicPr>
          <p:cNvPr id="4" name="Picture 3">
            <a:extLst>
              <a:ext uri="{FF2B5EF4-FFF2-40B4-BE49-F238E27FC236}">
                <a16:creationId xmlns:a16="http://schemas.microsoft.com/office/drawing/2014/main" id="{BBE3F48D-7EB6-808F-B05C-6DF007AB7680}"/>
              </a:ext>
            </a:extLst>
          </p:cNvPr>
          <p:cNvPicPr>
            <a:picLocks noChangeAspect="1"/>
          </p:cNvPicPr>
          <p:nvPr/>
        </p:nvPicPr>
        <p:blipFill>
          <a:blip r:embed="rId3"/>
          <a:stretch>
            <a:fillRect/>
          </a:stretch>
        </p:blipFill>
        <p:spPr>
          <a:xfrm>
            <a:off x="3882868" y="1661744"/>
            <a:ext cx="3776577" cy="3875529"/>
          </a:xfrm>
          <a:prstGeom prst="rect">
            <a:avLst/>
          </a:prstGeom>
        </p:spPr>
      </p:pic>
      <p:pic>
        <p:nvPicPr>
          <p:cNvPr id="6" name="Picture 5">
            <a:extLst>
              <a:ext uri="{FF2B5EF4-FFF2-40B4-BE49-F238E27FC236}">
                <a16:creationId xmlns:a16="http://schemas.microsoft.com/office/drawing/2014/main" id="{53CA3DFD-C94A-624C-7A5D-E52B257D7453}"/>
              </a:ext>
            </a:extLst>
          </p:cNvPr>
          <p:cNvPicPr>
            <a:picLocks noChangeAspect="1"/>
          </p:cNvPicPr>
          <p:nvPr/>
        </p:nvPicPr>
        <p:blipFill>
          <a:blip r:embed="rId4"/>
          <a:stretch>
            <a:fillRect/>
          </a:stretch>
        </p:blipFill>
        <p:spPr>
          <a:xfrm>
            <a:off x="241376" y="1886325"/>
            <a:ext cx="3581599" cy="3586607"/>
          </a:xfrm>
          <a:prstGeom prst="rect">
            <a:avLst/>
          </a:prstGeom>
        </p:spPr>
      </p:pic>
      <p:sp>
        <p:nvSpPr>
          <p:cNvPr id="13" name="TextBox 12">
            <a:extLst>
              <a:ext uri="{FF2B5EF4-FFF2-40B4-BE49-F238E27FC236}">
                <a16:creationId xmlns:a16="http://schemas.microsoft.com/office/drawing/2014/main" id="{5746B89A-1334-E1DE-2F4F-E020835DEE7C}"/>
              </a:ext>
            </a:extLst>
          </p:cNvPr>
          <p:cNvSpPr txBox="1"/>
          <p:nvPr/>
        </p:nvSpPr>
        <p:spPr>
          <a:xfrm>
            <a:off x="181482" y="5526543"/>
            <a:ext cx="3971967" cy="800219"/>
          </a:xfrm>
          <a:prstGeom prst="rect">
            <a:avLst/>
          </a:prstGeom>
          <a:noFill/>
        </p:spPr>
        <p:txBody>
          <a:bodyPr wrap="square" rtlCol="0">
            <a:spAutoFit/>
          </a:bodyPr>
          <a:lstStyle/>
          <a:p>
            <a:pPr algn="ctr"/>
            <a:r>
              <a:rPr lang="en-US" sz="1400" dirty="0"/>
              <a:t>Variation of the train and valid loss with no of epochs for the training of the DNN</a:t>
            </a:r>
          </a:p>
          <a:p>
            <a:endParaRPr lang="en-IN" dirty="0"/>
          </a:p>
        </p:txBody>
      </p:sp>
      <p:graphicFrame>
        <p:nvGraphicFramePr>
          <p:cNvPr id="15" name="Table 14">
            <a:extLst>
              <a:ext uri="{FF2B5EF4-FFF2-40B4-BE49-F238E27FC236}">
                <a16:creationId xmlns:a16="http://schemas.microsoft.com/office/drawing/2014/main" id="{DE01C0C4-0885-CC11-0C2B-ED590F24D6A2}"/>
              </a:ext>
            </a:extLst>
          </p:cNvPr>
          <p:cNvGraphicFramePr>
            <a:graphicFrameLocks noGrp="1"/>
          </p:cNvGraphicFramePr>
          <p:nvPr>
            <p:extLst>
              <p:ext uri="{D42A27DB-BD31-4B8C-83A1-F6EECF244321}">
                <p14:modId xmlns:p14="http://schemas.microsoft.com/office/powerpoint/2010/main" val="739850380"/>
              </p:ext>
            </p:extLst>
          </p:nvPr>
        </p:nvGraphicFramePr>
        <p:xfrm>
          <a:off x="7719338" y="2334908"/>
          <a:ext cx="4362655" cy="2772525"/>
        </p:xfrm>
        <a:graphic>
          <a:graphicData uri="http://schemas.openxmlformats.org/drawingml/2006/table">
            <a:tbl>
              <a:tblPr firstRow="1" bandRow="1">
                <a:tableStyleId>{5C22544A-7EE6-4342-B048-85BDC9FD1C3A}</a:tableStyleId>
              </a:tblPr>
              <a:tblGrid>
                <a:gridCol w="703646">
                  <a:extLst>
                    <a:ext uri="{9D8B030D-6E8A-4147-A177-3AD203B41FA5}">
                      <a16:colId xmlns:a16="http://schemas.microsoft.com/office/drawing/2014/main" val="3533254067"/>
                    </a:ext>
                  </a:extLst>
                </a:gridCol>
                <a:gridCol w="1262688">
                  <a:extLst>
                    <a:ext uri="{9D8B030D-6E8A-4147-A177-3AD203B41FA5}">
                      <a16:colId xmlns:a16="http://schemas.microsoft.com/office/drawing/2014/main" val="1423626673"/>
                    </a:ext>
                  </a:extLst>
                </a:gridCol>
                <a:gridCol w="1328572">
                  <a:extLst>
                    <a:ext uri="{9D8B030D-6E8A-4147-A177-3AD203B41FA5}">
                      <a16:colId xmlns:a16="http://schemas.microsoft.com/office/drawing/2014/main" val="3303268231"/>
                    </a:ext>
                  </a:extLst>
                </a:gridCol>
                <a:gridCol w="1067749">
                  <a:extLst>
                    <a:ext uri="{9D8B030D-6E8A-4147-A177-3AD203B41FA5}">
                      <a16:colId xmlns:a16="http://schemas.microsoft.com/office/drawing/2014/main" val="3662412736"/>
                    </a:ext>
                  </a:extLst>
                </a:gridCol>
              </a:tblGrid>
              <a:tr h="397256">
                <a:tc>
                  <a:txBody>
                    <a:bodyPr/>
                    <a:lstStyle/>
                    <a:p>
                      <a:pPr algn="ctr"/>
                      <a:r>
                        <a:rPr lang="en-US" sz="1100" dirty="0"/>
                        <a:t>Epsilon</a:t>
                      </a:r>
                      <a:endParaRPr lang="en-IN" sz="1100" dirty="0"/>
                    </a:p>
                  </a:txBody>
                  <a:tcPr/>
                </a:tc>
                <a:tc>
                  <a:txBody>
                    <a:bodyPr/>
                    <a:lstStyle/>
                    <a:p>
                      <a:pPr algn="ctr"/>
                      <a:r>
                        <a:rPr lang="en-US" sz="1100" dirty="0"/>
                        <a:t>No of correctly classified cases </a:t>
                      </a:r>
                      <a:endParaRPr lang="en-IN" sz="1100" dirty="0"/>
                    </a:p>
                  </a:txBody>
                  <a:tcPr/>
                </a:tc>
                <a:tc>
                  <a:txBody>
                    <a:bodyPr/>
                    <a:lstStyle/>
                    <a:p>
                      <a:pPr algn="ctr"/>
                      <a:r>
                        <a:rPr lang="en-US" sz="1100" dirty="0"/>
                        <a:t>Total no of cases </a:t>
                      </a:r>
                      <a:endParaRPr lang="en-IN" sz="1100" dirty="0"/>
                    </a:p>
                  </a:txBody>
                  <a:tcPr/>
                </a:tc>
                <a:tc>
                  <a:txBody>
                    <a:bodyPr/>
                    <a:lstStyle/>
                    <a:p>
                      <a:pPr algn="ctr"/>
                      <a:r>
                        <a:rPr lang="en-US" sz="1100" dirty="0"/>
                        <a:t>Classification accuracy</a:t>
                      </a:r>
                      <a:endParaRPr lang="en-IN" sz="1100" dirty="0"/>
                    </a:p>
                  </a:txBody>
                  <a:tcPr/>
                </a:tc>
                <a:extLst>
                  <a:ext uri="{0D108BD9-81ED-4DB2-BD59-A6C34878D82A}">
                    <a16:rowId xmlns:a16="http://schemas.microsoft.com/office/drawing/2014/main" val="2338343617"/>
                  </a:ext>
                </a:extLst>
              </a:tr>
              <a:tr h="241191">
                <a:tc>
                  <a:txBody>
                    <a:bodyPr/>
                    <a:lstStyle/>
                    <a:p>
                      <a:pPr algn="ctr"/>
                      <a:r>
                        <a:rPr lang="en-US" sz="1100" dirty="0"/>
                        <a:t>0</a:t>
                      </a:r>
                      <a:endParaRPr lang="en-IN" sz="1100" dirty="0"/>
                    </a:p>
                  </a:txBody>
                  <a:tcPr/>
                </a:tc>
                <a:tc>
                  <a:txBody>
                    <a:bodyPr/>
                    <a:lstStyle/>
                    <a:p>
                      <a:pPr algn="ctr"/>
                      <a:r>
                        <a:rPr lang="en-US" sz="1100" dirty="0"/>
                        <a:t>9708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0.970</a:t>
                      </a:r>
                      <a:endParaRPr lang="en-IN" sz="1100" dirty="0"/>
                    </a:p>
                  </a:txBody>
                  <a:tcPr/>
                </a:tc>
                <a:extLst>
                  <a:ext uri="{0D108BD9-81ED-4DB2-BD59-A6C34878D82A}">
                    <a16:rowId xmlns:a16="http://schemas.microsoft.com/office/drawing/2014/main" val="525200081"/>
                  </a:ext>
                </a:extLst>
              </a:tr>
              <a:tr h="241191">
                <a:tc>
                  <a:txBody>
                    <a:bodyPr/>
                    <a:lstStyle/>
                    <a:p>
                      <a:pPr algn="ctr"/>
                      <a:r>
                        <a:rPr lang="en-US" sz="1100" dirty="0"/>
                        <a:t>0.007</a:t>
                      </a:r>
                      <a:endParaRPr lang="en-IN" sz="1100" dirty="0"/>
                    </a:p>
                  </a:txBody>
                  <a:tcPr/>
                </a:tc>
                <a:tc>
                  <a:txBody>
                    <a:bodyPr/>
                    <a:lstStyle/>
                    <a:p>
                      <a:pPr algn="ctr"/>
                      <a:r>
                        <a:rPr lang="en-US" sz="1100" dirty="0"/>
                        <a:t>9668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0.966</a:t>
                      </a:r>
                      <a:endParaRPr lang="en-IN" sz="1100" dirty="0"/>
                    </a:p>
                  </a:txBody>
                  <a:tcPr/>
                </a:tc>
                <a:extLst>
                  <a:ext uri="{0D108BD9-81ED-4DB2-BD59-A6C34878D82A}">
                    <a16:rowId xmlns:a16="http://schemas.microsoft.com/office/drawing/2014/main" val="3697770996"/>
                  </a:ext>
                </a:extLst>
              </a:tr>
              <a:tr h="241191">
                <a:tc>
                  <a:txBody>
                    <a:bodyPr/>
                    <a:lstStyle/>
                    <a:p>
                      <a:pPr algn="ctr"/>
                      <a:r>
                        <a:rPr lang="en-US" sz="1100" dirty="0"/>
                        <a:t>0.01</a:t>
                      </a:r>
                      <a:endParaRPr lang="en-IN" sz="1100" dirty="0"/>
                    </a:p>
                  </a:txBody>
                  <a:tcPr/>
                </a:tc>
                <a:tc>
                  <a:txBody>
                    <a:bodyPr/>
                    <a:lstStyle/>
                    <a:p>
                      <a:pPr algn="ctr"/>
                      <a:r>
                        <a:rPr lang="en-US" sz="1100" dirty="0"/>
                        <a:t>9688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0.966</a:t>
                      </a:r>
                      <a:endParaRPr lang="en-IN" sz="1100" dirty="0"/>
                    </a:p>
                  </a:txBody>
                  <a:tcPr/>
                </a:tc>
                <a:extLst>
                  <a:ext uri="{0D108BD9-81ED-4DB2-BD59-A6C34878D82A}">
                    <a16:rowId xmlns:a16="http://schemas.microsoft.com/office/drawing/2014/main" val="1216293369"/>
                  </a:ext>
                </a:extLst>
              </a:tr>
              <a:tr h="241191">
                <a:tc>
                  <a:txBody>
                    <a:bodyPr/>
                    <a:lstStyle/>
                    <a:p>
                      <a:pPr algn="ctr"/>
                      <a:r>
                        <a:rPr lang="en-US" sz="1100" dirty="0"/>
                        <a:t>0.02</a:t>
                      </a:r>
                      <a:endParaRPr lang="en-IN" sz="1100" dirty="0"/>
                    </a:p>
                  </a:txBody>
                  <a:tcPr/>
                </a:tc>
                <a:tc>
                  <a:txBody>
                    <a:bodyPr/>
                    <a:lstStyle/>
                    <a:p>
                      <a:pPr algn="ctr"/>
                      <a:r>
                        <a:rPr lang="en-US" sz="1100" dirty="0"/>
                        <a:t>9619</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0.961</a:t>
                      </a:r>
                      <a:endParaRPr lang="en-IN" sz="1100" dirty="0"/>
                    </a:p>
                  </a:txBody>
                  <a:tcPr/>
                </a:tc>
                <a:extLst>
                  <a:ext uri="{0D108BD9-81ED-4DB2-BD59-A6C34878D82A}">
                    <a16:rowId xmlns:a16="http://schemas.microsoft.com/office/drawing/2014/main" val="1119838115"/>
                  </a:ext>
                </a:extLst>
              </a:tr>
              <a:tr h="241191">
                <a:tc>
                  <a:txBody>
                    <a:bodyPr/>
                    <a:lstStyle/>
                    <a:p>
                      <a:pPr algn="ctr"/>
                      <a:r>
                        <a:rPr lang="en-US" sz="1100" dirty="0"/>
                        <a:t>0.03</a:t>
                      </a:r>
                      <a:endParaRPr lang="en-IN" sz="1100" dirty="0"/>
                    </a:p>
                  </a:txBody>
                  <a:tcPr/>
                </a:tc>
                <a:tc>
                  <a:txBody>
                    <a:bodyPr/>
                    <a:lstStyle/>
                    <a:p>
                      <a:pPr algn="ctr"/>
                      <a:r>
                        <a:rPr lang="en-US" sz="1100" dirty="0"/>
                        <a:t>9554</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0.955</a:t>
                      </a:r>
                      <a:endParaRPr lang="en-IN" sz="1100" dirty="0"/>
                    </a:p>
                  </a:txBody>
                  <a:tcPr/>
                </a:tc>
                <a:extLst>
                  <a:ext uri="{0D108BD9-81ED-4DB2-BD59-A6C34878D82A}">
                    <a16:rowId xmlns:a16="http://schemas.microsoft.com/office/drawing/2014/main" val="1393197694"/>
                  </a:ext>
                </a:extLst>
              </a:tr>
              <a:tr h="241191">
                <a:tc>
                  <a:txBody>
                    <a:bodyPr/>
                    <a:lstStyle/>
                    <a:p>
                      <a:pPr algn="ctr"/>
                      <a:r>
                        <a:rPr lang="en-US" sz="1100" dirty="0"/>
                        <a:t>0.05</a:t>
                      </a:r>
                      <a:endParaRPr lang="en-IN" sz="1100" dirty="0"/>
                    </a:p>
                  </a:txBody>
                  <a:tcPr/>
                </a:tc>
                <a:tc>
                  <a:txBody>
                    <a:bodyPr/>
                    <a:lstStyle/>
                    <a:p>
                      <a:pPr algn="ctr"/>
                      <a:r>
                        <a:rPr lang="en-US" sz="1100" dirty="0"/>
                        <a:t>9384</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0.938</a:t>
                      </a:r>
                      <a:endParaRPr lang="en-IN" sz="1100" dirty="0"/>
                    </a:p>
                  </a:txBody>
                  <a:tcPr/>
                </a:tc>
                <a:extLst>
                  <a:ext uri="{0D108BD9-81ED-4DB2-BD59-A6C34878D82A}">
                    <a16:rowId xmlns:a16="http://schemas.microsoft.com/office/drawing/2014/main" val="192899285"/>
                  </a:ext>
                </a:extLst>
              </a:tr>
              <a:tr h="241191">
                <a:tc>
                  <a:txBody>
                    <a:bodyPr/>
                    <a:lstStyle/>
                    <a:p>
                      <a:pPr algn="ctr"/>
                      <a:r>
                        <a:rPr lang="en-US" sz="1100" dirty="0"/>
                        <a:t>0.1</a:t>
                      </a:r>
                      <a:endParaRPr lang="en-IN" sz="1100" dirty="0"/>
                    </a:p>
                  </a:txBody>
                  <a:tcPr/>
                </a:tc>
                <a:tc>
                  <a:txBody>
                    <a:bodyPr/>
                    <a:lstStyle/>
                    <a:p>
                      <a:pPr algn="ctr"/>
                      <a:r>
                        <a:rPr lang="en-US" sz="1100" dirty="0"/>
                        <a:t>8705</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0.870</a:t>
                      </a:r>
                      <a:endParaRPr lang="en-IN" sz="1100" dirty="0"/>
                    </a:p>
                  </a:txBody>
                  <a:tcPr/>
                </a:tc>
                <a:extLst>
                  <a:ext uri="{0D108BD9-81ED-4DB2-BD59-A6C34878D82A}">
                    <a16:rowId xmlns:a16="http://schemas.microsoft.com/office/drawing/2014/main" val="3264467183"/>
                  </a:ext>
                </a:extLst>
              </a:tr>
              <a:tr h="241191">
                <a:tc>
                  <a:txBody>
                    <a:bodyPr/>
                    <a:lstStyle/>
                    <a:p>
                      <a:pPr algn="ctr"/>
                      <a:r>
                        <a:rPr lang="en-US" sz="1100" dirty="0"/>
                        <a:t>0.2</a:t>
                      </a:r>
                      <a:endParaRPr lang="en-IN" sz="1100" dirty="0"/>
                    </a:p>
                  </a:txBody>
                  <a:tcPr/>
                </a:tc>
                <a:tc>
                  <a:txBody>
                    <a:bodyPr/>
                    <a:lstStyle/>
                    <a:p>
                      <a:pPr algn="ctr"/>
                      <a:r>
                        <a:rPr lang="en-US" sz="1100" dirty="0"/>
                        <a:t>5863</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0.586</a:t>
                      </a:r>
                      <a:endParaRPr lang="en-IN" sz="1100" dirty="0"/>
                    </a:p>
                  </a:txBody>
                  <a:tcPr/>
                </a:tc>
                <a:extLst>
                  <a:ext uri="{0D108BD9-81ED-4DB2-BD59-A6C34878D82A}">
                    <a16:rowId xmlns:a16="http://schemas.microsoft.com/office/drawing/2014/main" val="1984940828"/>
                  </a:ext>
                </a:extLst>
              </a:tr>
              <a:tr h="273165">
                <a:tc>
                  <a:txBody>
                    <a:bodyPr/>
                    <a:lstStyle/>
                    <a:p>
                      <a:pPr algn="ctr"/>
                      <a:r>
                        <a:rPr lang="en-US" sz="1100" dirty="0"/>
                        <a:t>0.3</a:t>
                      </a:r>
                      <a:endParaRPr lang="en-IN" sz="1100" dirty="0"/>
                    </a:p>
                  </a:txBody>
                  <a:tcPr/>
                </a:tc>
                <a:tc>
                  <a:txBody>
                    <a:bodyPr/>
                    <a:lstStyle/>
                    <a:p>
                      <a:pPr algn="ctr"/>
                      <a:r>
                        <a:rPr lang="en-US" sz="1100" dirty="0"/>
                        <a:t>3034</a:t>
                      </a:r>
                      <a:endParaRPr lang="en-IN" sz="1100" dirty="0"/>
                    </a:p>
                  </a:txBody>
                  <a:tcPr/>
                </a:tc>
                <a:tc>
                  <a:txBody>
                    <a:bodyPr/>
                    <a:lstStyle/>
                    <a:p>
                      <a:pPr algn="ctr"/>
                      <a:r>
                        <a:rPr lang="en-US" sz="1100" dirty="0"/>
                        <a:t>1000</a:t>
                      </a:r>
                      <a:endParaRPr lang="en-IN" sz="1100" dirty="0"/>
                    </a:p>
                  </a:txBody>
                  <a:tcPr/>
                </a:tc>
                <a:tc>
                  <a:txBody>
                    <a:bodyPr/>
                    <a:lstStyle/>
                    <a:p>
                      <a:pPr algn="ctr"/>
                      <a:r>
                        <a:rPr lang="en-US" sz="1100" b="1" dirty="0">
                          <a:solidFill>
                            <a:srgbClr val="FF0000"/>
                          </a:solidFill>
                        </a:rPr>
                        <a:t>0.303</a:t>
                      </a:r>
                      <a:endParaRPr lang="en-IN" sz="1100" b="1" dirty="0">
                        <a:solidFill>
                          <a:srgbClr val="FF0000"/>
                        </a:solidFill>
                      </a:endParaRPr>
                    </a:p>
                  </a:txBody>
                  <a:tcPr/>
                </a:tc>
                <a:extLst>
                  <a:ext uri="{0D108BD9-81ED-4DB2-BD59-A6C34878D82A}">
                    <a16:rowId xmlns:a16="http://schemas.microsoft.com/office/drawing/2014/main" val="165681436"/>
                  </a:ext>
                </a:extLst>
              </a:tr>
            </a:tbl>
          </a:graphicData>
        </a:graphic>
      </p:graphicFrame>
      <p:sp>
        <p:nvSpPr>
          <p:cNvPr id="16" name="TextBox 15">
            <a:extLst>
              <a:ext uri="{FF2B5EF4-FFF2-40B4-BE49-F238E27FC236}">
                <a16:creationId xmlns:a16="http://schemas.microsoft.com/office/drawing/2014/main" id="{D992982F-E0C5-BE25-1737-5688E2580582}"/>
              </a:ext>
            </a:extLst>
          </p:cNvPr>
          <p:cNvSpPr txBox="1"/>
          <p:nvPr/>
        </p:nvSpPr>
        <p:spPr>
          <a:xfrm>
            <a:off x="3988385" y="5537273"/>
            <a:ext cx="3971967" cy="800219"/>
          </a:xfrm>
          <a:prstGeom prst="rect">
            <a:avLst/>
          </a:prstGeom>
          <a:noFill/>
        </p:spPr>
        <p:txBody>
          <a:bodyPr wrap="square" rtlCol="0">
            <a:spAutoFit/>
          </a:bodyPr>
          <a:lstStyle/>
          <a:p>
            <a:pPr algn="ctr"/>
            <a:r>
              <a:rPr lang="en-US" sz="1400" dirty="0"/>
              <a:t>Effect of the FGSM attack on DNN for different noise levels in absence of defensive distillation</a:t>
            </a:r>
          </a:p>
          <a:p>
            <a:endParaRPr lang="en-IN" dirty="0"/>
          </a:p>
        </p:txBody>
      </p:sp>
      <p:sp>
        <p:nvSpPr>
          <p:cNvPr id="17" name="TextBox 16">
            <a:extLst>
              <a:ext uri="{FF2B5EF4-FFF2-40B4-BE49-F238E27FC236}">
                <a16:creationId xmlns:a16="http://schemas.microsoft.com/office/drawing/2014/main" id="{BA54E0EF-4C51-4892-4C6D-1A308F95ED60}"/>
              </a:ext>
            </a:extLst>
          </p:cNvPr>
          <p:cNvSpPr txBox="1"/>
          <p:nvPr/>
        </p:nvSpPr>
        <p:spPr>
          <a:xfrm>
            <a:off x="8110027" y="5403432"/>
            <a:ext cx="3900492" cy="523220"/>
          </a:xfrm>
          <a:prstGeom prst="rect">
            <a:avLst/>
          </a:prstGeom>
          <a:noFill/>
          <a:ln>
            <a:solidFill>
              <a:schemeClr val="tx1"/>
            </a:solidFill>
          </a:ln>
        </p:spPr>
        <p:txBody>
          <a:bodyPr wrap="square" rtlCol="0">
            <a:spAutoFit/>
          </a:bodyPr>
          <a:lstStyle/>
          <a:p>
            <a:pPr algn="ctr"/>
            <a:r>
              <a:rPr lang="en-US" sz="1400" b="1" dirty="0"/>
              <a:t>The effect of the FGSM attack on the classification performance </a:t>
            </a:r>
            <a:r>
              <a:rPr lang="en-IN" sz="1400" b="1" dirty="0"/>
              <a:t>of DNN</a:t>
            </a:r>
            <a:endParaRPr lang="en-US" sz="1400" b="1" dirty="0"/>
          </a:p>
        </p:txBody>
      </p:sp>
      <p:sp>
        <p:nvSpPr>
          <p:cNvPr id="18" name="TextBox 17">
            <a:extLst>
              <a:ext uri="{FF2B5EF4-FFF2-40B4-BE49-F238E27FC236}">
                <a16:creationId xmlns:a16="http://schemas.microsoft.com/office/drawing/2014/main" id="{1BE96F34-7093-79CE-D59B-1AFB6CC0C57D}"/>
              </a:ext>
            </a:extLst>
          </p:cNvPr>
          <p:cNvSpPr txBox="1"/>
          <p:nvPr/>
        </p:nvSpPr>
        <p:spPr>
          <a:xfrm>
            <a:off x="7804935" y="1911691"/>
            <a:ext cx="3555896" cy="369332"/>
          </a:xfrm>
          <a:prstGeom prst="rect">
            <a:avLst/>
          </a:prstGeom>
          <a:noFill/>
        </p:spPr>
        <p:txBody>
          <a:bodyPr wrap="square" rtlCol="0">
            <a:spAutoFit/>
          </a:bodyPr>
          <a:lstStyle/>
          <a:p>
            <a:r>
              <a:rPr lang="en-US" sz="1200" b="1" dirty="0"/>
              <a:t>Inference on Test set </a:t>
            </a:r>
            <a:r>
              <a:rPr lang="en-US" dirty="0"/>
              <a:t>: </a:t>
            </a:r>
            <a:endParaRPr lang="en-IN" dirty="0"/>
          </a:p>
        </p:txBody>
      </p:sp>
      <p:sp>
        <p:nvSpPr>
          <p:cNvPr id="3" name="Arc 2">
            <a:extLst>
              <a:ext uri="{FF2B5EF4-FFF2-40B4-BE49-F238E27FC236}">
                <a16:creationId xmlns:a16="http://schemas.microsoft.com/office/drawing/2014/main" id="{C3B0E63D-1C4A-8D15-0B3A-DB69656DC129}"/>
              </a:ext>
            </a:extLst>
          </p:cNvPr>
          <p:cNvSpPr/>
          <p:nvPr/>
        </p:nvSpPr>
        <p:spPr>
          <a:xfrm>
            <a:off x="6771317" y="1624569"/>
            <a:ext cx="1473798" cy="355172"/>
          </a:xfrm>
          <a:prstGeom prst="arc">
            <a:avLst>
              <a:gd name="adj1" fmla="val 11081134"/>
              <a:gd name="adj2" fmla="val 277506"/>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 name="Flowchart: Merge 4">
            <a:extLst>
              <a:ext uri="{FF2B5EF4-FFF2-40B4-BE49-F238E27FC236}">
                <a16:creationId xmlns:a16="http://schemas.microsoft.com/office/drawing/2014/main" id="{939901AC-B0B0-A077-81E0-4843D34E14FE}"/>
              </a:ext>
            </a:extLst>
          </p:cNvPr>
          <p:cNvSpPr/>
          <p:nvPr/>
        </p:nvSpPr>
        <p:spPr>
          <a:xfrm>
            <a:off x="8110024" y="1830089"/>
            <a:ext cx="270181" cy="74979"/>
          </a:xfrm>
          <a:prstGeom prst="flowChartMerg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397D801B-27E2-0297-2F06-46D8DDAA9802}"/>
              </a:ext>
            </a:extLst>
          </p:cNvPr>
          <p:cNvSpPr txBox="1"/>
          <p:nvPr/>
        </p:nvSpPr>
        <p:spPr>
          <a:xfrm>
            <a:off x="7562674" y="1129835"/>
            <a:ext cx="4519319" cy="369332"/>
          </a:xfrm>
          <a:prstGeom prst="rect">
            <a:avLst/>
          </a:prstGeom>
          <a:noFill/>
          <a:ln>
            <a:solidFill>
              <a:srgbClr val="FF0000"/>
            </a:solidFill>
          </a:ln>
        </p:spPr>
        <p:txBody>
          <a:bodyPr wrap="square" rtlCol="0">
            <a:spAutoFit/>
          </a:bodyPr>
          <a:lstStyle/>
          <a:p>
            <a:r>
              <a:rPr lang="en-US" b="1" dirty="0"/>
              <a:t>Test accuracy dropped from 0.97 to 0.30 %</a:t>
            </a:r>
            <a:endParaRPr lang="en-IN" b="1" dirty="0"/>
          </a:p>
        </p:txBody>
      </p:sp>
    </p:spTree>
    <p:extLst>
      <p:ext uri="{BB962C8B-B14F-4D97-AF65-F5344CB8AC3E}">
        <p14:creationId xmlns:p14="http://schemas.microsoft.com/office/powerpoint/2010/main" val="3461248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27F95-DEEF-3D39-AA53-06D71CAA37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BE9D05-361C-7609-3326-80827F3FB9A3}"/>
              </a:ext>
            </a:extLst>
          </p:cNvPr>
          <p:cNvSpPr>
            <a:spLocks noGrp="1"/>
          </p:cNvSpPr>
          <p:nvPr>
            <p:ph type="title"/>
          </p:nvPr>
        </p:nvSpPr>
        <p:spPr>
          <a:xfrm>
            <a:off x="838200" y="364410"/>
            <a:ext cx="10515600" cy="1325563"/>
          </a:xfrm>
        </p:spPr>
        <p:txBody>
          <a:bodyPr/>
          <a:lstStyle/>
          <a:p>
            <a:r>
              <a:rPr lang="en-US" dirty="0"/>
              <a:t>Implementation :CNN Architecture </a:t>
            </a:r>
            <a:endParaRPr lang="en-IN" dirty="0"/>
          </a:p>
        </p:txBody>
      </p:sp>
      <p:sp>
        <p:nvSpPr>
          <p:cNvPr id="7" name="Rectangle 6">
            <a:extLst>
              <a:ext uri="{FF2B5EF4-FFF2-40B4-BE49-F238E27FC236}">
                <a16:creationId xmlns:a16="http://schemas.microsoft.com/office/drawing/2014/main" id="{811D9589-1065-104C-A30F-C177DD753761}"/>
              </a:ext>
            </a:extLst>
          </p:cNvPr>
          <p:cNvSpPr/>
          <p:nvPr/>
        </p:nvSpPr>
        <p:spPr>
          <a:xfrm>
            <a:off x="2340203" y="3268133"/>
            <a:ext cx="914400" cy="9784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Table 8">
            <a:extLst>
              <a:ext uri="{FF2B5EF4-FFF2-40B4-BE49-F238E27FC236}">
                <a16:creationId xmlns:a16="http://schemas.microsoft.com/office/drawing/2014/main" id="{D8590167-9477-75AA-DC0D-7D42EA09BEFE}"/>
              </a:ext>
            </a:extLst>
          </p:cNvPr>
          <p:cNvGraphicFramePr>
            <a:graphicFrameLocks noGrp="1"/>
          </p:cNvGraphicFramePr>
          <p:nvPr>
            <p:extLst>
              <p:ext uri="{D42A27DB-BD31-4B8C-83A1-F6EECF244321}">
                <p14:modId xmlns:p14="http://schemas.microsoft.com/office/powerpoint/2010/main" val="1748632096"/>
              </p:ext>
            </p:extLst>
          </p:nvPr>
        </p:nvGraphicFramePr>
        <p:xfrm>
          <a:off x="3862252" y="2196064"/>
          <a:ext cx="4467496" cy="2286818"/>
        </p:xfrm>
        <a:graphic>
          <a:graphicData uri="http://schemas.openxmlformats.org/drawingml/2006/table">
            <a:tbl>
              <a:tblPr firstRow="1" bandRow="1">
                <a:tableStyleId>{5C22544A-7EE6-4342-B048-85BDC9FD1C3A}</a:tableStyleId>
              </a:tblPr>
              <a:tblGrid>
                <a:gridCol w="2233748">
                  <a:extLst>
                    <a:ext uri="{9D8B030D-6E8A-4147-A177-3AD203B41FA5}">
                      <a16:colId xmlns:a16="http://schemas.microsoft.com/office/drawing/2014/main" val="3853860129"/>
                    </a:ext>
                  </a:extLst>
                </a:gridCol>
                <a:gridCol w="2233748">
                  <a:extLst>
                    <a:ext uri="{9D8B030D-6E8A-4147-A177-3AD203B41FA5}">
                      <a16:colId xmlns:a16="http://schemas.microsoft.com/office/drawing/2014/main" val="2095238853"/>
                    </a:ext>
                  </a:extLst>
                </a:gridCol>
              </a:tblGrid>
              <a:tr h="398393">
                <a:tc>
                  <a:txBody>
                    <a:bodyPr/>
                    <a:lstStyle/>
                    <a:p>
                      <a:pPr algn="ctr"/>
                      <a:r>
                        <a:rPr lang="en-US" dirty="0"/>
                        <a:t>Parameter </a:t>
                      </a:r>
                      <a:endParaRPr lang="en-IN" dirty="0"/>
                    </a:p>
                  </a:txBody>
                  <a:tcPr/>
                </a:tc>
                <a:tc>
                  <a:txBody>
                    <a:bodyPr/>
                    <a:lstStyle/>
                    <a:p>
                      <a:pPr algn="ctr"/>
                      <a:r>
                        <a:rPr lang="en-US" dirty="0"/>
                        <a:t>MNIST Architecture </a:t>
                      </a:r>
                      <a:endParaRPr lang="en-IN" dirty="0"/>
                    </a:p>
                  </a:txBody>
                  <a:tcPr/>
                </a:tc>
                <a:extLst>
                  <a:ext uri="{0D108BD9-81ED-4DB2-BD59-A6C34878D82A}">
                    <a16:rowId xmlns:a16="http://schemas.microsoft.com/office/drawing/2014/main" val="3657264775"/>
                  </a:ext>
                </a:extLst>
              </a:tr>
              <a:tr h="450737">
                <a:tc>
                  <a:txBody>
                    <a:bodyPr/>
                    <a:lstStyle/>
                    <a:p>
                      <a:pPr algn="ctr"/>
                      <a:r>
                        <a:rPr lang="en-US" dirty="0"/>
                        <a:t>Epochs </a:t>
                      </a:r>
                      <a:endParaRPr lang="en-IN" dirty="0"/>
                    </a:p>
                  </a:txBody>
                  <a:tcPr/>
                </a:tc>
                <a:tc>
                  <a:txBody>
                    <a:bodyPr/>
                    <a:lstStyle/>
                    <a:p>
                      <a:pPr algn="ctr"/>
                      <a:r>
                        <a:rPr lang="en-US" dirty="0"/>
                        <a:t>10</a:t>
                      </a:r>
                      <a:endParaRPr lang="en-IN" dirty="0"/>
                    </a:p>
                  </a:txBody>
                  <a:tcPr/>
                </a:tc>
                <a:extLst>
                  <a:ext uri="{0D108BD9-81ED-4DB2-BD59-A6C34878D82A}">
                    <a16:rowId xmlns:a16="http://schemas.microsoft.com/office/drawing/2014/main" val="1194788988"/>
                  </a:ext>
                </a:extLst>
              </a:tr>
              <a:tr h="450737">
                <a:tc>
                  <a:txBody>
                    <a:bodyPr/>
                    <a:lstStyle/>
                    <a:p>
                      <a:pPr algn="ctr"/>
                      <a:r>
                        <a:rPr lang="en-US" dirty="0"/>
                        <a:t>Learning rate </a:t>
                      </a:r>
                      <a:endParaRPr lang="en-IN" dirty="0"/>
                    </a:p>
                  </a:txBody>
                  <a:tcPr/>
                </a:tc>
                <a:tc>
                  <a:txBody>
                    <a:bodyPr/>
                    <a:lstStyle/>
                    <a:p>
                      <a:pPr algn="ctr"/>
                      <a:r>
                        <a:rPr lang="en-US" dirty="0"/>
                        <a:t>0.0001</a:t>
                      </a:r>
                      <a:endParaRPr lang="en-IN" dirty="0"/>
                    </a:p>
                  </a:txBody>
                  <a:tcPr/>
                </a:tc>
                <a:extLst>
                  <a:ext uri="{0D108BD9-81ED-4DB2-BD59-A6C34878D82A}">
                    <a16:rowId xmlns:a16="http://schemas.microsoft.com/office/drawing/2014/main" val="4144047447"/>
                  </a:ext>
                </a:extLst>
              </a:tr>
              <a:tr h="450737">
                <a:tc>
                  <a:txBody>
                    <a:bodyPr/>
                    <a:lstStyle/>
                    <a:p>
                      <a:pPr algn="ctr"/>
                      <a:r>
                        <a:rPr lang="en-US" dirty="0"/>
                        <a:t>Loss function </a:t>
                      </a:r>
                      <a:endParaRPr lang="en-IN" dirty="0"/>
                    </a:p>
                  </a:txBody>
                  <a:tcPr/>
                </a:tc>
                <a:tc>
                  <a:txBody>
                    <a:bodyPr/>
                    <a:lstStyle/>
                    <a:p>
                      <a:pPr algn="ctr"/>
                      <a:r>
                        <a:rPr lang="en-US" dirty="0"/>
                        <a:t>Cross entropy </a:t>
                      </a:r>
                      <a:endParaRPr lang="en-IN" dirty="0"/>
                    </a:p>
                  </a:txBody>
                  <a:tcPr/>
                </a:tc>
                <a:extLst>
                  <a:ext uri="{0D108BD9-81ED-4DB2-BD59-A6C34878D82A}">
                    <a16:rowId xmlns:a16="http://schemas.microsoft.com/office/drawing/2014/main" val="4094241383"/>
                  </a:ext>
                </a:extLst>
              </a:tr>
              <a:tr h="536214">
                <a:tc>
                  <a:txBody>
                    <a:bodyPr/>
                    <a:lstStyle/>
                    <a:p>
                      <a:pPr algn="ctr"/>
                      <a:r>
                        <a:rPr lang="en-US" dirty="0"/>
                        <a:t>Device </a:t>
                      </a:r>
                      <a:endParaRPr lang="en-IN" dirty="0"/>
                    </a:p>
                  </a:txBody>
                  <a:tcPr/>
                </a:tc>
                <a:tc>
                  <a:txBody>
                    <a:bodyPr/>
                    <a:lstStyle/>
                    <a:p>
                      <a:pPr algn="ctr"/>
                      <a:r>
                        <a:rPr lang="en-US" dirty="0"/>
                        <a:t>CPU , Google </a:t>
                      </a:r>
                      <a:r>
                        <a:rPr lang="en-US" dirty="0" err="1"/>
                        <a:t>colab</a:t>
                      </a:r>
                      <a:endParaRPr lang="en-IN" dirty="0"/>
                    </a:p>
                  </a:txBody>
                  <a:tcPr/>
                </a:tc>
                <a:extLst>
                  <a:ext uri="{0D108BD9-81ED-4DB2-BD59-A6C34878D82A}">
                    <a16:rowId xmlns:a16="http://schemas.microsoft.com/office/drawing/2014/main" val="1707784266"/>
                  </a:ext>
                </a:extLst>
              </a:tr>
            </a:tbl>
          </a:graphicData>
        </a:graphic>
      </p:graphicFrame>
      <p:sp>
        <p:nvSpPr>
          <p:cNvPr id="13" name="TextBox 12">
            <a:extLst>
              <a:ext uri="{FF2B5EF4-FFF2-40B4-BE49-F238E27FC236}">
                <a16:creationId xmlns:a16="http://schemas.microsoft.com/office/drawing/2014/main" id="{0C7E2509-B5C9-62B3-7498-9905A033F42F}"/>
              </a:ext>
            </a:extLst>
          </p:cNvPr>
          <p:cNvSpPr txBox="1"/>
          <p:nvPr/>
        </p:nvSpPr>
        <p:spPr>
          <a:xfrm>
            <a:off x="4670257" y="5070378"/>
            <a:ext cx="2851485" cy="369332"/>
          </a:xfrm>
          <a:prstGeom prst="rect">
            <a:avLst/>
          </a:prstGeom>
          <a:noFill/>
        </p:spPr>
        <p:txBody>
          <a:bodyPr wrap="square" rtlCol="0">
            <a:spAutoFit/>
          </a:bodyPr>
          <a:lstStyle/>
          <a:p>
            <a:r>
              <a:rPr lang="en-US" dirty="0"/>
              <a:t>Some training parameters </a:t>
            </a:r>
            <a:endParaRPr lang="en-IN" dirty="0"/>
          </a:p>
        </p:txBody>
      </p:sp>
    </p:spTree>
    <p:extLst>
      <p:ext uri="{BB962C8B-B14F-4D97-AF65-F5344CB8AC3E}">
        <p14:creationId xmlns:p14="http://schemas.microsoft.com/office/powerpoint/2010/main" val="335683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50A14-DCD1-C729-6469-A35476ED39E3}"/>
              </a:ext>
            </a:extLst>
          </p:cNvPr>
          <p:cNvSpPr>
            <a:spLocks noGrp="1"/>
          </p:cNvSpPr>
          <p:nvPr>
            <p:ph type="title"/>
          </p:nvPr>
        </p:nvSpPr>
        <p:spPr>
          <a:xfrm>
            <a:off x="838200" y="365126"/>
            <a:ext cx="10515600" cy="955674"/>
          </a:xfrm>
        </p:spPr>
        <p:txBody>
          <a:bodyPr/>
          <a:lstStyle/>
          <a:p>
            <a:r>
              <a:rPr lang="en-US" dirty="0"/>
              <a:t>Distillation models: </a:t>
            </a:r>
            <a:endParaRPr lang="en-IN" dirty="0"/>
          </a:p>
        </p:txBody>
      </p:sp>
      <p:sp>
        <p:nvSpPr>
          <p:cNvPr id="3" name="Content Placeholder 2">
            <a:extLst>
              <a:ext uri="{FF2B5EF4-FFF2-40B4-BE49-F238E27FC236}">
                <a16:creationId xmlns:a16="http://schemas.microsoft.com/office/drawing/2014/main" id="{8F347D77-0B79-6194-AECD-1A64799C37FA}"/>
              </a:ext>
            </a:extLst>
          </p:cNvPr>
          <p:cNvSpPr>
            <a:spLocks noGrp="1"/>
          </p:cNvSpPr>
          <p:nvPr>
            <p:ph idx="1"/>
          </p:nvPr>
        </p:nvSpPr>
        <p:spPr>
          <a:xfrm>
            <a:off x="959934" y="1785820"/>
            <a:ext cx="10272132" cy="1960989"/>
          </a:xfrm>
        </p:spPr>
        <p:txBody>
          <a:bodyPr/>
          <a:lstStyle/>
          <a:p>
            <a:pPr marL="0" indent="0">
              <a:buNone/>
            </a:pPr>
            <a:r>
              <a:rPr lang="en-US" sz="2400" b="1" dirty="0">
                <a:sym typeface="Wingdings" panose="05000000000000000000" pitchFamily="2" charset="2"/>
              </a:rPr>
              <a:t>Intuition :</a:t>
            </a:r>
            <a:r>
              <a:rPr lang="en-US" sz="2400" dirty="0">
                <a:sym typeface="Wingdings" panose="05000000000000000000" pitchFamily="2" charset="2"/>
              </a:rPr>
              <a:t> T</a:t>
            </a:r>
            <a:r>
              <a:rPr lang="en-US" sz="2400" dirty="0"/>
              <a:t>ransferring knowledge from larger architectures ( Teacher ) to smaller ones ( Student ). </a:t>
            </a:r>
          </a:p>
          <a:p>
            <a:pPr lvl="1"/>
            <a:r>
              <a:rPr lang="en-US" dirty="0"/>
              <a:t>reduce size of DNN architectures ( model compression ) for resource constrained devices (e.g. smartphones)</a:t>
            </a:r>
          </a:p>
          <a:p>
            <a:pPr lvl="1"/>
            <a:r>
              <a:rPr lang="en-US" dirty="0"/>
              <a:t>Robustness</a:t>
            </a:r>
          </a:p>
          <a:p>
            <a:endParaRPr lang="en-US" sz="2400" dirty="0"/>
          </a:p>
        </p:txBody>
      </p:sp>
    </p:spTree>
    <p:extLst>
      <p:ext uri="{BB962C8B-B14F-4D97-AF65-F5344CB8AC3E}">
        <p14:creationId xmlns:p14="http://schemas.microsoft.com/office/powerpoint/2010/main" val="2233936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complex function&#10;&#10;AI-generated content may be incorrect.">
            <a:extLst>
              <a:ext uri="{FF2B5EF4-FFF2-40B4-BE49-F238E27FC236}">
                <a16:creationId xmlns:a16="http://schemas.microsoft.com/office/drawing/2014/main" id="{808FDE65-69E1-5566-3F01-30DB9FDD8065}"/>
              </a:ext>
            </a:extLst>
          </p:cNvPr>
          <p:cNvPicPr>
            <a:picLocks noChangeAspect="1"/>
          </p:cNvPicPr>
          <p:nvPr/>
        </p:nvPicPr>
        <p:blipFill>
          <a:blip r:embed="rId3"/>
          <a:srcRect l="2872" r="-3508"/>
          <a:stretch>
            <a:fillRect/>
          </a:stretch>
        </p:blipFill>
        <p:spPr>
          <a:xfrm>
            <a:off x="2528859" y="2277903"/>
            <a:ext cx="9484895" cy="4279596"/>
          </a:xfrm>
          <a:prstGeom prst="rect">
            <a:avLst/>
          </a:prstGeom>
        </p:spPr>
      </p:pic>
      <p:pic>
        <p:nvPicPr>
          <p:cNvPr id="8" name="Picture 7">
            <a:extLst>
              <a:ext uri="{FF2B5EF4-FFF2-40B4-BE49-F238E27FC236}">
                <a16:creationId xmlns:a16="http://schemas.microsoft.com/office/drawing/2014/main" id="{0D95E404-2165-5C4F-F172-F1EE59763965}"/>
              </a:ext>
            </a:extLst>
          </p:cNvPr>
          <p:cNvPicPr>
            <a:picLocks noChangeAspect="1"/>
          </p:cNvPicPr>
          <p:nvPr/>
        </p:nvPicPr>
        <p:blipFill>
          <a:blip r:embed="rId4"/>
          <a:stretch>
            <a:fillRect/>
          </a:stretch>
        </p:blipFill>
        <p:spPr>
          <a:xfrm>
            <a:off x="2131277" y="3769643"/>
            <a:ext cx="932769" cy="999831"/>
          </a:xfrm>
          <a:prstGeom prst="rect">
            <a:avLst/>
          </a:prstGeom>
        </p:spPr>
      </p:pic>
      <p:sp>
        <p:nvSpPr>
          <p:cNvPr id="6" name="Title 1">
            <a:extLst>
              <a:ext uri="{FF2B5EF4-FFF2-40B4-BE49-F238E27FC236}">
                <a16:creationId xmlns:a16="http://schemas.microsoft.com/office/drawing/2014/main" id="{E20E13C3-09DB-6933-8D21-435035CA6516}"/>
              </a:ext>
            </a:extLst>
          </p:cNvPr>
          <p:cNvSpPr>
            <a:spLocks noGrp="1"/>
          </p:cNvSpPr>
          <p:nvPr>
            <p:ph type="title"/>
          </p:nvPr>
        </p:nvSpPr>
        <p:spPr>
          <a:xfrm>
            <a:off x="623047" y="-88459"/>
            <a:ext cx="10515600" cy="1325563"/>
          </a:xfrm>
        </p:spPr>
        <p:txBody>
          <a:bodyPr/>
          <a:lstStyle/>
          <a:p>
            <a:r>
              <a:rPr lang="en-US" dirty="0"/>
              <a:t>Defense Distillation: DNN Architecture  </a:t>
            </a:r>
            <a:endParaRPr lang="en-IN" dirty="0"/>
          </a:p>
        </p:txBody>
      </p:sp>
      <p:pic>
        <p:nvPicPr>
          <p:cNvPr id="7" name="Picture 6">
            <a:extLst>
              <a:ext uri="{FF2B5EF4-FFF2-40B4-BE49-F238E27FC236}">
                <a16:creationId xmlns:a16="http://schemas.microsoft.com/office/drawing/2014/main" id="{4ACEF983-B2D8-EB64-F1AF-F66A58E98543}"/>
              </a:ext>
            </a:extLst>
          </p:cNvPr>
          <p:cNvPicPr>
            <a:picLocks noChangeAspect="1"/>
          </p:cNvPicPr>
          <p:nvPr/>
        </p:nvPicPr>
        <p:blipFill>
          <a:blip r:embed="rId5"/>
          <a:stretch>
            <a:fillRect/>
          </a:stretch>
        </p:blipFill>
        <p:spPr>
          <a:xfrm>
            <a:off x="657347" y="3679124"/>
            <a:ext cx="1079086" cy="1079086"/>
          </a:xfrm>
          <a:prstGeom prst="rect">
            <a:avLst/>
          </a:prstGeom>
        </p:spPr>
      </p:pic>
      <p:sp>
        <p:nvSpPr>
          <p:cNvPr id="9" name="TextBox 8">
            <a:extLst>
              <a:ext uri="{FF2B5EF4-FFF2-40B4-BE49-F238E27FC236}">
                <a16:creationId xmlns:a16="http://schemas.microsoft.com/office/drawing/2014/main" id="{76FACDDC-98A6-9998-DB16-5EBFEB2ED12A}"/>
              </a:ext>
            </a:extLst>
          </p:cNvPr>
          <p:cNvSpPr txBox="1"/>
          <p:nvPr/>
        </p:nvSpPr>
        <p:spPr>
          <a:xfrm>
            <a:off x="459872" y="3277861"/>
            <a:ext cx="1765963" cy="369332"/>
          </a:xfrm>
          <a:prstGeom prst="rect">
            <a:avLst/>
          </a:prstGeom>
          <a:noFill/>
        </p:spPr>
        <p:txBody>
          <a:bodyPr wrap="square" rtlCol="0">
            <a:spAutoFit/>
          </a:bodyPr>
          <a:lstStyle/>
          <a:p>
            <a:r>
              <a:rPr lang="en-US" dirty="0"/>
              <a:t>Train set image </a:t>
            </a:r>
            <a:endParaRPr lang="en-IN" dirty="0"/>
          </a:p>
        </p:txBody>
      </p:sp>
      <p:pic>
        <p:nvPicPr>
          <p:cNvPr id="31" name="Picture 30">
            <a:extLst>
              <a:ext uri="{FF2B5EF4-FFF2-40B4-BE49-F238E27FC236}">
                <a16:creationId xmlns:a16="http://schemas.microsoft.com/office/drawing/2014/main" id="{FEF42EF9-DA04-5579-4773-01B8409CB9A1}"/>
              </a:ext>
            </a:extLst>
          </p:cNvPr>
          <p:cNvPicPr>
            <a:picLocks noChangeAspect="1"/>
          </p:cNvPicPr>
          <p:nvPr/>
        </p:nvPicPr>
        <p:blipFill>
          <a:blip r:embed="rId6"/>
          <a:stretch>
            <a:fillRect/>
          </a:stretch>
        </p:blipFill>
        <p:spPr>
          <a:xfrm>
            <a:off x="1915347" y="3869013"/>
            <a:ext cx="938865" cy="548688"/>
          </a:xfrm>
          <a:prstGeom prst="rect">
            <a:avLst/>
          </a:prstGeom>
        </p:spPr>
      </p:pic>
      <p:sp>
        <p:nvSpPr>
          <p:cNvPr id="32" name="TextBox 31">
            <a:extLst>
              <a:ext uri="{FF2B5EF4-FFF2-40B4-BE49-F238E27FC236}">
                <a16:creationId xmlns:a16="http://schemas.microsoft.com/office/drawing/2014/main" id="{AEBE9806-D9AF-CC6B-2342-0F892E19C24B}"/>
              </a:ext>
            </a:extLst>
          </p:cNvPr>
          <p:cNvSpPr txBox="1"/>
          <p:nvPr/>
        </p:nvSpPr>
        <p:spPr>
          <a:xfrm>
            <a:off x="8017933" y="5334000"/>
            <a:ext cx="2760134" cy="923330"/>
          </a:xfrm>
          <a:prstGeom prst="rect">
            <a:avLst/>
          </a:prstGeom>
          <a:noFill/>
          <a:ln>
            <a:solidFill>
              <a:srgbClr val="FF0000"/>
            </a:solidFill>
          </a:ln>
        </p:spPr>
        <p:txBody>
          <a:bodyPr wrap="square" rtlCol="0">
            <a:spAutoFit/>
          </a:bodyPr>
          <a:lstStyle/>
          <a:p>
            <a:r>
              <a:rPr lang="en-US" dirty="0"/>
              <a:t>This output is used as input for training student network F1</a:t>
            </a:r>
            <a:endParaRPr lang="en-IN" dirty="0"/>
          </a:p>
        </p:txBody>
      </p:sp>
      <p:sp>
        <p:nvSpPr>
          <p:cNvPr id="43" name="Arc 42">
            <a:extLst>
              <a:ext uri="{FF2B5EF4-FFF2-40B4-BE49-F238E27FC236}">
                <a16:creationId xmlns:a16="http://schemas.microsoft.com/office/drawing/2014/main" id="{D63E80F2-A9E8-1384-686E-6949038365CA}"/>
              </a:ext>
            </a:extLst>
          </p:cNvPr>
          <p:cNvSpPr/>
          <p:nvPr/>
        </p:nvSpPr>
        <p:spPr>
          <a:xfrm>
            <a:off x="7416800" y="3446478"/>
            <a:ext cx="932769" cy="646331"/>
          </a:xfrm>
          <a:prstGeom prst="arc">
            <a:avLst>
              <a:gd name="adj1" fmla="val 12786476"/>
              <a:gd name="adj2" fmla="val 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45" name="Flowchart: Merge 44">
            <a:extLst>
              <a:ext uri="{FF2B5EF4-FFF2-40B4-BE49-F238E27FC236}">
                <a16:creationId xmlns:a16="http://schemas.microsoft.com/office/drawing/2014/main" id="{BA7D57C2-B60F-6E84-D603-004B3EF42A11}"/>
              </a:ext>
            </a:extLst>
          </p:cNvPr>
          <p:cNvSpPr/>
          <p:nvPr/>
        </p:nvSpPr>
        <p:spPr>
          <a:xfrm>
            <a:off x="8229600" y="3699933"/>
            <a:ext cx="211667" cy="69710"/>
          </a:xfrm>
          <a:prstGeom prst="flowChartMerg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TextBox 49">
            <a:extLst>
              <a:ext uri="{FF2B5EF4-FFF2-40B4-BE49-F238E27FC236}">
                <a16:creationId xmlns:a16="http://schemas.microsoft.com/office/drawing/2014/main" id="{1BCD7756-5746-8117-96A2-F107B498B564}"/>
              </a:ext>
            </a:extLst>
          </p:cNvPr>
          <p:cNvSpPr txBox="1"/>
          <p:nvPr/>
        </p:nvSpPr>
        <p:spPr>
          <a:xfrm>
            <a:off x="4059328" y="2269565"/>
            <a:ext cx="1393902" cy="369332"/>
          </a:xfrm>
          <a:prstGeom prst="rect">
            <a:avLst/>
          </a:prstGeom>
          <a:noFill/>
          <a:ln>
            <a:solidFill>
              <a:schemeClr val="tx1"/>
            </a:solidFill>
          </a:ln>
        </p:spPr>
        <p:txBody>
          <a:bodyPr wrap="square" rtlCol="0">
            <a:spAutoFit/>
          </a:bodyPr>
          <a:lstStyle/>
          <a:p>
            <a:r>
              <a:rPr lang="en-US" dirty="0"/>
              <a:t>Teacher - F </a:t>
            </a:r>
            <a:endParaRPr lang="en-IN" dirty="0"/>
          </a:p>
        </p:txBody>
      </p:sp>
      <p:sp>
        <p:nvSpPr>
          <p:cNvPr id="2" name="TextBox 1">
            <a:extLst>
              <a:ext uri="{FF2B5EF4-FFF2-40B4-BE49-F238E27FC236}">
                <a16:creationId xmlns:a16="http://schemas.microsoft.com/office/drawing/2014/main" id="{BAD8BE36-700F-07D8-E645-6973C2D4AC79}"/>
              </a:ext>
            </a:extLst>
          </p:cNvPr>
          <p:cNvSpPr txBox="1"/>
          <p:nvPr/>
        </p:nvSpPr>
        <p:spPr>
          <a:xfrm>
            <a:off x="749185" y="1069236"/>
            <a:ext cx="10839270" cy="1015663"/>
          </a:xfrm>
          <a:prstGeom prst="rect">
            <a:avLst/>
          </a:prstGeom>
          <a:noFill/>
        </p:spPr>
        <p:txBody>
          <a:bodyPr wrap="square" rtlCol="0">
            <a:spAutoFit/>
          </a:bodyPr>
          <a:lstStyle/>
          <a:p>
            <a:r>
              <a:rPr lang="en-US" sz="2000" b="1" dirty="0"/>
              <a:t>Main Idea</a:t>
            </a:r>
            <a:r>
              <a:rPr lang="en-US" sz="2000" dirty="0"/>
              <a:t> : Instead of transferring knowledge between different architectures, use the knowledge extracted from a DNN to improve its </a:t>
            </a:r>
            <a:r>
              <a:rPr lang="en-US" sz="2000" b="1" dirty="0"/>
              <a:t>own</a:t>
            </a:r>
            <a:r>
              <a:rPr lang="en-US" sz="2000" dirty="0"/>
              <a:t> resilience to adversarial samples.</a:t>
            </a:r>
          </a:p>
          <a:p>
            <a:pPr lvl="1"/>
            <a:r>
              <a:rPr lang="en-US" sz="2000" dirty="0"/>
              <a:t>                                 Teacher F – Student F1–   CNN architecture </a:t>
            </a:r>
            <a:endParaRPr lang="en-IN" sz="2000" dirty="0"/>
          </a:p>
        </p:txBody>
      </p:sp>
      <p:sp>
        <p:nvSpPr>
          <p:cNvPr id="3" name="TextBox 2">
            <a:extLst>
              <a:ext uri="{FF2B5EF4-FFF2-40B4-BE49-F238E27FC236}">
                <a16:creationId xmlns:a16="http://schemas.microsoft.com/office/drawing/2014/main" id="{F3498134-B622-221C-9193-2B918076AFE2}"/>
              </a:ext>
            </a:extLst>
          </p:cNvPr>
          <p:cNvSpPr txBox="1"/>
          <p:nvPr/>
        </p:nvSpPr>
        <p:spPr>
          <a:xfrm>
            <a:off x="8783053" y="2875547"/>
            <a:ext cx="1010652" cy="367047"/>
          </a:xfrm>
          <a:prstGeom prst="rect">
            <a:avLst/>
          </a:prstGeom>
          <a:noFill/>
          <a:ln>
            <a:solidFill>
              <a:schemeClr val="tx1"/>
            </a:solidFill>
          </a:ln>
        </p:spPr>
        <p:txBody>
          <a:bodyPr wrap="square" rtlCol="0">
            <a:spAutoFit/>
          </a:bodyPr>
          <a:lstStyle/>
          <a:p>
            <a:r>
              <a:rPr lang="en-US" dirty="0"/>
              <a:t>T= 100</a:t>
            </a:r>
            <a:endParaRPr lang="en-IN" dirty="0"/>
          </a:p>
        </p:txBody>
      </p:sp>
      <p:sp>
        <p:nvSpPr>
          <p:cNvPr id="4" name="TextBox 3">
            <a:extLst>
              <a:ext uri="{FF2B5EF4-FFF2-40B4-BE49-F238E27FC236}">
                <a16:creationId xmlns:a16="http://schemas.microsoft.com/office/drawing/2014/main" id="{3477C98B-6E61-0019-86D4-32553BBC30A6}"/>
              </a:ext>
            </a:extLst>
          </p:cNvPr>
          <p:cNvSpPr txBox="1"/>
          <p:nvPr/>
        </p:nvSpPr>
        <p:spPr>
          <a:xfrm>
            <a:off x="717357" y="4897447"/>
            <a:ext cx="914791" cy="369332"/>
          </a:xfrm>
          <a:prstGeom prst="rect">
            <a:avLst/>
          </a:prstGeom>
          <a:noFill/>
        </p:spPr>
        <p:txBody>
          <a:bodyPr wrap="square" rtlCol="0">
            <a:spAutoFit/>
          </a:bodyPr>
          <a:lstStyle/>
          <a:p>
            <a:r>
              <a:rPr lang="en-US" dirty="0"/>
              <a:t>Input</a:t>
            </a:r>
            <a:endParaRPr lang="en-IN" dirty="0"/>
          </a:p>
        </p:txBody>
      </p:sp>
    </p:spTree>
    <p:extLst>
      <p:ext uri="{BB962C8B-B14F-4D97-AF65-F5344CB8AC3E}">
        <p14:creationId xmlns:p14="http://schemas.microsoft.com/office/powerpoint/2010/main" val="2908118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F89EC-8D9F-E84E-FCD5-6A116389C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1DE3F2-B8C5-DFA8-5F97-EC15C32061E4}"/>
              </a:ext>
            </a:extLst>
          </p:cNvPr>
          <p:cNvSpPr>
            <a:spLocks noGrp="1"/>
          </p:cNvSpPr>
          <p:nvPr>
            <p:ph type="title"/>
          </p:nvPr>
        </p:nvSpPr>
        <p:spPr>
          <a:xfrm>
            <a:off x="838200" y="365126"/>
            <a:ext cx="10515600" cy="955674"/>
          </a:xfrm>
        </p:spPr>
        <p:txBody>
          <a:bodyPr/>
          <a:lstStyle/>
          <a:p>
            <a:r>
              <a:rPr lang="en-US" dirty="0"/>
              <a:t>Distillation as Defense: CNN architecture </a:t>
            </a:r>
            <a:endParaRPr lang="en-IN" dirty="0"/>
          </a:p>
        </p:txBody>
      </p:sp>
      <p:sp>
        <p:nvSpPr>
          <p:cNvPr id="3" name="Content Placeholder 2">
            <a:extLst>
              <a:ext uri="{FF2B5EF4-FFF2-40B4-BE49-F238E27FC236}">
                <a16:creationId xmlns:a16="http://schemas.microsoft.com/office/drawing/2014/main" id="{DBF787BA-9444-A52E-EB3F-38627060F2F8}"/>
              </a:ext>
            </a:extLst>
          </p:cNvPr>
          <p:cNvSpPr>
            <a:spLocks noGrp="1"/>
          </p:cNvSpPr>
          <p:nvPr>
            <p:ph idx="1"/>
          </p:nvPr>
        </p:nvSpPr>
        <p:spPr>
          <a:xfrm>
            <a:off x="838200" y="1320799"/>
            <a:ext cx="10515600" cy="4856163"/>
          </a:xfrm>
        </p:spPr>
        <p:txBody>
          <a:bodyPr/>
          <a:lstStyle/>
          <a:p>
            <a:pPr marL="0" indent="0">
              <a:buNone/>
            </a:pPr>
            <a:r>
              <a:rPr lang="en-US" sz="2400" dirty="0"/>
              <a:t>Soft targets :</a:t>
            </a:r>
          </a:p>
          <a:p>
            <a:pPr lvl="1"/>
            <a:r>
              <a:rPr lang="en-US" dirty="0"/>
              <a:t>Teacher's output probabilities </a:t>
            </a:r>
            <a:r>
              <a:rPr lang="en-IN" dirty="0"/>
              <a:t>[0.85, 0.05, 0.04, 0.03, 0.01]</a:t>
            </a:r>
            <a:r>
              <a:rPr lang="en-US" dirty="0"/>
              <a:t> </a:t>
            </a:r>
            <a:r>
              <a:rPr lang="en-US" dirty="0">
                <a:sym typeface="Wingdings" panose="05000000000000000000" pitchFamily="2" charset="2"/>
              </a:rPr>
              <a:t></a:t>
            </a:r>
            <a:r>
              <a:rPr lang="en-US" dirty="0"/>
              <a:t> richer info than just the correct class.</a:t>
            </a:r>
          </a:p>
          <a:p>
            <a:pPr marL="0" indent="0">
              <a:buNone/>
            </a:pPr>
            <a:endParaRPr lang="en-IN" dirty="0"/>
          </a:p>
        </p:txBody>
      </p:sp>
      <p:pic>
        <p:nvPicPr>
          <p:cNvPr id="5" name="Picture 4">
            <a:extLst>
              <a:ext uri="{FF2B5EF4-FFF2-40B4-BE49-F238E27FC236}">
                <a16:creationId xmlns:a16="http://schemas.microsoft.com/office/drawing/2014/main" id="{7FD2691C-9847-B968-1A22-C0F6AA930169}"/>
              </a:ext>
            </a:extLst>
          </p:cNvPr>
          <p:cNvPicPr>
            <a:picLocks noChangeAspect="1"/>
          </p:cNvPicPr>
          <p:nvPr/>
        </p:nvPicPr>
        <p:blipFill>
          <a:blip r:embed="rId3"/>
          <a:stretch>
            <a:fillRect/>
          </a:stretch>
        </p:blipFill>
        <p:spPr>
          <a:xfrm>
            <a:off x="1422685" y="2930811"/>
            <a:ext cx="8961619" cy="3562063"/>
          </a:xfrm>
          <a:prstGeom prst="rect">
            <a:avLst/>
          </a:prstGeom>
        </p:spPr>
      </p:pic>
      <p:sp>
        <p:nvSpPr>
          <p:cNvPr id="6" name="TextBox 5">
            <a:extLst>
              <a:ext uri="{FF2B5EF4-FFF2-40B4-BE49-F238E27FC236}">
                <a16:creationId xmlns:a16="http://schemas.microsoft.com/office/drawing/2014/main" id="{98416B5E-BE48-BEC8-3B98-7F2DE96C540B}"/>
              </a:ext>
            </a:extLst>
          </p:cNvPr>
          <p:cNvSpPr txBox="1"/>
          <p:nvPr/>
        </p:nvSpPr>
        <p:spPr>
          <a:xfrm>
            <a:off x="3011244" y="2739788"/>
            <a:ext cx="1393902" cy="369332"/>
          </a:xfrm>
          <a:prstGeom prst="rect">
            <a:avLst/>
          </a:prstGeom>
          <a:noFill/>
          <a:ln>
            <a:solidFill>
              <a:schemeClr val="tx1"/>
            </a:solidFill>
          </a:ln>
        </p:spPr>
        <p:txBody>
          <a:bodyPr wrap="square" rtlCol="0">
            <a:spAutoFit/>
          </a:bodyPr>
          <a:lstStyle/>
          <a:p>
            <a:r>
              <a:rPr lang="en-US" dirty="0"/>
              <a:t>Teacher - F </a:t>
            </a:r>
            <a:endParaRPr lang="en-IN" dirty="0"/>
          </a:p>
        </p:txBody>
      </p:sp>
      <p:sp>
        <p:nvSpPr>
          <p:cNvPr id="7" name="TextBox 6">
            <a:extLst>
              <a:ext uri="{FF2B5EF4-FFF2-40B4-BE49-F238E27FC236}">
                <a16:creationId xmlns:a16="http://schemas.microsoft.com/office/drawing/2014/main" id="{08CCCF22-BB0E-D0E3-87BF-BB1FDDDAEB7F}"/>
              </a:ext>
            </a:extLst>
          </p:cNvPr>
          <p:cNvSpPr txBox="1"/>
          <p:nvPr/>
        </p:nvSpPr>
        <p:spPr>
          <a:xfrm>
            <a:off x="7786856" y="2746145"/>
            <a:ext cx="1641085" cy="369332"/>
          </a:xfrm>
          <a:prstGeom prst="rect">
            <a:avLst/>
          </a:prstGeom>
          <a:noFill/>
          <a:ln>
            <a:solidFill>
              <a:schemeClr val="tx1"/>
            </a:solidFill>
          </a:ln>
        </p:spPr>
        <p:txBody>
          <a:bodyPr wrap="square" rtlCol="0">
            <a:spAutoFit/>
          </a:bodyPr>
          <a:lstStyle/>
          <a:p>
            <a:r>
              <a:rPr lang="en-US" dirty="0"/>
              <a:t>Student – F1 </a:t>
            </a:r>
            <a:endParaRPr lang="en-IN" dirty="0"/>
          </a:p>
        </p:txBody>
      </p:sp>
    </p:spTree>
    <p:extLst>
      <p:ext uri="{BB962C8B-B14F-4D97-AF65-F5344CB8AC3E}">
        <p14:creationId xmlns:p14="http://schemas.microsoft.com/office/powerpoint/2010/main" val="3398002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0BF8E-6B32-692A-C827-C55E0E573741}"/>
              </a:ext>
            </a:extLst>
          </p:cNvPr>
          <p:cNvSpPr>
            <a:spLocks noGrp="1"/>
          </p:cNvSpPr>
          <p:nvPr>
            <p:ph type="title"/>
          </p:nvPr>
        </p:nvSpPr>
        <p:spPr/>
        <p:txBody>
          <a:bodyPr/>
          <a:lstStyle/>
          <a:p>
            <a:r>
              <a:rPr lang="en-US" dirty="0"/>
              <a:t>Terms:</a:t>
            </a:r>
            <a:endParaRPr lang="en-IN" dirty="0"/>
          </a:p>
        </p:txBody>
      </p:sp>
      <p:sp>
        <p:nvSpPr>
          <p:cNvPr id="3" name="Content Placeholder 2">
            <a:extLst>
              <a:ext uri="{FF2B5EF4-FFF2-40B4-BE49-F238E27FC236}">
                <a16:creationId xmlns:a16="http://schemas.microsoft.com/office/drawing/2014/main" id="{F1AA3350-C844-F0A9-DFF1-7622E85B03F5}"/>
              </a:ext>
            </a:extLst>
          </p:cNvPr>
          <p:cNvSpPr>
            <a:spLocks noGrp="1"/>
          </p:cNvSpPr>
          <p:nvPr>
            <p:ph idx="1"/>
          </p:nvPr>
        </p:nvSpPr>
        <p:spPr>
          <a:xfrm>
            <a:off x="1110343" y="1690688"/>
            <a:ext cx="10243457" cy="4351338"/>
          </a:xfrm>
        </p:spPr>
        <p:txBody>
          <a:bodyPr>
            <a:normAutofit fontScale="92500"/>
          </a:bodyPr>
          <a:lstStyle/>
          <a:p>
            <a:pPr marL="0" indent="0">
              <a:buNone/>
            </a:pPr>
            <a:r>
              <a:rPr lang="en-US" dirty="0" err="1"/>
              <a:t>Softmax</a:t>
            </a:r>
            <a:r>
              <a:rPr lang="en-US" dirty="0"/>
              <a:t> :</a:t>
            </a:r>
          </a:p>
          <a:p>
            <a:pPr lvl="1"/>
            <a:r>
              <a:rPr lang="en-US" dirty="0"/>
              <a:t>raw logits </a:t>
            </a:r>
            <a:r>
              <a:rPr lang="en-US" dirty="0">
                <a:sym typeface="Wingdings" panose="05000000000000000000" pitchFamily="2" charset="2"/>
              </a:rPr>
              <a:t></a:t>
            </a:r>
            <a:r>
              <a:rPr lang="en-US" dirty="0"/>
              <a:t> probability distribution [0.95, 0.02, 0.01, 0.01, 0.01] </a:t>
            </a:r>
            <a:r>
              <a:rPr lang="en-US" dirty="0">
                <a:sym typeface="Wingdings" panose="05000000000000000000" pitchFamily="2" charset="2"/>
              </a:rPr>
              <a:t></a:t>
            </a:r>
            <a:r>
              <a:rPr lang="en-US" dirty="0"/>
              <a:t> Not informative beyond the top prediction.</a:t>
            </a:r>
          </a:p>
          <a:p>
            <a:pPr marL="0" indent="0">
              <a:buNone/>
            </a:pPr>
            <a:endParaRPr lang="en-US" dirty="0"/>
          </a:p>
          <a:p>
            <a:endParaRPr lang="en-US" dirty="0"/>
          </a:p>
          <a:p>
            <a:pPr marL="0" indent="0">
              <a:buNone/>
            </a:pPr>
            <a:r>
              <a:rPr lang="en-US" dirty="0"/>
              <a:t>Temperature ( T ) :</a:t>
            </a:r>
          </a:p>
          <a:p>
            <a:pPr lvl="1"/>
            <a:r>
              <a:rPr lang="en-US" dirty="0"/>
              <a:t>Softens the probability output from </a:t>
            </a:r>
            <a:r>
              <a:rPr lang="en-US" dirty="0" err="1"/>
              <a:t>softmax</a:t>
            </a:r>
            <a:r>
              <a:rPr lang="en-US" dirty="0"/>
              <a:t> </a:t>
            </a:r>
            <a:r>
              <a:rPr lang="en-IN" dirty="0"/>
              <a:t>[0.85, 0.05, 0.04, 0.03, 0.01]</a:t>
            </a:r>
            <a:endParaRPr lang="en-US" dirty="0"/>
          </a:p>
          <a:p>
            <a:pPr lvl="1"/>
            <a:endParaRPr lang="en-US" dirty="0"/>
          </a:p>
          <a:p>
            <a:pPr lvl="1"/>
            <a:endParaRPr lang="en-US" dirty="0"/>
          </a:p>
          <a:p>
            <a:pPr lvl="1"/>
            <a:endParaRPr lang="en-US" dirty="0"/>
          </a:p>
          <a:p>
            <a:pPr lvl="2"/>
            <a:r>
              <a:rPr lang="en-US" dirty="0"/>
              <a:t>Higher T → softer, more informative distribution</a:t>
            </a:r>
          </a:p>
          <a:p>
            <a:pPr marL="0" indent="0">
              <a:buNone/>
            </a:pPr>
            <a:endParaRPr lang="en-IN" dirty="0"/>
          </a:p>
        </p:txBody>
      </p:sp>
      <p:pic>
        <p:nvPicPr>
          <p:cNvPr id="4" name="Picture 3">
            <a:extLst>
              <a:ext uri="{FF2B5EF4-FFF2-40B4-BE49-F238E27FC236}">
                <a16:creationId xmlns:a16="http://schemas.microsoft.com/office/drawing/2014/main" id="{9932898F-67F2-D088-E1BE-C083D6A640BB}"/>
              </a:ext>
            </a:extLst>
          </p:cNvPr>
          <p:cNvPicPr>
            <a:picLocks noChangeAspect="1"/>
          </p:cNvPicPr>
          <p:nvPr/>
        </p:nvPicPr>
        <p:blipFill>
          <a:blip r:embed="rId3"/>
          <a:stretch>
            <a:fillRect/>
          </a:stretch>
        </p:blipFill>
        <p:spPr>
          <a:xfrm>
            <a:off x="4924697" y="3064600"/>
            <a:ext cx="1970507" cy="927911"/>
          </a:xfrm>
          <a:prstGeom prst="rect">
            <a:avLst/>
          </a:prstGeom>
        </p:spPr>
      </p:pic>
      <p:pic>
        <p:nvPicPr>
          <p:cNvPr id="6" name="Picture 5">
            <a:extLst>
              <a:ext uri="{FF2B5EF4-FFF2-40B4-BE49-F238E27FC236}">
                <a16:creationId xmlns:a16="http://schemas.microsoft.com/office/drawing/2014/main" id="{DDECDADF-5AAD-A6E5-DE97-7F4D69006BC8}"/>
              </a:ext>
            </a:extLst>
          </p:cNvPr>
          <p:cNvPicPr>
            <a:picLocks noChangeAspect="1"/>
          </p:cNvPicPr>
          <p:nvPr/>
        </p:nvPicPr>
        <p:blipFill>
          <a:blip r:embed="rId4"/>
          <a:stretch>
            <a:fillRect/>
          </a:stretch>
        </p:blipFill>
        <p:spPr>
          <a:xfrm>
            <a:off x="5106071" y="4586151"/>
            <a:ext cx="2251999" cy="1162322"/>
          </a:xfrm>
          <a:prstGeom prst="rect">
            <a:avLst/>
          </a:prstGeom>
        </p:spPr>
      </p:pic>
      <p:pic>
        <p:nvPicPr>
          <p:cNvPr id="7" name="Picture 6" descr="A black and white math equation&#10;&#10;AI-generated content may be incorrect.">
            <a:extLst>
              <a:ext uri="{FF2B5EF4-FFF2-40B4-BE49-F238E27FC236}">
                <a16:creationId xmlns:a16="http://schemas.microsoft.com/office/drawing/2014/main" id="{158F4BE3-97F8-0CC8-A62C-EB9639C49F17}"/>
              </a:ext>
            </a:extLst>
          </p:cNvPr>
          <p:cNvPicPr>
            <a:picLocks noChangeAspect="1"/>
          </p:cNvPicPr>
          <p:nvPr/>
        </p:nvPicPr>
        <p:blipFill>
          <a:blip r:embed="rId5"/>
          <a:stretch>
            <a:fillRect/>
          </a:stretch>
        </p:blipFill>
        <p:spPr>
          <a:xfrm>
            <a:off x="4558905" y="4809453"/>
            <a:ext cx="731583" cy="845893"/>
          </a:xfrm>
          <a:prstGeom prst="rect">
            <a:avLst/>
          </a:prstGeom>
        </p:spPr>
      </p:pic>
    </p:spTree>
    <p:extLst>
      <p:ext uri="{BB962C8B-B14F-4D97-AF65-F5344CB8AC3E}">
        <p14:creationId xmlns:p14="http://schemas.microsoft.com/office/powerpoint/2010/main" val="829019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ADB07-2C85-1D2E-ABCB-5AC25713B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B6A234-CBE6-6674-C98B-0E41033D3C24}"/>
              </a:ext>
            </a:extLst>
          </p:cNvPr>
          <p:cNvSpPr>
            <a:spLocks noGrp="1"/>
          </p:cNvSpPr>
          <p:nvPr>
            <p:ph type="title"/>
          </p:nvPr>
        </p:nvSpPr>
        <p:spPr/>
        <p:txBody>
          <a:bodyPr/>
          <a:lstStyle/>
          <a:p>
            <a:r>
              <a:rPr lang="en-US" dirty="0"/>
              <a:t>Why it works?</a:t>
            </a:r>
            <a:endParaRPr lang="en-IN" dirty="0"/>
          </a:p>
        </p:txBody>
      </p:sp>
      <p:pic>
        <p:nvPicPr>
          <p:cNvPr id="8" name="Picture 7" descr="A diagram of a diagram of a model&#10;&#10;AI-generated content may be incorrect.">
            <a:extLst>
              <a:ext uri="{FF2B5EF4-FFF2-40B4-BE49-F238E27FC236}">
                <a16:creationId xmlns:a16="http://schemas.microsoft.com/office/drawing/2014/main" id="{07CA8039-75A7-1D04-E70A-1273AECC33B0}"/>
              </a:ext>
            </a:extLst>
          </p:cNvPr>
          <p:cNvPicPr>
            <a:picLocks noChangeAspect="1"/>
          </p:cNvPicPr>
          <p:nvPr/>
        </p:nvPicPr>
        <p:blipFill>
          <a:blip r:embed="rId3"/>
          <a:stretch>
            <a:fillRect/>
          </a:stretch>
        </p:blipFill>
        <p:spPr>
          <a:xfrm>
            <a:off x="2227006" y="2123252"/>
            <a:ext cx="7468973" cy="3698073"/>
          </a:xfrm>
          <a:prstGeom prst="rect">
            <a:avLst/>
          </a:prstGeom>
        </p:spPr>
      </p:pic>
    </p:spTree>
    <p:extLst>
      <p:ext uri="{BB962C8B-B14F-4D97-AF65-F5344CB8AC3E}">
        <p14:creationId xmlns:p14="http://schemas.microsoft.com/office/powerpoint/2010/main" val="9877183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17E3A-0B3C-9C5E-A7B8-1782597994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635E7-9505-F4A5-C83E-D52322B95786}"/>
              </a:ext>
            </a:extLst>
          </p:cNvPr>
          <p:cNvSpPr>
            <a:spLocks noGrp="1"/>
          </p:cNvSpPr>
          <p:nvPr>
            <p:ph type="title"/>
          </p:nvPr>
        </p:nvSpPr>
        <p:spPr>
          <a:xfrm>
            <a:off x="661241" y="102092"/>
            <a:ext cx="10515600" cy="1325563"/>
          </a:xfrm>
        </p:spPr>
        <p:txBody>
          <a:bodyPr/>
          <a:lstStyle/>
          <a:p>
            <a:r>
              <a:rPr lang="en-US" dirty="0"/>
              <a:t>Results : In Presence of FGSM  </a:t>
            </a:r>
            <a:endParaRPr lang="en-IN" dirty="0"/>
          </a:p>
        </p:txBody>
      </p:sp>
      <p:pic>
        <p:nvPicPr>
          <p:cNvPr id="4" name="Picture 3">
            <a:extLst>
              <a:ext uri="{FF2B5EF4-FFF2-40B4-BE49-F238E27FC236}">
                <a16:creationId xmlns:a16="http://schemas.microsoft.com/office/drawing/2014/main" id="{6EC86FD5-F569-F6E6-8F1B-B7B4A58588AB}"/>
              </a:ext>
            </a:extLst>
          </p:cNvPr>
          <p:cNvPicPr>
            <a:picLocks noChangeAspect="1"/>
          </p:cNvPicPr>
          <p:nvPr/>
        </p:nvPicPr>
        <p:blipFill>
          <a:blip r:embed="rId3"/>
          <a:stretch>
            <a:fillRect/>
          </a:stretch>
        </p:blipFill>
        <p:spPr>
          <a:xfrm>
            <a:off x="96308" y="1546316"/>
            <a:ext cx="3346140" cy="3599912"/>
          </a:xfrm>
          <a:prstGeom prst="rect">
            <a:avLst/>
          </a:prstGeom>
        </p:spPr>
      </p:pic>
      <p:graphicFrame>
        <p:nvGraphicFramePr>
          <p:cNvPr id="15" name="Table 14">
            <a:extLst>
              <a:ext uri="{FF2B5EF4-FFF2-40B4-BE49-F238E27FC236}">
                <a16:creationId xmlns:a16="http://schemas.microsoft.com/office/drawing/2014/main" id="{AB041186-0DC3-2F82-B4B1-C8218F3DF927}"/>
              </a:ext>
            </a:extLst>
          </p:cNvPr>
          <p:cNvGraphicFramePr>
            <a:graphicFrameLocks noGrp="1"/>
          </p:cNvGraphicFramePr>
          <p:nvPr>
            <p:extLst>
              <p:ext uri="{D42A27DB-BD31-4B8C-83A1-F6EECF244321}">
                <p14:modId xmlns:p14="http://schemas.microsoft.com/office/powerpoint/2010/main" val="21530014"/>
              </p:ext>
            </p:extLst>
          </p:nvPr>
        </p:nvGraphicFramePr>
        <p:xfrm>
          <a:off x="3614201" y="2321322"/>
          <a:ext cx="4076199" cy="2800314"/>
        </p:xfrm>
        <a:graphic>
          <a:graphicData uri="http://schemas.openxmlformats.org/drawingml/2006/table">
            <a:tbl>
              <a:tblPr firstRow="1" bandRow="1">
                <a:tableStyleId>{5C22544A-7EE6-4342-B048-85BDC9FD1C3A}</a:tableStyleId>
              </a:tblPr>
              <a:tblGrid>
                <a:gridCol w="704870">
                  <a:extLst>
                    <a:ext uri="{9D8B030D-6E8A-4147-A177-3AD203B41FA5}">
                      <a16:colId xmlns:a16="http://schemas.microsoft.com/office/drawing/2014/main" val="3533254067"/>
                    </a:ext>
                  </a:extLst>
                </a:gridCol>
                <a:gridCol w="1264884">
                  <a:extLst>
                    <a:ext uri="{9D8B030D-6E8A-4147-A177-3AD203B41FA5}">
                      <a16:colId xmlns:a16="http://schemas.microsoft.com/office/drawing/2014/main" val="1423626673"/>
                    </a:ext>
                  </a:extLst>
                </a:gridCol>
                <a:gridCol w="923103">
                  <a:extLst>
                    <a:ext uri="{9D8B030D-6E8A-4147-A177-3AD203B41FA5}">
                      <a16:colId xmlns:a16="http://schemas.microsoft.com/office/drawing/2014/main" val="3303268231"/>
                    </a:ext>
                  </a:extLst>
                </a:gridCol>
                <a:gridCol w="1183342">
                  <a:extLst>
                    <a:ext uri="{9D8B030D-6E8A-4147-A177-3AD203B41FA5}">
                      <a16:colId xmlns:a16="http://schemas.microsoft.com/office/drawing/2014/main" val="3662412736"/>
                    </a:ext>
                  </a:extLst>
                </a:gridCol>
              </a:tblGrid>
              <a:tr h="397256">
                <a:tc>
                  <a:txBody>
                    <a:bodyPr/>
                    <a:lstStyle/>
                    <a:p>
                      <a:pPr algn="ctr"/>
                      <a:r>
                        <a:rPr lang="en-US" sz="1100" dirty="0"/>
                        <a:t>Epsilon</a:t>
                      </a:r>
                      <a:endParaRPr lang="en-IN" sz="1100" dirty="0"/>
                    </a:p>
                  </a:txBody>
                  <a:tcPr/>
                </a:tc>
                <a:tc>
                  <a:txBody>
                    <a:bodyPr/>
                    <a:lstStyle/>
                    <a:p>
                      <a:pPr algn="ctr"/>
                      <a:r>
                        <a:rPr lang="en-US" sz="1100" dirty="0"/>
                        <a:t>No of correctly classified cases </a:t>
                      </a:r>
                      <a:endParaRPr lang="en-IN" sz="1100" dirty="0"/>
                    </a:p>
                  </a:txBody>
                  <a:tcPr/>
                </a:tc>
                <a:tc>
                  <a:txBody>
                    <a:bodyPr/>
                    <a:lstStyle/>
                    <a:p>
                      <a:pPr algn="ctr"/>
                      <a:r>
                        <a:rPr lang="en-US" sz="1100" dirty="0"/>
                        <a:t>Total no of cases </a:t>
                      </a:r>
                      <a:endParaRPr lang="en-IN" sz="1100" dirty="0"/>
                    </a:p>
                  </a:txBody>
                  <a:tcPr/>
                </a:tc>
                <a:tc>
                  <a:txBody>
                    <a:bodyPr/>
                    <a:lstStyle/>
                    <a:p>
                      <a:pPr algn="ctr"/>
                      <a:r>
                        <a:rPr lang="en-US" sz="1100" dirty="0"/>
                        <a:t>Classification accuracy</a:t>
                      </a:r>
                      <a:endParaRPr lang="en-IN" sz="1100" dirty="0"/>
                    </a:p>
                  </a:txBody>
                  <a:tcPr/>
                </a:tc>
                <a:extLst>
                  <a:ext uri="{0D108BD9-81ED-4DB2-BD59-A6C34878D82A}">
                    <a16:rowId xmlns:a16="http://schemas.microsoft.com/office/drawing/2014/main" val="2338343617"/>
                  </a:ext>
                </a:extLst>
              </a:tr>
              <a:tr h="241191">
                <a:tc>
                  <a:txBody>
                    <a:bodyPr/>
                    <a:lstStyle/>
                    <a:p>
                      <a:pPr algn="ctr"/>
                      <a:r>
                        <a:rPr lang="en-US" sz="1100" dirty="0"/>
                        <a:t>0</a:t>
                      </a:r>
                      <a:endParaRPr lang="en-IN" sz="1100" dirty="0"/>
                    </a:p>
                  </a:txBody>
                  <a:tcPr/>
                </a:tc>
                <a:tc>
                  <a:txBody>
                    <a:bodyPr/>
                    <a:lstStyle/>
                    <a:p>
                      <a:pPr algn="ctr"/>
                      <a:r>
                        <a:rPr lang="en-US" sz="1100" dirty="0"/>
                        <a:t>9708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0.970</a:t>
                      </a:r>
                      <a:endParaRPr lang="en-IN" sz="1100" dirty="0"/>
                    </a:p>
                  </a:txBody>
                  <a:tcPr/>
                </a:tc>
                <a:extLst>
                  <a:ext uri="{0D108BD9-81ED-4DB2-BD59-A6C34878D82A}">
                    <a16:rowId xmlns:a16="http://schemas.microsoft.com/office/drawing/2014/main" val="525200081"/>
                  </a:ext>
                </a:extLst>
              </a:tr>
              <a:tr h="241191">
                <a:tc>
                  <a:txBody>
                    <a:bodyPr/>
                    <a:lstStyle/>
                    <a:p>
                      <a:pPr algn="ctr"/>
                      <a:r>
                        <a:rPr lang="en-US" sz="1100" dirty="0"/>
                        <a:t>0.007</a:t>
                      </a:r>
                      <a:endParaRPr lang="en-IN" sz="1100" dirty="0"/>
                    </a:p>
                  </a:txBody>
                  <a:tcPr/>
                </a:tc>
                <a:tc>
                  <a:txBody>
                    <a:bodyPr/>
                    <a:lstStyle/>
                    <a:p>
                      <a:pPr algn="ctr"/>
                      <a:r>
                        <a:rPr lang="en-US" sz="1100" dirty="0"/>
                        <a:t>9668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0.966</a:t>
                      </a:r>
                      <a:endParaRPr lang="en-IN" sz="1100" dirty="0"/>
                    </a:p>
                  </a:txBody>
                  <a:tcPr/>
                </a:tc>
                <a:extLst>
                  <a:ext uri="{0D108BD9-81ED-4DB2-BD59-A6C34878D82A}">
                    <a16:rowId xmlns:a16="http://schemas.microsoft.com/office/drawing/2014/main" val="3697770996"/>
                  </a:ext>
                </a:extLst>
              </a:tr>
              <a:tr h="241191">
                <a:tc>
                  <a:txBody>
                    <a:bodyPr/>
                    <a:lstStyle/>
                    <a:p>
                      <a:pPr algn="ctr"/>
                      <a:r>
                        <a:rPr lang="en-US" sz="1100" dirty="0"/>
                        <a:t>0.01</a:t>
                      </a:r>
                      <a:endParaRPr lang="en-IN" sz="1100" dirty="0"/>
                    </a:p>
                  </a:txBody>
                  <a:tcPr/>
                </a:tc>
                <a:tc>
                  <a:txBody>
                    <a:bodyPr/>
                    <a:lstStyle/>
                    <a:p>
                      <a:pPr algn="ctr"/>
                      <a:r>
                        <a:rPr lang="en-US" sz="1100" dirty="0"/>
                        <a:t>9688</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0.966</a:t>
                      </a:r>
                      <a:endParaRPr lang="en-IN" sz="1100" dirty="0"/>
                    </a:p>
                  </a:txBody>
                  <a:tcPr/>
                </a:tc>
                <a:extLst>
                  <a:ext uri="{0D108BD9-81ED-4DB2-BD59-A6C34878D82A}">
                    <a16:rowId xmlns:a16="http://schemas.microsoft.com/office/drawing/2014/main" val="1216293369"/>
                  </a:ext>
                </a:extLst>
              </a:tr>
              <a:tr h="241191">
                <a:tc>
                  <a:txBody>
                    <a:bodyPr/>
                    <a:lstStyle/>
                    <a:p>
                      <a:pPr algn="ctr"/>
                      <a:r>
                        <a:rPr lang="en-US" sz="1100" dirty="0"/>
                        <a:t>0.02</a:t>
                      </a:r>
                      <a:endParaRPr lang="en-IN" sz="1100" dirty="0"/>
                    </a:p>
                  </a:txBody>
                  <a:tcPr/>
                </a:tc>
                <a:tc>
                  <a:txBody>
                    <a:bodyPr/>
                    <a:lstStyle/>
                    <a:p>
                      <a:pPr algn="ctr"/>
                      <a:r>
                        <a:rPr lang="en-US" sz="1100" dirty="0"/>
                        <a:t>9619</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0.961</a:t>
                      </a:r>
                      <a:endParaRPr lang="en-IN" sz="1100" dirty="0"/>
                    </a:p>
                  </a:txBody>
                  <a:tcPr/>
                </a:tc>
                <a:extLst>
                  <a:ext uri="{0D108BD9-81ED-4DB2-BD59-A6C34878D82A}">
                    <a16:rowId xmlns:a16="http://schemas.microsoft.com/office/drawing/2014/main" val="1119838115"/>
                  </a:ext>
                </a:extLst>
              </a:tr>
              <a:tr h="241191">
                <a:tc>
                  <a:txBody>
                    <a:bodyPr/>
                    <a:lstStyle/>
                    <a:p>
                      <a:pPr algn="ctr"/>
                      <a:r>
                        <a:rPr lang="en-US" sz="1100" dirty="0"/>
                        <a:t>0.03</a:t>
                      </a:r>
                      <a:endParaRPr lang="en-IN" sz="1100" dirty="0"/>
                    </a:p>
                  </a:txBody>
                  <a:tcPr/>
                </a:tc>
                <a:tc>
                  <a:txBody>
                    <a:bodyPr/>
                    <a:lstStyle/>
                    <a:p>
                      <a:pPr algn="ctr"/>
                      <a:r>
                        <a:rPr lang="en-US" sz="1100" dirty="0"/>
                        <a:t>9554</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0.955</a:t>
                      </a:r>
                      <a:endParaRPr lang="en-IN" sz="1100" dirty="0"/>
                    </a:p>
                  </a:txBody>
                  <a:tcPr/>
                </a:tc>
                <a:extLst>
                  <a:ext uri="{0D108BD9-81ED-4DB2-BD59-A6C34878D82A}">
                    <a16:rowId xmlns:a16="http://schemas.microsoft.com/office/drawing/2014/main" val="1393197694"/>
                  </a:ext>
                </a:extLst>
              </a:tr>
              <a:tr h="221324">
                <a:tc>
                  <a:txBody>
                    <a:bodyPr/>
                    <a:lstStyle/>
                    <a:p>
                      <a:pPr algn="ctr"/>
                      <a:r>
                        <a:rPr lang="en-US" sz="1100" dirty="0"/>
                        <a:t>0.05</a:t>
                      </a:r>
                      <a:endParaRPr lang="en-IN" sz="1100" dirty="0"/>
                    </a:p>
                  </a:txBody>
                  <a:tcPr/>
                </a:tc>
                <a:tc>
                  <a:txBody>
                    <a:bodyPr/>
                    <a:lstStyle/>
                    <a:p>
                      <a:pPr algn="ctr"/>
                      <a:r>
                        <a:rPr lang="en-US" sz="1100" dirty="0"/>
                        <a:t>9384</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0.938</a:t>
                      </a:r>
                      <a:endParaRPr lang="en-IN" sz="1100" dirty="0"/>
                    </a:p>
                  </a:txBody>
                  <a:tcPr/>
                </a:tc>
                <a:extLst>
                  <a:ext uri="{0D108BD9-81ED-4DB2-BD59-A6C34878D82A}">
                    <a16:rowId xmlns:a16="http://schemas.microsoft.com/office/drawing/2014/main" val="192899285"/>
                  </a:ext>
                </a:extLst>
              </a:tr>
              <a:tr h="241191">
                <a:tc>
                  <a:txBody>
                    <a:bodyPr/>
                    <a:lstStyle/>
                    <a:p>
                      <a:pPr algn="ctr"/>
                      <a:r>
                        <a:rPr lang="en-US" sz="1100" dirty="0"/>
                        <a:t>0.1</a:t>
                      </a:r>
                      <a:endParaRPr lang="en-IN" sz="1100" dirty="0"/>
                    </a:p>
                  </a:txBody>
                  <a:tcPr/>
                </a:tc>
                <a:tc>
                  <a:txBody>
                    <a:bodyPr/>
                    <a:lstStyle/>
                    <a:p>
                      <a:pPr algn="ctr"/>
                      <a:r>
                        <a:rPr lang="en-US" sz="1100" dirty="0"/>
                        <a:t>8705</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0.870</a:t>
                      </a:r>
                      <a:endParaRPr lang="en-IN" sz="1100" dirty="0"/>
                    </a:p>
                  </a:txBody>
                  <a:tcPr/>
                </a:tc>
                <a:extLst>
                  <a:ext uri="{0D108BD9-81ED-4DB2-BD59-A6C34878D82A}">
                    <a16:rowId xmlns:a16="http://schemas.microsoft.com/office/drawing/2014/main" val="3264467183"/>
                  </a:ext>
                </a:extLst>
              </a:tr>
              <a:tr h="241191">
                <a:tc>
                  <a:txBody>
                    <a:bodyPr/>
                    <a:lstStyle/>
                    <a:p>
                      <a:pPr algn="ctr"/>
                      <a:r>
                        <a:rPr lang="en-US" sz="1100" dirty="0"/>
                        <a:t>0.2</a:t>
                      </a:r>
                      <a:endParaRPr lang="en-IN" sz="1100" dirty="0"/>
                    </a:p>
                  </a:txBody>
                  <a:tcPr/>
                </a:tc>
                <a:tc>
                  <a:txBody>
                    <a:bodyPr/>
                    <a:lstStyle/>
                    <a:p>
                      <a:pPr algn="ctr"/>
                      <a:r>
                        <a:rPr lang="en-US" sz="1100" dirty="0"/>
                        <a:t>5863</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0.586</a:t>
                      </a:r>
                      <a:endParaRPr lang="en-IN" sz="1100" dirty="0"/>
                    </a:p>
                  </a:txBody>
                  <a:tcPr/>
                </a:tc>
                <a:extLst>
                  <a:ext uri="{0D108BD9-81ED-4DB2-BD59-A6C34878D82A}">
                    <a16:rowId xmlns:a16="http://schemas.microsoft.com/office/drawing/2014/main" val="1984940828"/>
                  </a:ext>
                </a:extLst>
              </a:tr>
              <a:tr h="300954">
                <a:tc>
                  <a:txBody>
                    <a:bodyPr/>
                    <a:lstStyle/>
                    <a:p>
                      <a:pPr algn="ctr"/>
                      <a:r>
                        <a:rPr lang="en-US" sz="1100" dirty="0"/>
                        <a:t>0.3</a:t>
                      </a:r>
                      <a:endParaRPr lang="en-IN" sz="1100" dirty="0"/>
                    </a:p>
                  </a:txBody>
                  <a:tcPr/>
                </a:tc>
                <a:tc>
                  <a:txBody>
                    <a:bodyPr/>
                    <a:lstStyle/>
                    <a:p>
                      <a:pPr algn="ctr"/>
                      <a:r>
                        <a:rPr lang="en-US" sz="1100" dirty="0"/>
                        <a:t>3034</a:t>
                      </a:r>
                      <a:endParaRPr lang="en-IN" sz="1100" dirty="0"/>
                    </a:p>
                  </a:txBody>
                  <a:tcPr/>
                </a:tc>
                <a:tc>
                  <a:txBody>
                    <a:bodyPr/>
                    <a:lstStyle/>
                    <a:p>
                      <a:pPr algn="ctr"/>
                      <a:r>
                        <a:rPr lang="en-US" sz="1100" dirty="0"/>
                        <a:t>1000</a:t>
                      </a:r>
                      <a:endParaRPr lang="en-IN" sz="1100" dirty="0"/>
                    </a:p>
                  </a:txBody>
                  <a:tcPr/>
                </a:tc>
                <a:tc>
                  <a:txBody>
                    <a:bodyPr/>
                    <a:lstStyle/>
                    <a:p>
                      <a:pPr algn="ctr"/>
                      <a:r>
                        <a:rPr lang="en-US" sz="1100" b="1" dirty="0">
                          <a:solidFill>
                            <a:srgbClr val="FF0000"/>
                          </a:solidFill>
                        </a:rPr>
                        <a:t>0.303</a:t>
                      </a:r>
                      <a:endParaRPr lang="en-IN" sz="1100" b="1" dirty="0">
                        <a:solidFill>
                          <a:srgbClr val="FF0000"/>
                        </a:solidFill>
                      </a:endParaRPr>
                    </a:p>
                  </a:txBody>
                  <a:tcPr/>
                </a:tc>
                <a:extLst>
                  <a:ext uri="{0D108BD9-81ED-4DB2-BD59-A6C34878D82A}">
                    <a16:rowId xmlns:a16="http://schemas.microsoft.com/office/drawing/2014/main" val="165681436"/>
                  </a:ext>
                </a:extLst>
              </a:tr>
            </a:tbl>
          </a:graphicData>
        </a:graphic>
      </p:graphicFrame>
      <p:sp>
        <p:nvSpPr>
          <p:cNvPr id="16" name="TextBox 15">
            <a:extLst>
              <a:ext uri="{FF2B5EF4-FFF2-40B4-BE49-F238E27FC236}">
                <a16:creationId xmlns:a16="http://schemas.microsoft.com/office/drawing/2014/main" id="{580F90DA-B460-CB50-147A-B1BAC5EE7BB5}"/>
              </a:ext>
            </a:extLst>
          </p:cNvPr>
          <p:cNvSpPr txBox="1"/>
          <p:nvPr/>
        </p:nvSpPr>
        <p:spPr>
          <a:xfrm>
            <a:off x="-45227" y="5278612"/>
            <a:ext cx="3971967" cy="800219"/>
          </a:xfrm>
          <a:prstGeom prst="rect">
            <a:avLst/>
          </a:prstGeom>
          <a:noFill/>
        </p:spPr>
        <p:txBody>
          <a:bodyPr wrap="square" rtlCol="0">
            <a:spAutoFit/>
          </a:bodyPr>
          <a:lstStyle/>
          <a:p>
            <a:pPr algn="ctr"/>
            <a:r>
              <a:rPr lang="en-US" sz="1400" dirty="0"/>
              <a:t>Effect of the FGSM attack on DNN for different noise levels in absence of defensive distillation</a:t>
            </a:r>
          </a:p>
          <a:p>
            <a:endParaRPr lang="en-IN" dirty="0"/>
          </a:p>
        </p:txBody>
      </p:sp>
      <p:sp>
        <p:nvSpPr>
          <p:cNvPr id="17" name="TextBox 16">
            <a:extLst>
              <a:ext uri="{FF2B5EF4-FFF2-40B4-BE49-F238E27FC236}">
                <a16:creationId xmlns:a16="http://schemas.microsoft.com/office/drawing/2014/main" id="{2A0231FD-6ADC-7E66-E61A-D92EAFEF37A2}"/>
              </a:ext>
            </a:extLst>
          </p:cNvPr>
          <p:cNvSpPr txBox="1"/>
          <p:nvPr/>
        </p:nvSpPr>
        <p:spPr>
          <a:xfrm>
            <a:off x="3808207" y="5338799"/>
            <a:ext cx="3707804" cy="523220"/>
          </a:xfrm>
          <a:prstGeom prst="rect">
            <a:avLst/>
          </a:prstGeom>
          <a:noFill/>
          <a:ln>
            <a:solidFill>
              <a:schemeClr val="tx1"/>
            </a:solidFill>
          </a:ln>
        </p:spPr>
        <p:txBody>
          <a:bodyPr wrap="square" rtlCol="0">
            <a:spAutoFit/>
          </a:bodyPr>
          <a:lstStyle/>
          <a:p>
            <a:pPr algn="ctr"/>
            <a:r>
              <a:rPr lang="en-US" sz="1400" b="1" dirty="0"/>
              <a:t>The effect of the FGSM attack on the classification performance </a:t>
            </a:r>
            <a:r>
              <a:rPr lang="en-IN" sz="1400" b="1" dirty="0"/>
              <a:t>of DNN</a:t>
            </a:r>
            <a:endParaRPr lang="en-US" sz="1400" b="1" dirty="0"/>
          </a:p>
        </p:txBody>
      </p:sp>
      <p:sp>
        <p:nvSpPr>
          <p:cNvPr id="18" name="TextBox 17">
            <a:extLst>
              <a:ext uri="{FF2B5EF4-FFF2-40B4-BE49-F238E27FC236}">
                <a16:creationId xmlns:a16="http://schemas.microsoft.com/office/drawing/2014/main" id="{FD92AB02-328F-2DD3-D6D6-6DD2DCA9179E}"/>
              </a:ext>
            </a:extLst>
          </p:cNvPr>
          <p:cNvSpPr txBox="1"/>
          <p:nvPr/>
        </p:nvSpPr>
        <p:spPr>
          <a:xfrm>
            <a:off x="7864788" y="764873"/>
            <a:ext cx="4237565" cy="338554"/>
          </a:xfrm>
          <a:prstGeom prst="rect">
            <a:avLst/>
          </a:prstGeom>
          <a:noFill/>
          <a:ln>
            <a:solidFill>
              <a:srgbClr val="FF0000"/>
            </a:solidFill>
          </a:ln>
        </p:spPr>
        <p:txBody>
          <a:bodyPr wrap="square" rtlCol="0">
            <a:spAutoFit/>
          </a:bodyPr>
          <a:lstStyle/>
          <a:p>
            <a:r>
              <a:rPr lang="en-US" sz="1600" b="1" dirty="0"/>
              <a:t>Classification results under FGSM attack:</a:t>
            </a:r>
            <a:r>
              <a:rPr lang="en-US" sz="1600" dirty="0"/>
              <a:t> </a:t>
            </a:r>
            <a:endParaRPr lang="en-IN" sz="1600" dirty="0"/>
          </a:p>
        </p:txBody>
      </p:sp>
      <p:sp>
        <p:nvSpPr>
          <p:cNvPr id="3" name="Arc 2">
            <a:extLst>
              <a:ext uri="{FF2B5EF4-FFF2-40B4-BE49-F238E27FC236}">
                <a16:creationId xmlns:a16="http://schemas.microsoft.com/office/drawing/2014/main" id="{FEB453FC-C7D7-3C27-6B39-D023FAAD8FB2}"/>
              </a:ext>
            </a:extLst>
          </p:cNvPr>
          <p:cNvSpPr/>
          <p:nvPr/>
        </p:nvSpPr>
        <p:spPr>
          <a:xfrm>
            <a:off x="2974345" y="1543204"/>
            <a:ext cx="1473798" cy="355172"/>
          </a:xfrm>
          <a:prstGeom prst="arc">
            <a:avLst>
              <a:gd name="adj1" fmla="val 11081134"/>
              <a:gd name="adj2" fmla="val 277506"/>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5" name="Flowchart: Merge 4">
            <a:extLst>
              <a:ext uri="{FF2B5EF4-FFF2-40B4-BE49-F238E27FC236}">
                <a16:creationId xmlns:a16="http://schemas.microsoft.com/office/drawing/2014/main" id="{F632590A-F117-296C-97BF-5A3D5D0F2D93}"/>
              </a:ext>
            </a:extLst>
          </p:cNvPr>
          <p:cNvSpPr/>
          <p:nvPr/>
        </p:nvSpPr>
        <p:spPr>
          <a:xfrm>
            <a:off x="4313052" y="1776931"/>
            <a:ext cx="270181" cy="74979"/>
          </a:xfrm>
          <a:prstGeom prst="flowChartMerg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619E0DA0-14E6-F603-817D-89D3A868EF66}"/>
              </a:ext>
            </a:extLst>
          </p:cNvPr>
          <p:cNvPicPr>
            <a:picLocks noChangeAspect="1"/>
          </p:cNvPicPr>
          <p:nvPr/>
        </p:nvPicPr>
        <p:blipFill>
          <a:blip r:embed="rId4"/>
          <a:srcRect t="1" b="-1706"/>
          <a:stretch>
            <a:fillRect/>
          </a:stretch>
        </p:blipFill>
        <p:spPr>
          <a:xfrm>
            <a:off x="7864789" y="1150417"/>
            <a:ext cx="4159429" cy="5632604"/>
          </a:xfrm>
          <a:prstGeom prst="rect">
            <a:avLst/>
          </a:prstGeom>
        </p:spPr>
      </p:pic>
      <p:sp>
        <p:nvSpPr>
          <p:cNvPr id="8" name="TextBox 7">
            <a:extLst>
              <a:ext uri="{FF2B5EF4-FFF2-40B4-BE49-F238E27FC236}">
                <a16:creationId xmlns:a16="http://schemas.microsoft.com/office/drawing/2014/main" id="{94C10743-4E4D-FE37-EA2F-C621C6D4AF32}"/>
              </a:ext>
            </a:extLst>
          </p:cNvPr>
          <p:cNvSpPr txBox="1"/>
          <p:nvPr/>
        </p:nvSpPr>
        <p:spPr>
          <a:xfrm>
            <a:off x="3614201" y="1919493"/>
            <a:ext cx="3555896" cy="369332"/>
          </a:xfrm>
          <a:prstGeom prst="rect">
            <a:avLst/>
          </a:prstGeom>
          <a:noFill/>
        </p:spPr>
        <p:txBody>
          <a:bodyPr wrap="square" rtlCol="0">
            <a:spAutoFit/>
          </a:bodyPr>
          <a:lstStyle/>
          <a:p>
            <a:r>
              <a:rPr lang="en-US" sz="1200" b="1" dirty="0"/>
              <a:t>Inference on Test set </a:t>
            </a:r>
            <a:r>
              <a:rPr lang="en-US" dirty="0"/>
              <a:t>: </a:t>
            </a:r>
            <a:endParaRPr lang="en-IN" dirty="0"/>
          </a:p>
        </p:txBody>
      </p:sp>
    </p:spTree>
    <p:extLst>
      <p:ext uri="{BB962C8B-B14F-4D97-AF65-F5344CB8AC3E}">
        <p14:creationId xmlns:p14="http://schemas.microsoft.com/office/powerpoint/2010/main" val="24626545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2BFBF-3D9B-35D7-5063-158C5B635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FD175-116B-DD34-AA2E-4BC96BBD5AC3}"/>
              </a:ext>
            </a:extLst>
          </p:cNvPr>
          <p:cNvSpPr>
            <a:spLocks noGrp="1"/>
          </p:cNvSpPr>
          <p:nvPr>
            <p:ph type="title"/>
          </p:nvPr>
        </p:nvSpPr>
        <p:spPr>
          <a:xfrm>
            <a:off x="533480" y="124577"/>
            <a:ext cx="10515600" cy="855191"/>
          </a:xfrm>
        </p:spPr>
        <p:txBody>
          <a:bodyPr/>
          <a:lstStyle/>
          <a:p>
            <a:r>
              <a:rPr lang="en-US" dirty="0"/>
              <a:t>Results : FGSM in Presence of Distillation </a:t>
            </a:r>
            <a:endParaRPr lang="en-IN" dirty="0"/>
          </a:p>
        </p:txBody>
      </p:sp>
      <p:pic>
        <p:nvPicPr>
          <p:cNvPr id="5" name="Picture 4">
            <a:extLst>
              <a:ext uri="{FF2B5EF4-FFF2-40B4-BE49-F238E27FC236}">
                <a16:creationId xmlns:a16="http://schemas.microsoft.com/office/drawing/2014/main" id="{167AF7C6-2C45-2A6D-825B-E902218E802D}"/>
              </a:ext>
            </a:extLst>
          </p:cNvPr>
          <p:cNvPicPr>
            <a:picLocks noChangeAspect="1"/>
          </p:cNvPicPr>
          <p:nvPr/>
        </p:nvPicPr>
        <p:blipFill>
          <a:blip r:embed="rId3"/>
          <a:stretch>
            <a:fillRect/>
          </a:stretch>
        </p:blipFill>
        <p:spPr>
          <a:xfrm>
            <a:off x="3926373" y="1773277"/>
            <a:ext cx="3676497" cy="3630155"/>
          </a:xfrm>
          <a:prstGeom prst="rect">
            <a:avLst/>
          </a:prstGeom>
        </p:spPr>
      </p:pic>
      <p:pic>
        <p:nvPicPr>
          <p:cNvPr id="10" name="Picture 9">
            <a:extLst>
              <a:ext uri="{FF2B5EF4-FFF2-40B4-BE49-F238E27FC236}">
                <a16:creationId xmlns:a16="http://schemas.microsoft.com/office/drawing/2014/main" id="{13793219-1CEE-3897-F4CE-21D4C9314010}"/>
              </a:ext>
            </a:extLst>
          </p:cNvPr>
          <p:cNvPicPr>
            <a:picLocks noChangeAspect="1"/>
          </p:cNvPicPr>
          <p:nvPr/>
        </p:nvPicPr>
        <p:blipFill>
          <a:blip r:embed="rId4"/>
          <a:stretch>
            <a:fillRect/>
          </a:stretch>
        </p:blipFill>
        <p:spPr>
          <a:xfrm>
            <a:off x="339843" y="4214664"/>
            <a:ext cx="2521691" cy="2523257"/>
          </a:xfrm>
          <a:prstGeom prst="rect">
            <a:avLst/>
          </a:prstGeom>
        </p:spPr>
      </p:pic>
      <p:pic>
        <p:nvPicPr>
          <p:cNvPr id="11" name="Picture 2">
            <a:extLst>
              <a:ext uri="{FF2B5EF4-FFF2-40B4-BE49-F238E27FC236}">
                <a16:creationId xmlns:a16="http://schemas.microsoft.com/office/drawing/2014/main" id="{AD816C33-2CD6-165E-71DD-B04FF284451B}"/>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339843" y="979768"/>
            <a:ext cx="2418853" cy="258966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0FB1FD8-AA50-7E88-FCA3-A84C325CE9CE}"/>
              </a:ext>
            </a:extLst>
          </p:cNvPr>
          <p:cNvSpPr txBox="1"/>
          <p:nvPr/>
        </p:nvSpPr>
        <p:spPr>
          <a:xfrm>
            <a:off x="135163" y="3594468"/>
            <a:ext cx="3511679" cy="523220"/>
          </a:xfrm>
          <a:prstGeom prst="rect">
            <a:avLst/>
          </a:prstGeom>
          <a:noFill/>
        </p:spPr>
        <p:txBody>
          <a:bodyPr wrap="square">
            <a:spAutoFit/>
          </a:bodyPr>
          <a:lstStyle/>
          <a:p>
            <a:pPr algn="l">
              <a:buNone/>
            </a:pPr>
            <a:r>
              <a:rPr lang="en-US" sz="1400" b="0" i="0" dirty="0">
                <a:effectLst/>
                <a:latin typeface="ff1"/>
              </a:rPr>
              <a:t>Variation of the train and valid loss with no</a:t>
            </a:r>
            <a:r>
              <a:rPr lang="en-US" sz="1400" dirty="0">
                <a:latin typeface="ff1"/>
              </a:rPr>
              <a:t>.</a:t>
            </a:r>
            <a:r>
              <a:rPr lang="en-US" sz="1400" b="0" i="0" dirty="0">
                <a:effectLst/>
                <a:latin typeface="ff1"/>
              </a:rPr>
              <a:t> epochs for training distilled </a:t>
            </a:r>
            <a:r>
              <a:rPr lang="en-US" sz="1400" dirty="0">
                <a:latin typeface="ff1"/>
              </a:rPr>
              <a:t>DNN</a:t>
            </a:r>
            <a:r>
              <a:rPr lang="en-US" sz="1400" b="0" i="0" dirty="0">
                <a:effectLst/>
                <a:latin typeface="ff1"/>
              </a:rPr>
              <a:t>(T = 100)</a:t>
            </a:r>
          </a:p>
        </p:txBody>
      </p:sp>
      <p:graphicFrame>
        <p:nvGraphicFramePr>
          <p:cNvPr id="6" name="Table 5">
            <a:extLst>
              <a:ext uri="{FF2B5EF4-FFF2-40B4-BE49-F238E27FC236}">
                <a16:creationId xmlns:a16="http://schemas.microsoft.com/office/drawing/2014/main" id="{835D63B2-4585-06C4-209C-0E2E99AD1E18}"/>
              </a:ext>
            </a:extLst>
          </p:cNvPr>
          <p:cNvGraphicFramePr>
            <a:graphicFrameLocks noGrp="1"/>
          </p:cNvGraphicFramePr>
          <p:nvPr>
            <p:extLst>
              <p:ext uri="{D42A27DB-BD31-4B8C-83A1-F6EECF244321}">
                <p14:modId xmlns:p14="http://schemas.microsoft.com/office/powerpoint/2010/main" val="342715514"/>
              </p:ext>
            </p:extLst>
          </p:nvPr>
        </p:nvGraphicFramePr>
        <p:xfrm>
          <a:off x="7834063" y="2366346"/>
          <a:ext cx="4182141" cy="3019397"/>
        </p:xfrm>
        <a:graphic>
          <a:graphicData uri="http://schemas.openxmlformats.org/drawingml/2006/table">
            <a:tbl>
              <a:tblPr firstRow="1" bandRow="1">
                <a:tableStyleId>{5C22544A-7EE6-4342-B048-85BDC9FD1C3A}</a:tableStyleId>
              </a:tblPr>
              <a:tblGrid>
                <a:gridCol w="674531">
                  <a:extLst>
                    <a:ext uri="{9D8B030D-6E8A-4147-A177-3AD203B41FA5}">
                      <a16:colId xmlns:a16="http://schemas.microsoft.com/office/drawing/2014/main" val="3533254067"/>
                    </a:ext>
                  </a:extLst>
                </a:gridCol>
                <a:gridCol w="1210442">
                  <a:extLst>
                    <a:ext uri="{9D8B030D-6E8A-4147-A177-3AD203B41FA5}">
                      <a16:colId xmlns:a16="http://schemas.microsoft.com/office/drawing/2014/main" val="1423626673"/>
                    </a:ext>
                  </a:extLst>
                </a:gridCol>
                <a:gridCol w="1273599">
                  <a:extLst>
                    <a:ext uri="{9D8B030D-6E8A-4147-A177-3AD203B41FA5}">
                      <a16:colId xmlns:a16="http://schemas.microsoft.com/office/drawing/2014/main" val="3303268231"/>
                    </a:ext>
                  </a:extLst>
                </a:gridCol>
                <a:gridCol w="1023569">
                  <a:extLst>
                    <a:ext uri="{9D8B030D-6E8A-4147-A177-3AD203B41FA5}">
                      <a16:colId xmlns:a16="http://schemas.microsoft.com/office/drawing/2014/main" val="3662412736"/>
                    </a:ext>
                  </a:extLst>
                </a:gridCol>
              </a:tblGrid>
              <a:tr h="464716">
                <a:tc>
                  <a:txBody>
                    <a:bodyPr/>
                    <a:lstStyle/>
                    <a:p>
                      <a:pPr algn="ctr"/>
                      <a:r>
                        <a:rPr lang="en-US" sz="1100" dirty="0"/>
                        <a:t>Epsilon</a:t>
                      </a:r>
                      <a:endParaRPr lang="en-IN" sz="1100" dirty="0"/>
                    </a:p>
                  </a:txBody>
                  <a:tcPr/>
                </a:tc>
                <a:tc>
                  <a:txBody>
                    <a:bodyPr/>
                    <a:lstStyle/>
                    <a:p>
                      <a:pPr algn="ctr"/>
                      <a:r>
                        <a:rPr lang="en-US" sz="1100" dirty="0"/>
                        <a:t>No of correctly classified cases </a:t>
                      </a:r>
                      <a:endParaRPr lang="en-IN" sz="1100" dirty="0"/>
                    </a:p>
                  </a:txBody>
                  <a:tcPr/>
                </a:tc>
                <a:tc>
                  <a:txBody>
                    <a:bodyPr/>
                    <a:lstStyle/>
                    <a:p>
                      <a:pPr algn="ctr"/>
                      <a:r>
                        <a:rPr lang="en-US" sz="1100" dirty="0"/>
                        <a:t>Total no of cases </a:t>
                      </a:r>
                      <a:endParaRPr lang="en-IN" sz="1100" dirty="0"/>
                    </a:p>
                  </a:txBody>
                  <a:tcPr/>
                </a:tc>
                <a:tc>
                  <a:txBody>
                    <a:bodyPr/>
                    <a:lstStyle/>
                    <a:p>
                      <a:pPr algn="ctr"/>
                      <a:r>
                        <a:rPr lang="en-US" sz="1100" dirty="0"/>
                        <a:t>Classification accuracy</a:t>
                      </a:r>
                      <a:endParaRPr lang="en-IN" sz="1100" dirty="0"/>
                    </a:p>
                  </a:txBody>
                  <a:tcPr/>
                </a:tc>
                <a:extLst>
                  <a:ext uri="{0D108BD9-81ED-4DB2-BD59-A6C34878D82A}">
                    <a16:rowId xmlns:a16="http://schemas.microsoft.com/office/drawing/2014/main" val="2338343617"/>
                  </a:ext>
                </a:extLst>
              </a:tr>
              <a:tr h="282149">
                <a:tc>
                  <a:txBody>
                    <a:bodyPr/>
                    <a:lstStyle/>
                    <a:p>
                      <a:pPr algn="ctr"/>
                      <a:r>
                        <a:rPr lang="en-US" sz="1100" dirty="0"/>
                        <a:t>0</a:t>
                      </a:r>
                      <a:endParaRPr lang="en-IN" sz="1100" dirty="0"/>
                    </a:p>
                  </a:txBody>
                  <a:tcPr/>
                </a:tc>
                <a:tc>
                  <a:txBody>
                    <a:bodyPr/>
                    <a:lstStyle/>
                    <a:p>
                      <a:pPr algn="ctr"/>
                      <a:r>
                        <a:rPr lang="en-US" sz="1100" dirty="0"/>
                        <a:t>9245</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0.924</a:t>
                      </a:r>
                      <a:endParaRPr lang="en-IN" sz="1100" dirty="0"/>
                    </a:p>
                  </a:txBody>
                  <a:tcPr/>
                </a:tc>
                <a:extLst>
                  <a:ext uri="{0D108BD9-81ED-4DB2-BD59-A6C34878D82A}">
                    <a16:rowId xmlns:a16="http://schemas.microsoft.com/office/drawing/2014/main" val="525200081"/>
                  </a:ext>
                </a:extLst>
              </a:tr>
              <a:tr h="282149">
                <a:tc>
                  <a:txBody>
                    <a:bodyPr/>
                    <a:lstStyle/>
                    <a:p>
                      <a:pPr algn="ctr"/>
                      <a:r>
                        <a:rPr lang="en-US" sz="1100" dirty="0"/>
                        <a:t>0.007</a:t>
                      </a:r>
                      <a:endParaRPr lang="en-IN" sz="1100" dirty="0"/>
                    </a:p>
                  </a:txBody>
                  <a:tcPr/>
                </a:tc>
                <a:tc>
                  <a:txBody>
                    <a:bodyPr/>
                    <a:lstStyle/>
                    <a:p>
                      <a:pPr algn="ctr"/>
                      <a:r>
                        <a:rPr lang="en-US" sz="1100" dirty="0"/>
                        <a:t>9216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0.921</a:t>
                      </a:r>
                      <a:endParaRPr lang="en-IN" sz="1100" dirty="0"/>
                    </a:p>
                  </a:txBody>
                  <a:tcPr/>
                </a:tc>
                <a:extLst>
                  <a:ext uri="{0D108BD9-81ED-4DB2-BD59-A6C34878D82A}">
                    <a16:rowId xmlns:a16="http://schemas.microsoft.com/office/drawing/2014/main" val="3697770996"/>
                  </a:ext>
                </a:extLst>
              </a:tr>
              <a:tr h="282149">
                <a:tc>
                  <a:txBody>
                    <a:bodyPr/>
                    <a:lstStyle/>
                    <a:p>
                      <a:pPr algn="ctr"/>
                      <a:r>
                        <a:rPr lang="en-US" sz="1100" dirty="0"/>
                        <a:t>0.01</a:t>
                      </a:r>
                      <a:endParaRPr lang="en-IN" sz="1100" dirty="0"/>
                    </a:p>
                  </a:txBody>
                  <a:tcPr/>
                </a:tc>
                <a:tc>
                  <a:txBody>
                    <a:bodyPr/>
                    <a:lstStyle/>
                    <a:p>
                      <a:pPr algn="ctr"/>
                      <a:r>
                        <a:rPr lang="en-US" sz="1100" dirty="0"/>
                        <a:t>9207</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0.920</a:t>
                      </a:r>
                      <a:endParaRPr lang="en-IN" sz="1100" dirty="0"/>
                    </a:p>
                  </a:txBody>
                  <a:tcPr/>
                </a:tc>
                <a:extLst>
                  <a:ext uri="{0D108BD9-81ED-4DB2-BD59-A6C34878D82A}">
                    <a16:rowId xmlns:a16="http://schemas.microsoft.com/office/drawing/2014/main" val="1216293369"/>
                  </a:ext>
                </a:extLst>
              </a:tr>
              <a:tr h="282149">
                <a:tc>
                  <a:txBody>
                    <a:bodyPr/>
                    <a:lstStyle/>
                    <a:p>
                      <a:pPr algn="ctr"/>
                      <a:r>
                        <a:rPr lang="en-US" sz="1100" dirty="0"/>
                        <a:t>0.02</a:t>
                      </a:r>
                      <a:endParaRPr lang="en-IN" sz="1100" dirty="0"/>
                    </a:p>
                  </a:txBody>
                  <a:tcPr/>
                </a:tc>
                <a:tc>
                  <a:txBody>
                    <a:bodyPr/>
                    <a:lstStyle/>
                    <a:p>
                      <a:pPr algn="ctr"/>
                      <a:r>
                        <a:rPr lang="en-US" sz="1100" dirty="0"/>
                        <a:t>9241</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0.924</a:t>
                      </a:r>
                      <a:endParaRPr lang="en-IN" sz="1100" dirty="0"/>
                    </a:p>
                  </a:txBody>
                  <a:tcPr/>
                </a:tc>
                <a:extLst>
                  <a:ext uri="{0D108BD9-81ED-4DB2-BD59-A6C34878D82A}">
                    <a16:rowId xmlns:a16="http://schemas.microsoft.com/office/drawing/2014/main" val="1119838115"/>
                  </a:ext>
                </a:extLst>
              </a:tr>
              <a:tr h="282149">
                <a:tc>
                  <a:txBody>
                    <a:bodyPr/>
                    <a:lstStyle/>
                    <a:p>
                      <a:pPr algn="ctr"/>
                      <a:r>
                        <a:rPr lang="en-US" sz="1100" dirty="0"/>
                        <a:t>0.03</a:t>
                      </a:r>
                      <a:endParaRPr lang="en-IN" sz="1100" dirty="0"/>
                    </a:p>
                  </a:txBody>
                  <a:tcPr/>
                </a:tc>
                <a:tc>
                  <a:txBody>
                    <a:bodyPr/>
                    <a:lstStyle/>
                    <a:p>
                      <a:pPr algn="ctr"/>
                      <a:r>
                        <a:rPr lang="en-US" sz="1100" dirty="0"/>
                        <a:t>9196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0.919</a:t>
                      </a:r>
                      <a:endParaRPr lang="en-IN" sz="1100" dirty="0"/>
                    </a:p>
                  </a:txBody>
                  <a:tcPr/>
                </a:tc>
                <a:extLst>
                  <a:ext uri="{0D108BD9-81ED-4DB2-BD59-A6C34878D82A}">
                    <a16:rowId xmlns:a16="http://schemas.microsoft.com/office/drawing/2014/main" val="1393197694"/>
                  </a:ext>
                </a:extLst>
              </a:tr>
              <a:tr h="282149">
                <a:tc>
                  <a:txBody>
                    <a:bodyPr/>
                    <a:lstStyle/>
                    <a:p>
                      <a:pPr algn="ctr"/>
                      <a:r>
                        <a:rPr lang="en-US" sz="1100" dirty="0"/>
                        <a:t>0.05</a:t>
                      </a:r>
                      <a:endParaRPr lang="en-IN" sz="1100" dirty="0"/>
                    </a:p>
                  </a:txBody>
                  <a:tcPr/>
                </a:tc>
                <a:tc>
                  <a:txBody>
                    <a:bodyPr/>
                    <a:lstStyle/>
                    <a:p>
                      <a:pPr algn="ctr"/>
                      <a:r>
                        <a:rPr lang="en-US" sz="1100" dirty="0"/>
                        <a:t>9189</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0.918</a:t>
                      </a:r>
                      <a:endParaRPr lang="en-IN" sz="1100" dirty="0"/>
                    </a:p>
                  </a:txBody>
                  <a:tcPr/>
                </a:tc>
                <a:extLst>
                  <a:ext uri="{0D108BD9-81ED-4DB2-BD59-A6C34878D82A}">
                    <a16:rowId xmlns:a16="http://schemas.microsoft.com/office/drawing/2014/main" val="192899285"/>
                  </a:ext>
                </a:extLst>
              </a:tr>
              <a:tr h="282149">
                <a:tc>
                  <a:txBody>
                    <a:bodyPr/>
                    <a:lstStyle/>
                    <a:p>
                      <a:pPr algn="ctr"/>
                      <a:r>
                        <a:rPr lang="en-US" sz="1100" dirty="0"/>
                        <a:t>0.1</a:t>
                      </a:r>
                      <a:endParaRPr lang="en-IN" sz="1100" dirty="0"/>
                    </a:p>
                  </a:txBody>
                  <a:tcPr/>
                </a:tc>
                <a:tc>
                  <a:txBody>
                    <a:bodyPr/>
                    <a:lstStyle/>
                    <a:p>
                      <a:pPr algn="ctr"/>
                      <a:r>
                        <a:rPr lang="en-US" sz="1100" dirty="0"/>
                        <a:t>9126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0.912</a:t>
                      </a:r>
                      <a:endParaRPr lang="en-IN" sz="1100" dirty="0"/>
                    </a:p>
                  </a:txBody>
                  <a:tcPr/>
                </a:tc>
                <a:extLst>
                  <a:ext uri="{0D108BD9-81ED-4DB2-BD59-A6C34878D82A}">
                    <a16:rowId xmlns:a16="http://schemas.microsoft.com/office/drawing/2014/main" val="3264467183"/>
                  </a:ext>
                </a:extLst>
              </a:tr>
              <a:tr h="282149">
                <a:tc>
                  <a:txBody>
                    <a:bodyPr/>
                    <a:lstStyle/>
                    <a:p>
                      <a:pPr algn="ctr"/>
                      <a:r>
                        <a:rPr lang="en-US" sz="1100" dirty="0"/>
                        <a:t>0.2</a:t>
                      </a:r>
                      <a:endParaRPr lang="en-IN" sz="1100" dirty="0"/>
                    </a:p>
                  </a:txBody>
                  <a:tcPr/>
                </a:tc>
                <a:tc>
                  <a:txBody>
                    <a:bodyPr/>
                    <a:lstStyle/>
                    <a:p>
                      <a:pPr algn="ctr"/>
                      <a:r>
                        <a:rPr lang="en-US" sz="1100" dirty="0"/>
                        <a:t>9046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0.904</a:t>
                      </a:r>
                      <a:endParaRPr lang="en-IN" sz="1100" dirty="0"/>
                    </a:p>
                  </a:txBody>
                  <a:tcPr/>
                </a:tc>
                <a:extLst>
                  <a:ext uri="{0D108BD9-81ED-4DB2-BD59-A6C34878D82A}">
                    <a16:rowId xmlns:a16="http://schemas.microsoft.com/office/drawing/2014/main" val="1984940828"/>
                  </a:ext>
                </a:extLst>
              </a:tr>
              <a:tr h="297489">
                <a:tc>
                  <a:txBody>
                    <a:bodyPr/>
                    <a:lstStyle/>
                    <a:p>
                      <a:pPr algn="ctr"/>
                      <a:r>
                        <a:rPr lang="en-US" sz="1100" dirty="0"/>
                        <a:t>0.3</a:t>
                      </a:r>
                      <a:endParaRPr lang="en-IN" sz="1100" dirty="0"/>
                    </a:p>
                  </a:txBody>
                  <a:tcPr/>
                </a:tc>
                <a:tc>
                  <a:txBody>
                    <a:bodyPr/>
                    <a:lstStyle/>
                    <a:p>
                      <a:pPr algn="ctr"/>
                      <a:r>
                        <a:rPr lang="en-US" sz="1100" dirty="0"/>
                        <a:t>9032</a:t>
                      </a:r>
                      <a:endParaRPr lang="en-IN" sz="1100" dirty="0"/>
                    </a:p>
                  </a:txBody>
                  <a:tcPr/>
                </a:tc>
                <a:tc>
                  <a:txBody>
                    <a:bodyPr/>
                    <a:lstStyle/>
                    <a:p>
                      <a:pPr algn="ctr"/>
                      <a:r>
                        <a:rPr lang="en-US" sz="1100" dirty="0"/>
                        <a:t>1000</a:t>
                      </a:r>
                      <a:endParaRPr lang="en-IN" sz="1100" dirty="0"/>
                    </a:p>
                  </a:txBody>
                  <a:tcPr/>
                </a:tc>
                <a:tc>
                  <a:txBody>
                    <a:bodyPr/>
                    <a:lstStyle/>
                    <a:p>
                      <a:pPr algn="ctr"/>
                      <a:r>
                        <a:rPr lang="en-US" sz="1100" b="1" dirty="0">
                          <a:solidFill>
                            <a:srgbClr val="FF0000"/>
                          </a:solidFill>
                        </a:rPr>
                        <a:t>0.903</a:t>
                      </a:r>
                      <a:endParaRPr lang="en-IN" sz="1100" b="1" dirty="0">
                        <a:solidFill>
                          <a:srgbClr val="FF0000"/>
                        </a:solidFill>
                      </a:endParaRPr>
                    </a:p>
                  </a:txBody>
                  <a:tcPr/>
                </a:tc>
                <a:extLst>
                  <a:ext uri="{0D108BD9-81ED-4DB2-BD59-A6C34878D82A}">
                    <a16:rowId xmlns:a16="http://schemas.microsoft.com/office/drawing/2014/main" val="165681436"/>
                  </a:ext>
                </a:extLst>
              </a:tr>
            </a:tbl>
          </a:graphicData>
        </a:graphic>
      </p:graphicFrame>
      <p:sp>
        <p:nvSpPr>
          <p:cNvPr id="7" name="TextBox 6">
            <a:extLst>
              <a:ext uri="{FF2B5EF4-FFF2-40B4-BE49-F238E27FC236}">
                <a16:creationId xmlns:a16="http://schemas.microsoft.com/office/drawing/2014/main" id="{FD256BE7-3D83-583F-A49B-3824F9649BB5}"/>
              </a:ext>
            </a:extLst>
          </p:cNvPr>
          <p:cNvSpPr txBox="1"/>
          <p:nvPr/>
        </p:nvSpPr>
        <p:spPr>
          <a:xfrm>
            <a:off x="8088679" y="5606943"/>
            <a:ext cx="3672908" cy="1015663"/>
          </a:xfrm>
          <a:prstGeom prst="rect">
            <a:avLst/>
          </a:prstGeom>
          <a:noFill/>
          <a:ln>
            <a:solidFill>
              <a:schemeClr val="tx1"/>
            </a:solidFill>
          </a:ln>
        </p:spPr>
        <p:txBody>
          <a:bodyPr wrap="square" rtlCol="0">
            <a:spAutoFit/>
          </a:bodyPr>
          <a:lstStyle/>
          <a:p>
            <a:pPr algn="ctr"/>
            <a:r>
              <a:rPr lang="en-US" sz="1400" dirty="0"/>
              <a:t>The effect of the FGSM attack on the classification performance of the distilled CNN model</a:t>
            </a:r>
          </a:p>
          <a:p>
            <a:endParaRPr lang="en-IN" dirty="0"/>
          </a:p>
        </p:txBody>
      </p:sp>
      <p:sp>
        <p:nvSpPr>
          <p:cNvPr id="9" name="TextBox 8">
            <a:extLst>
              <a:ext uri="{FF2B5EF4-FFF2-40B4-BE49-F238E27FC236}">
                <a16:creationId xmlns:a16="http://schemas.microsoft.com/office/drawing/2014/main" id="{7D111890-E217-C7EF-4F1E-B8C23F357F04}"/>
              </a:ext>
            </a:extLst>
          </p:cNvPr>
          <p:cNvSpPr txBox="1"/>
          <p:nvPr/>
        </p:nvSpPr>
        <p:spPr>
          <a:xfrm>
            <a:off x="3683500" y="5467050"/>
            <a:ext cx="3919370" cy="954107"/>
          </a:xfrm>
          <a:prstGeom prst="rect">
            <a:avLst/>
          </a:prstGeom>
          <a:noFill/>
          <a:ln>
            <a:solidFill>
              <a:schemeClr val="bg1"/>
            </a:solidFill>
          </a:ln>
        </p:spPr>
        <p:txBody>
          <a:bodyPr wrap="square" rtlCol="0">
            <a:spAutoFit/>
          </a:bodyPr>
          <a:lstStyle/>
          <a:p>
            <a:pPr algn="ctr"/>
            <a:r>
              <a:rPr lang="en-US" sz="1400" dirty="0"/>
              <a:t>The effect of the FGSM attack on the classification performance of the distilled CNN model</a:t>
            </a:r>
          </a:p>
          <a:p>
            <a:pPr algn="ctr"/>
            <a:endParaRPr lang="en-US" sz="1400" b="1" dirty="0"/>
          </a:p>
        </p:txBody>
      </p:sp>
      <p:sp>
        <p:nvSpPr>
          <p:cNvPr id="12" name="Arc 11">
            <a:extLst>
              <a:ext uri="{FF2B5EF4-FFF2-40B4-BE49-F238E27FC236}">
                <a16:creationId xmlns:a16="http://schemas.microsoft.com/office/drawing/2014/main" id="{CD9502E7-19B5-F52C-1842-E46DFACBAF96}"/>
              </a:ext>
            </a:extLst>
          </p:cNvPr>
          <p:cNvSpPr/>
          <p:nvPr/>
        </p:nvSpPr>
        <p:spPr>
          <a:xfrm>
            <a:off x="6715409" y="1706020"/>
            <a:ext cx="1473798" cy="355172"/>
          </a:xfrm>
          <a:prstGeom prst="arc">
            <a:avLst>
              <a:gd name="adj1" fmla="val 11081134"/>
              <a:gd name="adj2" fmla="val 277506"/>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p>
        </p:txBody>
      </p:sp>
      <p:sp>
        <p:nvSpPr>
          <p:cNvPr id="14" name="TextBox 13">
            <a:extLst>
              <a:ext uri="{FF2B5EF4-FFF2-40B4-BE49-F238E27FC236}">
                <a16:creationId xmlns:a16="http://schemas.microsoft.com/office/drawing/2014/main" id="{69B5FD79-9A11-4ED9-7C1E-39B84EC68E00}"/>
              </a:ext>
            </a:extLst>
          </p:cNvPr>
          <p:cNvSpPr txBox="1"/>
          <p:nvPr/>
        </p:nvSpPr>
        <p:spPr>
          <a:xfrm>
            <a:off x="7834063" y="1940310"/>
            <a:ext cx="3555896" cy="369332"/>
          </a:xfrm>
          <a:prstGeom prst="rect">
            <a:avLst/>
          </a:prstGeom>
          <a:noFill/>
        </p:spPr>
        <p:txBody>
          <a:bodyPr wrap="square" rtlCol="0">
            <a:spAutoFit/>
          </a:bodyPr>
          <a:lstStyle/>
          <a:p>
            <a:r>
              <a:rPr lang="en-US" sz="1200" b="1" dirty="0"/>
              <a:t>Inference on Test set </a:t>
            </a:r>
            <a:r>
              <a:rPr lang="en-US" dirty="0"/>
              <a:t>: </a:t>
            </a:r>
            <a:endParaRPr lang="en-IN" dirty="0"/>
          </a:p>
        </p:txBody>
      </p:sp>
      <p:sp>
        <p:nvSpPr>
          <p:cNvPr id="16" name="Flowchart: Merge 15">
            <a:extLst>
              <a:ext uri="{FF2B5EF4-FFF2-40B4-BE49-F238E27FC236}">
                <a16:creationId xmlns:a16="http://schemas.microsoft.com/office/drawing/2014/main" id="{29D0C066-8AA7-0E29-FAFB-8B94E2E25F66}"/>
              </a:ext>
            </a:extLst>
          </p:cNvPr>
          <p:cNvSpPr/>
          <p:nvPr/>
        </p:nvSpPr>
        <p:spPr>
          <a:xfrm>
            <a:off x="8011968" y="1960003"/>
            <a:ext cx="270181" cy="74979"/>
          </a:xfrm>
          <a:prstGeom prst="flowChartMerg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ECC94947-3398-07DB-896A-F0F50DAE8F4E}"/>
              </a:ext>
            </a:extLst>
          </p:cNvPr>
          <p:cNvSpPr txBox="1"/>
          <p:nvPr/>
        </p:nvSpPr>
        <p:spPr>
          <a:xfrm>
            <a:off x="5974368" y="1745106"/>
            <a:ext cx="547154" cy="276999"/>
          </a:xfrm>
          <a:prstGeom prst="rect">
            <a:avLst/>
          </a:prstGeom>
          <a:noFill/>
        </p:spPr>
        <p:txBody>
          <a:bodyPr wrap="square" rtlCol="0">
            <a:spAutoFit/>
          </a:bodyPr>
          <a:lstStyle/>
          <a:p>
            <a:r>
              <a:rPr lang="en-US" sz="1200" dirty="0" err="1"/>
              <a:t>gsm</a:t>
            </a:r>
            <a:endParaRPr lang="en-IN" sz="1200" dirty="0"/>
          </a:p>
        </p:txBody>
      </p:sp>
      <p:sp>
        <p:nvSpPr>
          <p:cNvPr id="21" name="TextBox 20">
            <a:extLst>
              <a:ext uri="{FF2B5EF4-FFF2-40B4-BE49-F238E27FC236}">
                <a16:creationId xmlns:a16="http://schemas.microsoft.com/office/drawing/2014/main" id="{CF679077-95A0-D0F0-8AD1-8EE0E6DAC6F1}"/>
              </a:ext>
            </a:extLst>
          </p:cNvPr>
          <p:cNvSpPr txBox="1"/>
          <p:nvPr/>
        </p:nvSpPr>
        <p:spPr>
          <a:xfrm>
            <a:off x="2817792" y="1997493"/>
            <a:ext cx="877388" cy="307777"/>
          </a:xfrm>
          <a:prstGeom prst="rect">
            <a:avLst/>
          </a:prstGeom>
          <a:noFill/>
          <a:ln>
            <a:solidFill>
              <a:schemeClr val="tx1"/>
            </a:solidFill>
          </a:ln>
        </p:spPr>
        <p:txBody>
          <a:bodyPr wrap="square" rtlCol="0">
            <a:spAutoFit/>
          </a:bodyPr>
          <a:lstStyle/>
          <a:p>
            <a:r>
              <a:rPr lang="en-US" sz="1400" dirty="0"/>
              <a:t>Teacher</a:t>
            </a:r>
            <a:endParaRPr lang="en-IN" sz="1400" dirty="0"/>
          </a:p>
        </p:txBody>
      </p:sp>
      <p:sp>
        <p:nvSpPr>
          <p:cNvPr id="22" name="TextBox 21">
            <a:extLst>
              <a:ext uri="{FF2B5EF4-FFF2-40B4-BE49-F238E27FC236}">
                <a16:creationId xmlns:a16="http://schemas.microsoft.com/office/drawing/2014/main" id="{08CBEB75-1AA8-0655-B6A4-AB4693177B09}"/>
              </a:ext>
            </a:extLst>
          </p:cNvPr>
          <p:cNvSpPr txBox="1"/>
          <p:nvPr/>
        </p:nvSpPr>
        <p:spPr>
          <a:xfrm>
            <a:off x="2916527" y="5016890"/>
            <a:ext cx="877388" cy="307777"/>
          </a:xfrm>
          <a:prstGeom prst="rect">
            <a:avLst/>
          </a:prstGeom>
          <a:noFill/>
          <a:ln>
            <a:solidFill>
              <a:schemeClr val="tx1"/>
            </a:solidFill>
          </a:ln>
        </p:spPr>
        <p:txBody>
          <a:bodyPr wrap="square" rtlCol="0">
            <a:spAutoFit/>
          </a:bodyPr>
          <a:lstStyle/>
          <a:p>
            <a:r>
              <a:rPr lang="en-US" sz="1400" dirty="0"/>
              <a:t>Student</a:t>
            </a:r>
            <a:endParaRPr lang="en-IN" sz="1400" dirty="0"/>
          </a:p>
        </p:txBody>
      </p:sp>
      <p:sp>
        <p:nvSpPr>
          <p:cNvPr id="23" name="TextBox 22">
            <a:extLst>
              <a:ext uri="{FF2B5EF4-FFF2-40B4-BE49-F238E27FC236}">
                <a16:creationId xmlns:a16="http://schemas.microsoft.com/office/drawing/2014/main" id="{A1F4265C-3F8E-8AAB-FB18-6F9A7BB5C947}"/>
              </a:ext>
            </a:extLst>
          </p:cNvPr>
          <p:cNvSpPr txBox="1"/>
          <p:nvPr/>
        </p:nvSpPr>
        <p:spPr>
          <a:xfrm>
            <a:off x="8189207" y="1205611"/>
            <a:ext cx="3742131" cy="369332"/>
          </a:xfrm>
          <a:prstGeom prst="rect">
            <a:avLst/>
          </a:prstGeom>
          <a:noFill/>
          <a:ln>
            <a:solidFill>
              <a:srgbClr val="FF0000"/>
            </a:solidFill>
          </a:ln>
        </p:spPr>
        <p:txBody>
          <a:bodyPr wrap="square" rtlCol="0">
            <a:spAutoFit/>
          </a:bodyPr>
          <a:lstStyle/>
          <a:p>
            <a:r>
              <a:rPr lang="en-US" b="1" dirty="0"/>
              <a:t>Test accuracy only reduced by 2%</a:t>
            </a:r>
            <a:endParaRPr lang="en-IN" b="1" dirty="0"/>
          </a:p>
        </p:txBody>
      </p:sp>
    </p:spTree>
    <p:extLst>
      <p:ext uri="{BB962C8B-B14F-4D97-AF65-F5344CB8AC3E}">
        <p14:creationId xmlns:p14="http://schemas.microsoft.com/office/powerpoint/2010/main" val="364055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E2747-DEBC-A458-2E84-8AA89BF0B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F555EC-27BD-BBAC-B238-834B948B4200}"/>
              </a:ext>
            </a:extLst>
          </p:cNvPr>
          <p:cNvSpPr>
            <a:spLocks noGrp="1"/>
          </p:cNvSpPr>
          <p:nvPr>
            <p:ph type="title"/>
          </p:nvPr>
        </p:nvSpPr>
        <p:spPr>
          <a:xfrm>
            <a:off x="473846" y="71394"/>
            <a:ext cx="10515600" cy="855191"/>
          </a:xfrm>
        </p:spPr>
        <p:txBody>
          <a:bodyPr>
            <a:normAutofit/>
          </a:bodyPr>
          <a:lstStyle/>
          <a:p>
            <a:r>
              <a:rPr lang="en-US" sz="3600" dirty="0"/>
              <a:t>Results : FGSM in Presence of Distillation </a:t>
            </a:r>
            <a:endParaRPr lang="en-IN" sz="3600" dirty="0"/>
          </a:p>
        </p:txBody>
      </p:sp>
      <p:graphicFrame>
        <p:nvGraphicFramePr>
          <p:cNvPr id="6" name="Table 5">
            <a:extLst>
              <a:ext uri="{FF2B5EF4-FFF2-40B4-BE49-F238E27FC236}">
                <a16:creationId xmlns:a16="http://schemas.microsoft.com/office/drawing/2014/main" id="{39E42577-446B-7FD1-0689-960CA16EDCD7}"/>
              </a:ext>
            </a:extLst>
          </p:cNvPr>
          <p:cNvGraphicFramePr>
            <a:graphicFrameLocks noGrp="1"/>
          </p:cNvGraphicFramePr>
          <p:nvPr>
            <p:extLst>
              <p:ext uri="{D42A27DB-BD31-4B8C-83A1-F6EECF244321}">
                <p14:modId xmlns:p14="http://schemas.microsoft.com/office/powerpoint/2010/main" val="294118531"/>
              </p:ext>
            </p:extLst>
          </p:nvPr>
        </p:nvGraphicFramePr>
        <p:xfrm>
          <a:off x="864764" y="2367774"/>
          <a:ext cx="4721649" cy="3152927"/>
        </p:xfrm>
        <a:graphic>
          <a:graphicData uri="http://schemas.openxmlformats.org/drawingml/2006/table">
            <a:tbl>
              <a:tblPr firstRow="1" bandRow="1">
                <a:tableStyleId>{5C22544A-7EE6-4342-B048-85BDC9FD1C3A}</a:tableStyleId>
              </a:tblPr>
              <a:tblGrid>
                <a:gridCol w="761548">
                  <a:extLst>
                    <a:ext uri="{9D8B030D-6E8A-4147-A177-3AD203B41FA5}">
                      <a16:colId xmlns:a16="http://schemas.microsoft.com/office/drawing/2014/main" val="3533254067"/>
                    </a:ext>
                  </a:extLst>
                </a:gridCol>
                <a:gridCol w="1366592">
                  <a:extLst>
                    <a:ext uri="{9D8B030D-6E8A-4147-A177-3AD203B41FA5}">
                      <a16:colId xmlns:a16="http://schemas.microsoft.com/office/drawing/2014/main" val="1423626673"/>
                    </a:ext>
                  </a:extLst>
                </a:gridCol>
                <a:gridCol w="1437896">
                  <a:extLst>
                    <a:ext uri="{9D8B030D-6E8A-4147-A177-3AD203B41FA5}">
                      <a16:colId xmlns:a16="http://schemas.microsoft.com/office/drawing/2014/main" val="3303268231"/>
                    </a:ext>
                  </a:extLst>
                </a:gridCol>
                <a:gridCol w="1155613">
                  <a:extLst>
                    <a:ext uri="{9D8B030D-6E8A-4147-A177-3AD203B41FA5}">
                      <a16:colId xmlns:a16="http://schemas.microsoft.com/office/drawing/2014/main" val="3662412736"/>
                    </a:ext>
                  </a:extLst>
                </a:gridCol>
              </a:tblGrid>
              <a:tr h="491520">
                <a:tc>
                  <a:txBody>
                    <a:bodyPr/>
                    <a:lstStyle/>
                    <a:p>
                      <a:pPr algn="ctr"/>
                      <a:r>
                        <a:rPr lang="en-US" sz="1100" dirty="0"/>
                        <a:t>Epsilon</a:t>
                      </a:r>
                      <a:endParaRPr lang="en-IN" sz="1100" dirty="0"/>
                    </a:p>
                  </a:txBody>
                  <a:tcPr/>
                </a:tc>
                <a:tc>
                  <a:txBody>
                    <a:bodyPr/>
                    <a:lstStyle/>
                    <a:p>
                      <a:pPr algn="ctr"/>
                      <a:r>
                        <a:rPr lang="en-US" sz="1100" dirty="0"/>
                        <a:t>No of correctly classified cases </a:t>
                      </a:r>
                      <a:endParaRPr lang="en-IN" sz="1100" dirty="0"/>
                    </a:p>
                  </a:txBody>
                  <a:tcPr/>
                </a:tc>
                <a:tc>
                  <a:txBody>
                    <a:bodyPr/>
                    <a:lstStyle/>
                    <a:p>
                      <a:pPr algn="ctr"/>
                      <a:r>
                        <a:rPr lang="en-US" sz="1100" dirty="0"/>
                        <a:t>Total no of cases </a:t>
                      </a:r>
                      <a:endParaRPr lang="en-IN" sz="1100" dirty="0"/>
                    </a:p>
                  </a:txBody>
                  <a:tcPr/>
                </a:tc>
                <a:tc>
                  <a:txBody>
                    <a:bodyPr/>
                    <a:lstStyle/>
                    <a:p>
                      <a:pPr algn="ctr"/>
                      <a:r>
                        <a:rPr lang="en-US" sz="1100" dirty="0"/>
                        <a:t>Classification accuracy</a:t>
                      </a:r>
                      <a:endParaRPr lang="en-IN" sz="1100" dirty="0"/>
                    </a:p>
                  </a:txBody>
                  <a:tcPr/>
                </a:tc>
                <a:extLst>
                  <a:ext uri="{0D108BD9-81ED-4DB2-BD59-A6C34878D82A}">
                    <a16:rowId xmlns:a16="http://schemas.microsoft.com/office/drawing/2014/main" val="2338343617"/>
                  </a:ext>
                </a:extLst>
              </a:tr>
              <a:tr h="298423">
                <a:tc>
                  <a:txBody>
                    <a:bodyPr/>
                    <a:lstStyle/>
                    <a:p>
                      <a:pPr algn="ctr"/>
                      <a:r>
                        <a:rPr lang="en-US" sz="1100" dirty="0"/>
                        <a:t>0</a:t>
                      </a:r>
                      <a:endParaRPr lang="en-IN" sz="1100" dirty="0"/>
                    </a:p>
                  </a:txBody>
                  <a:tcPr/>
                </a:tc>
                <a:tc>
                  <a:txBody>
                    <a:bodyPr/>
                    <a:lstStyle/>
                    <a:p>
                      <a:pPr algn="ctr"/>
                      <a:r>
                        <a:rPr lang="en-US" sz="1100" dirty="0"/>
                        <a:t>9245</a:t>
                      </a:r>
                      <a:endParaRPr lang="en-IN" sz="1100" dirty="0"/>
                    </a:p>
                  </a:txBody>
                  <a:tcPr/>
                </a:tc>
                <a:tc>
                  <a:txBody>
                    <a:bodyPr/>
                    <a:lstStyle/>
                    <a:p>
                      <a:pPr algn="ctr"/>
                      <a:r>
                        <a:rPr lang="en-US" sz="1100" dirty="0"/>
                        <a:t>1000</a:t>
                      </a:r>
                      <a:endParaRPr lang="en-IN" sz="1100" dirty="0"/>
                    </a:p>
                  </a:txBody>
                  <a:tcPr/>
                </a:tc>
                <a:tc>
                  <a:txBody>
                    <a:bodyPr/>
                    <a:lstStyle/>
                    <a:p>
                      <a:pPr algn="ctr"/>
                      <a:r>
                        <a:rPr lang="en-US" sz="1100" b="1" dirty="0">
                          <a:solidFill>
                            <a:srgbClr val="FF0000"/>
                          </a:solidFill>
                        </a:rPr>
                        <a:t>0.924</a:t>
                      </a:r>
                      <a:endParaRPr lang="en-IN" sz="1100" b="1" dirty="0">
                        <a:solidFill>
                          <a:srgbClr val="FF0000"/>
                        </a:solidFill>
                      </a:endParaRPr>
                    </a:p>
                  </a:txBody>
                  <a:tcPr/>
                </a:tc>
                <a:extLst>
                  <a:ext uri="{0D108BD9-81ED-4DB2-BD59-A6C34878D82A}">
                    <a16:rowId xmlns:a16="http://schemas.microsoft.com/office/drawing/2014/main" val="525200081"/>
                  </a:ext>
                </a:extLst>
              </a:tr>
              <a:tr h="298423">
                <a:tc>
                  <a:txBody>
                    <a:bodyPr/>
                    <a:lstStyle/>
                    <a:p>
                      <a:pPr algn="ctr"/>
                      <a:r>
                        <a:rPr lang="en-US" sz="1100" dirty="0"/>
                        <a:t>0.007</a:t>
                      </a:r>
                      <a:endParaRPr lang="en-IN" sz="1100" dirty="0"/>
                    </a:p>
                  </a:txBody>
                  <a:tcPr/>
                </a:tc>
                <a:tc>
                  <a:txBody>
                    <a:bodyPr/>
                    <a:lstStyle/>
                    <a:p>
                      <a:pPr algn="ctr"/>
                      <a:r>
                        <a:rPr lang="en-US" sz="1100" dirty="0"/>
                        <a:t>9216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0.921</a:t>
                      </a:r>
                      <a:endParaRPr lang="en-IN" sz="1100" dirty="0"/>
                    </a:p>
                  </a:txBody>
                  <a:tcPr/>
                </a:tc>
                <a:extLst>
                  <a:ext uri="{0D108BD9-81ED-4DB2-BD59-A6C34878D82A}">
                    <a16:rowId xmlns:a16="http://schemas.microsoft.com/office/drawing/2014/main" val="3697770996"/>
                  </a:ext>
                </a:extLst>
              </a:tr>
              <a:tr h="298423">
                <a:tc>
                  <a:txBody>
                    <a:bodyPr/>
                    <a:lstStyle/>
                    <a:p>
                      <a:pPr algn="ctr"/>
                      <a:r>
                        <a:rPr lang="en-US" sz="1100" dirty="0"/>
                        <a:t>0.01</a:t>
                      </a:r>
                      <a:endParaRPr lang="en-IN" sz="1100" dirty="0"/>
                    </a:p>
                  </a:txBody>
                  <a:tcPr/>
                </a:tc>
                <a:tc>
                  <a:txBody>
                    <a:bodyPr/>
                    <a:lstStyle/>
                    <a:p>
                      <a:pPr algn="ctr"/>
                      <a:r>
                        <a:rPr lang="en-US" sz="1100" dirty="0"/>
                        <a:t>9207</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0.920</a:t>
                      </a:r>
                      <a:endParaRPr lang="en-IN" sz="1100" dirty="0"/>
                    </a:p>
                  </a:txBody>
                  <a:tcPr/>
                </a:tc>
                <a:extLst>
                  <a:ext uri="{0D108BD9-81ED-4DB2-BD59-A6C34878D82A}">
                    <a16:rowId xmlns:a16="http://schemas.microsoft.com/office/drawing/2014/main" val="1216293369"/>
                  </a:ext>
                </a:extLst>
              </a:tr>
              <a:tr h="298423">
                <a:tc>
                  <a:txBody>
                    <a:bodyPr/>
                    <a:lstStyle/>
                    <a:p>
                      <a:pPr algn="ctr"/>
                      <a:r>
                        <a:rPr lang="en-US" sz="1100" dirty="0"/>
                        <a:t>0.02</a:t>
                      </a:r>
                      <a:endParaRPr lang="en-IN" sz="1100" dirty="0"/>
                    </a:p>
                  </a:txBody>
                  <a:tcPr/>
                </a:tc>
                <a:tc>
                  <a:txBody>
                    <a:bodyPr/>
                    <a:lstStyle/>
                    <a:p>
                      <a:pPr algn="ctr"/>
                      <a:r>
                        <a:rPr lang="en-US" sz="1100" dirty="0"/>
                        <a:t>9241</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0.924</a:t>
                      </a:r>
                      <a:endParaRPr lang="en-IN" sz="1100" dirty="0"/>
                    </a:p>
                  </a:txBody>
                  <a:tcPr/>
                </a:tc>
                <a:extLst>
                  <a:ext uri="{0D108BD9-81ED-4DB2-BD59-A6C34878D82A}">
                    <a16:rowId xmlns:a16="http://schemas.microsoft.com/office/drawing/2014/main" val="1119838115"/>
                  </a:ext>
                </a:extLst>
              </a:tr>
              <a:tr h="298423">
                <a:tc>
                  <a:txBody>
                    <a:bodyPr/>
                    <a:lstStyle/>
                    <a:p>
                      <a:pPr algn="ctr"/>
                      <a:r>
                        <a:rPr lang="en-US" sz="1100" dirty="0"/>
                        <a:t>0.03</a:t>
                      </a:r>
                      <a:endParaRPr lang="en-IN" sz="1100" dirty="0"/>
                    </a:p>
                  </a:txBody>
                  <a:tcPr/>
                </a:tc>
                <a:tc>
                  <a:txBody>
                    <a:bodyPr/>
                    <a:lstStyle/>
                    <a:p>
                      <a:pPr algn="ctr"/>
                      <a:r>
                        <a:rPr lang="en-US" sz="1100" dirty="0"/>
                        <a:t>9196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0.919</a:t>
                      </a:r>
                      <a:endParaRPr lang="en-IN" sz="1100" dirty="0"/>
                    </a:p>
                  </a:txBody>
                  <a:tcPr/>
                </a:tc>
                <a:extLst>
                  <a:ext uri="{0D108BD9-81ED-4DB2-BD59-A6C34878D82A}">
                    <a16:rowId xmlns:a16="http://schemas.microsoft.com/office/drawing/2014/main" val="1393197694"/>
                  </a:ext>
                </a:extLst>
              </a:tr>
              <a:tr h="298423">
                <a:tc>
                  <a:txBody>
                    <a:bodyPr/>
                    <a:lstStyle/>
                    <a:p>
                      <a:pPr algn="ctr"/>
                      <a:r>
                        <a:rPr lang="en-US" sz="1100" dirty="0"/>
                        <a:t>0.05</a:t>
                      </a:r>
                      <a:endParaRPr lang="en-IN" sz="1100" dirty="0"/>
                    </a:p>
                  </a:txBody>
                  <a:tcPr/>
                </a:tc>
                <a:tc>
                  <a:txBody>
                    <a:bodyPr/>
                    <a:lstStyle/>
                    <a:p>
                      <a:pPr algn="ctr"/>
                      <a:r>
                        <a:rPr lang="en-US" sz="1100" dirty="0"/>
                        <a:t>9189</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0.918</a:t>
                      </a:r>
                      <a:endParaRPr lang="en-IN" sz="1100" dirty="0"/>
                    </a:p>
                  </a:txBody>
                  <a:tcPr/>
                </a:tc>
                <a:extLst>
                  <a:ext uri="{0D108BD9-81ED-4DB2-BD59-A6C34878D82A}">
                    <a16:rowId xmlns:a16="http://schemas.microsoft.com/office/drawing/2014/main" val="192899285"/>
                  </a:ext>
                </a:extLst>
              </a:tr>
              <a:tr h="298423">
                <a:tc>
                  <a:txBody>
                    <a:bodyPr/>
                    <a:lstStyle/>
                    <a:p>
                      <a:pPr algn="ctr"/>
                      <a:r>
                        <a:rPr lang="en-US" sz="1100" dirty="0"/>
                        <a:t>0.1</a:t>
                      </a:r>
                      <a:endParaRPr lang="en-IN" sz="1100" dirty="0"/>
                    </a:p>
                  </a:txBody>
                  <a:tcPr/>
                </a:tc>
                <a:tc>
                  <a:txBody>
                    <a:bodyPr/>
                    <a:lstStyle/>
                    <a:p>
                      <a:pPr algn="ctr"/>
                      <a:r>
                        <a:rPr lang="en-US" sz="1100" dirty="0"/>
                        <a:t>9126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0.912</a:t>
                      </a:r>
                      <a:endParaRPr lang="en-IN" sz="1100" dirty="0"/>
                    </a:p>
                  </a:txBody>
                  <a:tcPr/>
                </a:tc>
                <a:extLst>
                  <a:ext uri="{0D108BD9-81ED-4DB2-BD59-A6C34878D82A}">
                    <a16:rowId xmlns:a16="http://schemas.microsoft.com/office/drawing/2014/main" val="3264467183"/>
                  </a:ext>
                </a:extLst>
              </a:tr>
              <a:tr h="298423">
                <a:tc>
                  <a:txBody>
                    <a:bodyPr/>
                    <a:lstStyle/>
                    <a:p>
                      <a:pPr algn="ctr"/>
                      <a:r>
                        <a:rPr lang="en-US" sz="1100" dirty="0"/>
                        <a:t>0.2</a:t>
                      </a:r>
                      <a:endParaRPr lang="en-IN" sz="1100" dirty="0"/>
                    </a:p>
                  </a:txBody>
                  <a:tcPr/>
                </a:tc>
                <a:tc>
                  <a:txBody>
                    <a:bodyPr/>
                    <a:lstStyle/>
                    <a:p>
                      <a:pPr algn="ctr"/>
                      <a:r>
                        <a:rPr lang="en-US" sz="1100" dirty="0"/>
                        <a:t>9046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0.904</a:t>
                      </a:r>
                      <a:endParaRPr lang="en-IN" sz="1100" dirty="0"/>
                    </a:p>
                  </a:txBody>
                  <a:tcPr/>
                </a:tc>
                <a:extLst>
                  <a:ext uri="{0D108BD9-81ED-4DB2-BD59-A6C34878D82A}">
                    <a16:rowId xmlns:a16="http://schemas.microsoft.com/office/drawing/2014/main" val="1984940828"/>
                  </a:ext>
                </a:extLst>
              </a:tr>
              <a:tr h="274023">
                <a:tc>
                  <a:txBody>
                    <a:bodyPr/>
                    <a:lstStyle/>
                    <a:p>
                      <a:pPr algn="ctr"/>
                      <a:r>
                        <a:rPr lang="en-US" sz="1100" dirty="0"/>
                        <a:t>0.3</a:t>
                      </a:r>
                      <a:endParaRPr lang="en-IN" sz="1100" dirty="0"/>
                    </a:p>
                  </a:txBody>
                  <a:tcPr/>
                </a:tc>
                <a:tc>
                  <a:txBody>
                    <a:bodyPr/>
                    <a:lstStyle/>
                    <a:p>
                      <a:pPr algn="ctr"/>
                      <a:r>
                        <a:rPr lang="en-US" sz="1100" dirty="0"/>
                        <a:t>9032</a:t>
                      </a:r>
                      <a:endParaRPr lang="en-IN" sz="1100" dirty="0"/>
                    </a:p>
                  </a:txBody>
                  <a:tcPr/>
                </a:tc>
                <a:tc>
                  <a:txBody>
                    <a:bodyPr/>
                    <a:lstStyle/>
                    <a:p>
                      <a:pPr algn="ctr"/>
                      <a:r>
                        <a:rPr lang="en-US" sz="1100" dirty="0"/>
                        <a:t>1000</a:t>
                      </a:r>
                      <a:endParaRPr lang="en-IN" sz="1100" dirty="0"/>
                    </a:p>
                  </a:txBody>
                  <a:tcPr/>
                </a:tc>
                <a:tc>
                  <a:txBody>
                    <a:bodyPr/>
                    <a:lstStyle/>
                    <a:p>
                      <a:pPr algn="ctr"/>
                      <a:r>
                        <a:rPr lang="en-US" sz="1100" b="1" dirty="0">
                          <a:solidFill>
                            <a:srgbClr val="FF0000"/>
                          </a:solidFill>
                        </a:rPr>
                        <a:t>0.903</a:t>
                      </a:r>
                      <a:endParaRPr lang="en-IN" sz="1100" b="1" dirty="0">
                        <a:solidFill>
                          <a:srgbClr val="FF0000"/>
                        </a:solidFill>
                      </a:endParaRPr>
                    </a:p>
                  </a:txBody>
                  <a:tcPr/>
                </a:tc>
                <a:extLst>
                  <a:ext uri="{0D108BD9-81ED-4DB2-BD59-A6C34878D82A}">
                    <a16:rowId xmlns:a16="http://schemas.microsoft.com/office/drawing/2014/main" val="165681436"/>
                  </a:ext>
                </a:extLst>
              </a:tr>
            </a:tbl>
          </a:graphicData>
        </a:graphic>
      </p:graphicFrame>
      <p:sp>
        <p:nvSpPr>
          <p:cNvPr id="9" name="TextBox 8">
            <a:extLst>
              <a:ext uri="{FF2B5EF4-FFF2-40B4-BE49-F238E27FC236}">
                <a16:creationId xmlns:a16="http://schemas.microsoft.com/office/drawing/2014/main" id="{20864C2C-8593-1CF9-7300-69AEAFF4E79D}"/>
              </a:ext>
            </a:extLst>
          </p:cNvPr>
          <p:cNvSpPr txBox="1"/>
          <p:nvPr/>
        </p:nvSpPr>
        <p:spPr>
          <a:xfrm>
            <a:off x="1057770" y="5772067"/>
            <a:ext cx="3900492" cy="523220"/>
          </a:xfrm>
          <a:prstGeom prst="rect">
            <a:avLst/>
          </a:prstGeom>
          <a:noFill/>
          <a:ln>
            <a:solidFill>
              <a:schemeClr val="tx1"/>
            </a:solidFill>
          </a:ln>
        </p:spPr>
        <p:txBody>
          <a:bodyPr wrap="square" rtlCol="0">
            <a:spAutoFit/>
          </a:bodyPr>
          <a:lstStyle/>
          <a:p>
            <a:pPr algn="ctr"/>
            <a:r>
              <a:rPr lang="en-US" sz="1400" b="1" dirty="0"/>
              <a:t>The effect of the FGSM attack on the classification performance </a:t>
            </a:r>
            <a:r>
              <a:rPr lang="en-IN" sz="1400" b="1" dirty="0"/>
              <a:t>of DNN</a:t>
            </a:r>
            <a:endParaRPr lang="en-US" sz="1400" b="1" dirty="0"/>
          </a:p>
        </p:txBody>
      </p:sp>
      <p:sp>
        <p:nvSpPr>
          <p:cNvPr id="14" name="TextBox 13">
            <a:extLst>
              <a:ext uri="{FF2B5EF4-FFF2-40B4-BE49-F238E27FC236}">
                <a16:creationId xmlns:a16="http://schemas.microsoft.com/office/drawing/2014/main" id="{209BE4E6-B1F0-B6A4-1E38-5348AE8AFF5A}"/>
              </a:ext>
            </a:extLst>
          </p:cNvPr>
          <p:cNvSpPr txBox="1"/>
          <p:nvPr/>
        </p:nvSpPr>
        <p:spPr>
          <a:xfrm>
            <a:off x="864764" y="1931742"/>
            <a:ext cx="3555896" cy="307777"/>
          </a:xfrm>
          <a:prstGeom prst="rect">
            <a:avLst/>
          </a:prstGeom>
          <a:noFill/>
        </p:spPr>
        <p:txBody>
          <a:bodyPr wrap="square" rtlCol="0">
            <a:spAutoFit/>
          </a:bodyPr>
          <a:lstStyle/>
          <a:p>
            <a:r>
              <a:rPr lang="en-US" sz="1400" b="1" dirty="0"/>
              <a:t>Inference on Test set </a:t>
            </a:r>
            <a:r>
              <a:rPr lang="en-US" sz="1400" dirty="0"/>
              <a:t>: </a:t>
            </a:r>
            <a:endParaRPr lang="en-IN" sz="1400" dirty="0"/>
          </a:p>
        </p:txBody>
      </p:sp>
      <p:sp>
        <p:nvSpPr>
          <p:cNvPr id="23" name="TextBox 22">
            <a:extLst>
              <a:ext uri="{FF2B5EF4-FFF2-40B4-BE49-F238E27FC236}">
                <a16:creationId xmlns:a16="http://schemas.microsoft.com/office/drawing/2014/main" id="{4FDE6BE1-09AC-7A5B-97B0-D0A4C9DCF149}"/>
              </a:ext>
            </a:extLst>
          </p:cNvPr>
          <p:cNvSpPr txBox="1"/>
          <p:nvPr/>
        </p:nvSpPr>
        <p:spPr>
          <a:xfrm>
            <a:off x="2642712" y="1231134"/>
            <a:ext cx="3742131" cy="369332"/>
          </a:xfrm>
          <a:prstGeom prst="rect">
            <a:avLst/>
          </a:prstGeom>
          <a:noFill/>
          <a:ln>
            <a:solidFill>
              <a:srgbClr val="FF0000"/>
            </a:solidFill>
          </a:ln>
        </p:spPr>
        <p:txBody>
          <a:bodyPr wrap="square" rtlCol="0">
            <a:spAutoFit/>
          </a:bodyPr>
          <a:lstStyle/>
          <a:p>
            <a:r>
              <a:rPr lang="en-US" b="1" dirty="0"/>
              <a:t>Test accuracy only reduced by 2%</a:t>
            </a:r>
            <a:endParaRPr lang="en-IN" b="1" dirty="0"/>
          </a:p>
        </p:txBody>
      </p:sp>
      <p:sp>
        <p:nvSpPr>
          <p:cNvPr id="3" name="TextBox 2">
            <a:extLst>
              <a:ext uri="{FF2B5EF4-FFF2-40B4-BE49-F238E27FC236}">
                <a16:creationId xmlns:a16="http://schemas.microsoft.com/office/drawing/2014/main" id="{52BD12C5-6E01-D584-1493-EC02AC88F129}"/>
              </a:ext>
            </a:extLst>
          </p:cNvPr>
          <p:cNvSpPr txBox="1"/>
          <p:nvPr/>
        </p:nvSpPr>
        <p:spPr>
          <a:xfrm>
            <a:off x="6384843" y="2682353"/>
            <a:ext cx="4604603" cy="2523768"/>
          </a:xfrm>
          <a:prstGeom prst="rect">
            <a:avLst/>
          </a:prstGeom>
          <a:noFill/>
          <a:ln>
            <a:solidFill>
              <a:schemeClr val="tx1"/>
            </a:solidFill>
          </a:ln>
        </p:spPr>
        <p:txBody>
          <a:bodyPr wrap="square" rtlCol="0">
            <a:spAutoFit/>
          </a:bodyPr>
          <a:lstStyle/>
          <a:p>
            <a:r>
              <a:rPr lang="en-US" sz="2000" b="1" dirty="0"/>
              <a:t>Observation </a:t>
            </a:r>
            <a:r>
              <a:rPr lang="en-US" sz="2000" dirty="0"/>
              <a:t>: The distilled network seems to be robust in defending against the adversarial samples created by the FGSM attack. The classification accuracy of the distilled network even at 30% noise level is found to be as high as 0.903. </a:t>
            </a:r>
          </a:p>
          <a:p>
            <a:endParaRPr lang="en-IN" dirty="0"/>
          </a:p>
        </p:txBody>
      </p:sp>
    </p:spTree>
    <p:extLst>
      <p:ext uri="{BB962C8B-B14F-4D97-AF65-F5344CB8AC3E}">
        <p14:creationId xmlns:p14="http://schemas.microsoft.com/office/powerpoint/2010/main" val="2895506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85D7C-6E85-33EC-A278-974F58E4D7A8}"/>
              </a:ext>
            </a:extLst>
          </p:cNvPr>
          <p:cNvSpPr>
            <a:spLocks noGrp="1"/>
          </p:cNvSpPr>
          <p:nvPr>
            <p:ph type="title"/>
          </p:nvPr>
        </p:nvSpPr>
        <p:spPr/>
        <p:txBody>
          <a:bodyPr/>
          <a:lstStyle/>
          <a:p>
            <a:r>
              <a:rPr lang="en-US" dirty="0"/>
              <a:t>Thank you !</a:t>
            </a:r>
            <a:endParaRPr lang="en-IN" dirty="0"/>
          </a:p>
        </p:txBody>
      </p:sp>
      <p:sp>
        <p:nvSpPr>
          <p:cNvPr id="3" name="TextBox 2">
            <a:extLst>
              <a:ext uri="{FF2B5EF4-FFF2-40B4-BE49-F238E27FC236}">
                <a16:creationId xmlns:a16="http://schemas.microsoft.com/office/drawing/2014/main" id="{0FAC4A25-54AF-5754-D1F5-3AFF54901FB9}"/>
              </a:ext>
            </a:extLst>
          </p:cNvPr>
          <p:cNvSpPr txBox="1"/>
          <p:nvPr/>
        </p:nvSpPr>
        <p:spPr>
          <a:xfrm>
            <a:off x="438539" y="6176865"/>
            <a:ext cx="4226767" cy="369332"/>
          </a:xfrm>
          <a:prstGeom prst="rect">
            <a:avLst/>
          </a:prstGeom>
          <a:noFill/>
        </p:spPr>
        <p:txBody>
          <a:bodyPr wrap="square" rtlCol="0">
            <a:spAutoFit/>
          </a:bodyPr>
          <a:lstStyle/>
          <a:p>
            <a:r>
              <a:rPr lang="en-IN" dirty="0"/>
              <a:t>https://arxiv.org/abs/1511.04508</a:t>
            </a:r>
          </a:p>
        </p:txBody>
      </p:sp>
    </p:spTree>
    <p:extLst>
      <p:ext uri="{BB962C8B-B14F-4D97-AF65-F5344CB8AC3E}">
        <p14:creationId xmlns:p14="http://schemas.microsoft.com/office/powerpoint/2010/main" val="29968069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F5E965-6EA3-41FC-B045-E7AEFE040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8FFD5-F95B-4734-8BC7-FA9B32966D97}"/>
              </a:ext>
            </a:extLst>
          </p:cNvPr>
          <p:cNvSpPr>
            <a:spLocks noGrp="1"/>
          </p:cNvSpPr>
          <p:nvPr>
            <p:ph type="title"/>
          </p:nvPr>
        </p:nvSpPr>
        <p:spPr>
          <a:xfrm>
            <a:off x="473846" y="71394"/>
            <a:ext cx="10515600" cy="855191"/>
          </a:xfrm>
        </p:spPr>
        <p:txBody>
          <a:bodyPr>
            <a:normAutofit/>
          </a:bodyPr>
          <a:lstStyle/>
          <a:p>
            <a:r>
              <a:rPr lang="en-US" sz="3600" dirty="0"/>
              <a:t>Results : FGSM in Presence of Distillation </a:t>
            </a:r>
            <a:endParaRPr lang="en-IN" sz="3600" dirty="0"/>
          </a:p>
        </p:txBody>
      </p:sp>
      <p:graphicFrame>
        <p:nvGraphicFramePr>
          <p:cNvPr id="6" name="Table 5">
            <a:extLst>
              <a:ext uri="{FF2B5EF4-FFF2-40B4-BE49-F238E27FC236}">
                <a16:creationId xmlns:a16="http://schemas.microsoft.com/office/drawing/2014/main" id="{BFD16FCA-C856-7C17-51B0-C8CE2E156407}"/>
              </a:ext>
            </a:extLst>
          </p:cNvPr>
          <p:cNvGraphicFramePr>
            <a:graphicFrameLocks noGrp="1"/>
          </p:cNvGraphicFramePr>
          <p:nvPr>
            <p:extLst>
              <p:ext uri="{D42A27DB-BD31-4B8C-83A1-F6EECF244321}">
                <p14:modId xmlns:p14="http://schemas.microsoft.com/office/powerpoint/2010/main" val="2158819243"/>
              </p:ext>
            </p:extLst>
          </p:nvPr>
        </p:nvGraphicFramePr>
        <p:xfrm>
          <a:off x="864764" y="2367774"/>
          <a:ext cx="4721649" cy="3152927"/>
        </p:xfrm>
        <a:graphic>
          <a:graphicData uri="http://schemas.openxmlformats.org/drawingml/2006/table">
            <a:tbl>
              <a:tblPr firstRow="1" bandRow="1">
                <a:tableStyleId>{5C22544A-7EE6-4342-B048-85BDC9FD1C3A}</a:tableStyleId>
              </a:tblPr>
              <a:tblGrid>
                <a:gridCol w="761548">
                  <a:extLst>
                    <a:ext uri="{9D8B030D-6E8A-4147-A177-3AD203B41FA5}">
                      <a16:colId xmlns:a16="http://schemas.microsoft.com/office/drawing/2014/main" val="3533254067"/>
                    </a:ext>
                  </a:extLst>
                </a:gridCol>
                <a:gridCol w="1366592">
                  <a:extLst>
                    <a:ext uri="{9D8B030D-6E8A-4147-A177-3AD203B41FA5}">
                      <a16:colId xmlns:a16="http://schemas.microsoft.com/office/drawing/2014/main" val="1423626673"/>
                    </a:ext>
                  </a:extLst>
                </a:gridCol>
                <a:gridCol w="1437896">
                  <a:extLst>
                    <a:ext uri="{9D8B030D-6E8A-4147-A177-3AD203B41FA5}">
                      <a16:colId xmlns:a16="http://schemas.microsoft.com/office/drawing/2014/main" val="3303268231"/>
                    </a:ext>
                  </a:extLst>
                </a:gridCol>
                <a:gridCol w="1155613">
                  <a:extLst>
                    <a:ext uri="{9D8B030D-6E8A-4147-A177-3AD203B41FA5}">
                      <a16:colId xmlns:a16="http://schemas.microsoft.com/office/drawing/2014/main" val="3662412736"/>
                    </a:ext>
                  </a:extLst>
                </a:gridCol>
              </a:tblGrid>
              <a:tr h="491520">
                <a:tc>
                  <a:txBody>
                    <a:bodyPr/>
                    <a:lstStyle/>
                    <a:p>
                      <a:pPr algn="ctr"/>
                      <a:r>
                        <a:rPr lang="en-US" sz="1100" dirty="0"/>
                        <a:t>Epsilon</a:t>
                      </a:r>
                      <a:endParaRPr lang="en-IN" sz="1100" dirty="0"/>
                    </a:p>
                  </a:txBody>
                  <a:tcPr/>
                </a:tc>
                <a:tc>
                  <a:txBody>
                    <a:bodyPr/>
                    <a:lstStyle/>
                    <a:p>
                      <a:pPr algn="ctr"/>
                      <a:r>
                        <a:rPr lang="en-US" sz="1100" dirty="0"/>
                        <a:t>No of correctly classified cases </a:t>
                      </a:r>
                      <a:endParaRPr lang="en-IN" sz="1100" dirty="0"/>
                    </a:p>
                  </a:txBody>
                  <a:tcPr/>
                </a:tc>
                <a:tc>
                  <a:txBody>
                    <a:bodyPr/>
                    <a:lstStyle/>
                    <a:p>
                      <a:pPr algn="ctr"/>
                      <a:r>
                        <a:rPr lang="en-US" sz="1100" dirty="0"/>
                        <a:t>Total no of cases </a:t>
                      </a:r>
                      <a:endParaRPr lang="en-IN" sz="1100" dirty="0"/>
                    </a:p>
                  </a:txBody>
                  <a:tcPr/>
                </a:tc>
                <a:tc>
                  <a:txBody>
                    <a:bodyPr/>
                    <a:lstStyle/>
                    <a:p>
                      <a:pPr algn="ctr"/>
                      <a:r>
                        <a:rPr lang="en-US" sz="1100" dirty="0"/>
                        <a:t>Classification accuracy</a:t>
                      </a:r>
                      <a:endParaRPr lang="en-IN" sz="1100" dirty="0"/>
                    </a:p>
                  </a:txBody>
                  <a:tcPr/>
                </a:tc>
                <a:extLst>
                  <a:ext uri="{0D108BD9-81ED-4DB2-BD59-A6C34878D82A}">
                    <a16:rowId xmlns:a16="http://schemas.microsoft.com/office/drawing/2014/main" val="2338343617"/>
                  </a:ext>
                </a:extLst>
              </a:tr>
              <a:tr h="298423">
                <a:tc>
                  <a:txBody>
                    <a:bodyPr/>
                    <a:lstStyle/>
                    <a:p>
                      <a:pPr algn="ctr"/>
                      <a:r>
                        <a:rPr lang="en-US" sz="1100" dirty="0"/>
                        <a:t>0</a:t>
                      </a:r>
                      <a:endParaRPr lang="en-IN" sz="1100" dirty="0"/>
                    </a:p>
                  </a:txBody>
                  <a:tcPr/>
                </a:tc>
                <a:tc>
                  <a:txBody>
                    <a:bodyPr/>
                    <a:lstStyle/>
                    <a:p>
                      <a:pPr algn="ctr"/>
                      <a:r>
                        <a:rPr lang="en-US" sz="1100" dirty="0"/>
                        <a:t>9245</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0.924</a:t>
                      </a:r>
                      <a:endParaRPr lang="en-IN" sz="1100" dirty="0"/>
                    </a:p>
                  </a:txBody>
                  <a:tcPr/>
                </a:tc>
                <a:extLst>
                  <a:ext uri="{0D108BD9-81ED-4DB2-BD59-A6C34878D82A}">
                    <a16:rowId xmlns:a16="http://schemas.microsoft.com/office/drawing/2014/main" val="525200081"/>
                  </a:ext>
                </a:extLst>
              </a:tr>
              <a:tr h="298423">
                <a:tc>
                  <a:txBody>
                    <a:bodyPr/>
                    <a:lstStyle/>
                    <a:p>
                      <a:pPr algn="ctr"/>
                      <a:r>
                        <a:rPr lang="en-US" sz="1100" dirty="0"/>
                        <a:t>0.007</a:t>
                      </a:r>
                      <a:endParaRPr lang="en-IN" sz="1100" dirty="0"/>
                    </a:p>
                  </a:txBody>
                  <a:tcPr/>
                </a:tc>
                <a:tc>
                  <a:txBody>
                    <a:bodyPr/>
                    <a:lstStyle/>
                    <a:p>
                      <a:pPr algn="ctr"/>
                      <a:r>
                        <a:rPr lang="en-US" sz="1100" dirty="0"/>
                        <a:t>9216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0.921</a:t>
                      </a:r>
                      <a:endParaRPr lang="en-IN" sz="1100" dirty="0"/>
                    </a:p>
                  </a:txBody>
                  <a:tcPr/>
                </a:tc>
                <a:extLst>
                  <a:ext uri="{0D108BD9-81ED-4DB2-BD59-A6C34878D82A}">
                    <a16:rowId xmlns:a16="http://schemas.microsoft.com/office/drawing/2014/main" val="3697770996"/>
                  </a:ext>
                </a:extLst>
              </a:tr>
              <a:tr h="298423">
                <a:tc>
                  <a:txBody>
                    <a:bodyPr/>
                    <a:lstStyle/>
                    <a:p>
                      <a:pPr algn="ctr"/>
                      <a:r>
                        <a:rPr lang="en-US" sz="1100" dirty="0"/>
                        <a:t>0.01</a:t>
                      </a:r>
                      <a:endParaRPr lang="en-IN" sz="1100" dirty="0"/>
                    </a:p>
                  </a:txBody>
                  <a:tcPr/>
                </a:tc>
                <a:tc>
                  <a:txBody>
                    <a:bodyPr/>
                    <a:lstStyle/>
                    <a:p>
                      <a:pPr algn="ctr"/>
                      <a:r>
                        <a:rPr lang="en-US" sz="1100" dirty="0"/>
                        <a:t>9207</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0.920</a:t>
                      </a:r>
                      <a:endParaRPr lang="en-IN" sz="1100" dirty="0"/>
                    </a:p>
                  </a:txBody>
                  <a:tcPr/>
                </a:tc>
                <a:extLst>
                  <a:ext uri="{0D108BD9-81ED-4DB2-BD59-A6C34878D82A}">
                    <a16:rowId xmlns:a16="http://schemas.microsoft.com/office/drawing/2014/main" val="1216293369"/>
                  </a:ext>
                </a:extLst>
              </a:tr>
              <a:tr h="298423">
                <a:tc>
                  <a:txBody>
                    <a:bodyPr/>
                    <a:lstStyle/>
                    <a:p>
                      <a:pPr algn="ctr"/>
                      <a:r>
                        <a:rPr lang="en-US" sz="1100" dirty="0"/>
                        <a:t>0.02</a:t>
                      </a:r>
                      <a:endParaRPr lang="en-IN" sz="1100" dirty="0"/>
                    </a:p>
                  </a:txBody>
                  <a:tcPr/>
                </a:tc>
                <a:tc>
                  <a:txBody>
                    <a:bodyPr/>
                    <a:lstStyle/>
                    <a:p>
                      <a:pPr algn="ctr"/>
                      <a:r>
                        <a:rPr lang="en-US" sz="1100" dirty="0"/>
                        <a:t>9241</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0.924</a:t>
                      </a:r>
                      <a:endParaRPr lang="en-IN" sz="1100" dirty="0"/>
                    </a:p>
                  </a:txBody>
                  <a:tcPr/>
                </a:tc>
                <a:extLst>
                  <a:ext uri="{0D108BD9-81ED-4DB2-BD59-A6C34878D82A}">
                    <a16:rowId xmlns:a16="http://schemas.microsoft.com/office/drawing/2014/main" val="1119838115"/>
                  </a:ext>
                </a:extLst>
              </a:tr>
              <a:tr h="298423">
                <a:tc>
                  <a:txBody>
                    <a:bodyPr/>
                    <a:lstStyle/>
                    <a:p>
                      <a:pPr algn="ctr"/>
                      <a:r>
                        <a:rPr lang="en-US" sz="1100" dirty="0"/>
                        <a:t>0.03</a:t>
                      </a:r>
                      <a:endParaRPr lang="en-IN" sz="1100" dirty="0"/>
                    </a:p>
                  </a:txBody>
                  <a:tcPr/>
                </a:tc>
                <a:tc>
                  <a:txBody>
                    <a:bodyPr/>
                    <a:lstStyle/>
                    <a:p>
                      <a:pPr algn="ctr"/>
                      <a:r>
                        <a:rPr lang="en-US" sz="1100" dirty="0"/>
                        <a:t>9196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0.919</a:t>
                      </a:r>
                      <a:endParaRPr lang="en-IN" sz="1100" dirty="0"/>
                    </a:p>
                  </a:txBody>
                  <a:tcPr/>
                </a:tc>
                <a:extLst>
                  <a:ext uri="{0D108BD9-81ED-4DB2-BD59-A6C34878D82A}">
                    <a16:rowId xmlns:a16="http://schemas.microsoft.com/office/drawing/2014/main" val="1393197694"/>
                  </a:ext>
                </a:extLst>
              </a:tr>
              <a:tr h="298423">
                <a:tc>
                  <a:txBody>
                    <a:bodyPr/>
                    <a:lstStyle/>
                    <a:p>
                      <a:pPr algn="ctr"/>
                      <a:r>
                        <a:rPr lang="en-US" sz="1100" dirty="0"/>
                        <a:t>0.05</a:t>
                      </a:r>
                      <a:endParaRPr lang="en-IN" sz="1100" dirty="0"/>
                    </a:p>
                  </a:txBody>
                  <a:tcPr/>
                </a:tc>
                <a:tc>
                  <a:txBody>
                    <a:bodyPr/>
                    <a:lstStyle/>
                    <a:p>
                      <a:pPr algn="ctr"/>
                      <a:r>
                        <a:rPr lang="en-US" sz="1100" dirty="0"/>
                        <a:t>9189</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0.918</a:t>
                      </a:r>
                      <a:endParaRPr lang="en-IN" sz="1100" dirty="0"/>
                    </a:p>
                  </a:txBody>
                  <a:tcPr/>
                </a:tc>
                <a:extLst>
                  <a:ext uri="{0D108BD9-81ED-4DB2-BD59-A6C34878D82A}">
                    <a16:rowId xmlns:a16="http://schemas.microsoft.com/office/drawing/2014/main" val="192899285"/>
                  </a:ext>
                </a:extLst>
              </a:tr>
              <a:tr h="298423">
                <a:tc>
                  <a:txBody>
                    <a:bodyPr/>
                    <a:lstStyle/>
                    <a:p>
                      <a:pPr algn="ctr"/>
                      <a:r>
                        <a:rPr lang="en-US" sz="1100" dirty="0"/>
                        <a:t>0.1</a:t>
                      </a:r>
                      <a:endParaRPr lang="en-IN" sz="1100" dirty="0"/>
                    </a:p>
                  </a:txBody>
                  <a:tcPr/>
                </a:tc>
                <a:tc>
                  <a:txBody>
                    <a:bodyPr/>
                    <a:lstStyle/>
                    <a:p>
                      <a:pPr algn="ctr"/>
                      <a:r>
                        <a:rPr lang="en-US" sz="1100" dirty="0"/>
                        <a:t>9126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0.912</a:t>
                      </a:r>
                      <a:endParaRPr lang="en-IN" sz="1100" dirty="0"/>
                    </a:p>
                  </a:txBody>
                  <a:tcPr/>
                </a:tc>
                <a:extLst>
                  <a:ext uri="{0D108BD9-81ED-4DB2-BD59-A6C34878D82A}">
                    <a16:rowId xmlns:a16="http://schemas.microsoft.com/office/drawing/2014/main" val="3264467183"/>
                  </a:ext>
                </a:extLst>
              </a:tr>
              <a:tr h="298423">
                <a:tc>
                  <a:txBody>
                    <a:bodyPr/>
                    <a:lstStyle/>
                    <a:p>
                      <a:pPr algn="ctr"/>
                      <a:r>
                        <a:rPr lang="en-US" sz="1100" dirty="0"/>
                        <a:t>0.2</a:t>
                      </a:r>
                      <a:endParaRPr lang="en-IN" sz="1100" dirty="0"/>
                    </a:p>
                  </a:txBody>
                  <a:tcPr/>
                </a:tc>
                <a:tc>
                  <a:txBody>
                    <a:bodyPr/>
                    <a:lstStyle/>
                    <a:p>
                      <a:pPr algn="ctr"/>
                      <a:r>
                        <a:rPr lang="en-US" sz="1100" dirty="0"/>
                        <a:t>9046</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0.904</a:t>
                      </a:r>
                      <a:endParaRPr lang="en-IN" sz="1100" dirty="0"/>
                    </a:p>
                  </a:txBody>
                  <a:tcPr/>
                </a:tc>
                <a:extLst>
                  <a:ext uri="{0D108BD9-81ED-4DB2-BD59-A6C34878D82A}">
                    <a16:rowId xmlns:a16="http://schemas.microsoft.com/office/drawing/2014/main" val="1984940828"/>
                  </a:ext>
                </a:extLst>
              </a:tr>
              <a:tr h="274023">
                <a:tc>
                  <a:txBody>
                    <a:bodyPr/>
                    <a:lstStyle/>
                    <a:p>
                      <a:pPr algn="ctr"/>
                      <a:r>
                        <a:rPr lang="en-US" sz="1100" dirty="0"/>
                        <a:t>0.3</a:t>
                      </a:r>
                      <a:endParaRPr lang="en-IN" sz="1100" dirty="0"/>
                    </a:p>
                  </a:txBody>
                  <a:tcPr/>
                </a:tc>
                <a:tc>
                  <a:txBody>
                    <a:bodyPr/>
                    <a:lstStyle/>
                    <a:p>
                      <a:pPr algn="ctr"/>
                      <a:r>
                        <a:rPr lang="en-US" sz="1100" dirty="0"/>
                        <a:t>9032</a:t>
                      </a:r>
                      <a:endParaRPr lang="en-IN" sz="1100" dirty="0"/>
                    </a:p>
                  </a:txBody>
                  <a:tcPr/>
                </a:tc>
                <a:tc>
                  <a:txBody>
                    <a:bodyPr/>
                    <a:lstStyle/>
                    <a:p>
                      <a:pPr algn="ctr"/>
                      <a:r>
                        <a:rPr lang="en-US" sz="1100" dirty="0"/>
                        <a:t>1000</a:t>
                      </a:r>
                      <a:endParaRPr lang="en-IN" sz="1100" dirty="0"/>
                    </a:p>
                  </a:txBody>
                  <a:tcPr/>
                </a:tc>
                <a:tc>
                  <a:txBody>
                    <a:bodyPr/>
                    <a:lstStyle/>
                    <a:p>
                      <a:pPr algn="ctr"/>
                      <a:r>
                        <a:rPr lang="en-US" sz="1100" dirty="0"/>
                        <a:t>0.903</a:t>
                      </a:r>
                      <a:endParaRPr lang="en-IN" sz="1100" dirty="0"/>
                    </a:p>
                  </a:txBody>
                  <a:tcPr/>
                </a:tc>
                <a:extLst>
                  <a:ext uri="{0D108BD9-81ED-4DB2-BD59-A6C34878D82A}">
                    <a16:rowId xmlns:a16="http://schemas.microsoft.com/office/drawing/2014/main" val="165681436"/>
                  </a:ext>
                </a:extLst>
              </a:tr>
            </a:tbl>
          </a:graphicData>
        </a:graphic>
      </p:graphicFrame>
      <p:sp>
        <p:nvSpPr>
          <p:cNvPr id="9" name="TextBox 8">
            <a:extLst>
              <a:ext uri="{FF2B5EF4-FFF2-40B4-BE49-F238E27FC236}">
                <a16:creationId xmlns:a16="http://schemas.microsoft.com/office/drawing/2014/main" id="{97857833-2ABD-A256-4E6B-AEC81387AA6A}"/>
              </a:ext>
            </a:extLst>
          </p:cNvPr>
          <p:cNvSpPr txBox="1"/>
          <p:nvPr/>
        </p:nvSpPr>
        <p:spPr>
          <a:xfrm>
            <a:off x="1057770" y="5772067"/>
            <a:ext cx="3900492" cy="523220"/>
          </a:xfrm>
          <a:prstGeom prst="rect">
            <a:avLst/>
          </a:prstGeom>
          <a:noFill/>
          <a:ln>
            <a:solidFill>
              <a:schemeClr val="tx1"/>
            </a:solidFill>
          </a:ln>
        </p:spPr>
        <p:txBody>
          <a:bodyPr wrap="square" rtlCol="0">
            <a:spAutoFit/>
          </a:bodyPr>
          <a:lstStyle/>
          <a:p>
            <a:pPr algn="ctr"/>
            <a:r>
              <a:rPr lang="en-US" sz="1400" b="1" dirty="0"/>
              <a:t>The effect of the FGSM attack on the classification performance </a:t>
            </a:r>
            <a:r>
              <a:rPr lang="en-IN" sz="1400" b="1" dirty="0"/>
              <a:t>of DNN</a:t>
            </a:r>
            <a:endParaRPr lang="en-US" sz="1400" b="1" dirty="0"/>
          </a:p>
        </p:txBody>
      </p:sp>
      <p:sp>
        <p:nvSpPr>
          <p:cNvPr id="14" name="TextBox 13">
            <a:extLst>
              <a:ext uri="{FF2B5EF4-FFF2-40B4-BE49-F238E27FC236}">
                <a16:creationId xmlns:a16="http://schemas.microsoft.com/office/drawing/2014/main" id="{D7A09D7E-C1DC-F7C0-C1C5-FA49C74EC88C}"/>
              </a:ext>
            </a:extLst>
          </p:cNvPr>
          <p:cNvSpPr txBox="1"/>
          <p:nvPr/>
        </p:nvSpPr>
        <p:spPr>
          <a:xfrm>
            <a:off x="864764" y="1931742"/>
            <a:ext cx="3555896" cy="307777"/>
          </a:xfrm>
          <a:prstGeom prst="rect">
            <a:avLst/>
          </a:prstGeom>
          <a:noFill/>
        </p:spPr>
        <p:txBody>
          <a:bodyPr wrap="square" rtlCol="0">
            <a:spAutoFit/>
          </a:bodyPr>
          <a:lstStyle/>
          <a:p>
            <a:r>
              <a:rPr lang="en-US" sz="1400" b="1" dirty="0"/>
              <a:t>Inference on Test set </a:t>
            </a:r>
            <a:r>
              <a:rPr lang="en-US" sz="1400" dirty="0"/>
              <a:t>: </a:t>
            </a:r>
            <a:endParaRPr lang="en-IN" sz="1400" dirty="0"/>
          </a:p>
        </p:txBody>
      </p:sp>
      <p:sp>
        <p:nvSpPr>
          <p:cNvPr id="23" name="TextBox 22">
            <a:extLst>
              <a:ext uri="{FF2B5EF4-FFF2-40B4-BE49-F238E27FC236}">
                <a16:creationId xmlns:a16="http://schemas.microsoft.com/office/drawing/2014/main" id="{96170F62-6679-F725-EDC3-E352FE84018B}"/>
              </a:ext>
            </a:extLst>
          </p:cNvPr>
          <p:cNvSpPr txBox="1"/>
          <p:nvPr/>
        </p:nvSpPr>
        <p:spPr>
          <a:xfrm>
            <a:off x="2642712" y="1231134"/>
            <a:ext cx="3742131" cy="369332"/>
          </a:xfrm>
          <a:prstGeom prst="rect">
            <a:avLst/>
          </a:prstGeom>
          <a:noFill/>
          <a:ln>
            <a:solidFill>
              <a:srgbClr val="FF0000"/>
            </a:solidFill>
          </a:ln>
        </p:spPr>
        <p:txBody>
          <a:bodyPr wrap="square" rtlCol="0">
            <a:spAutoFit/>
          </a:bodyPr>
          <a:lstStyle/>
          <a:p>
            <a:r>
              <a:rPr lang="en-US" b="1" dirty="0"/>
              <a:t>Test accuracy only reduced by 2%</a:t>
            </a:r>
            <a:endParaRPr lang="en-IN" b="1" dirty="0"/>
          </a:p>
        </p:txBody>
      </p:sp>
      <p:pic>
        <p:nvPicPr>
          <p:cNvPr id="8" name="Picture 7">
            <a:extLst>
              <a:ext uri="{FF2B5EF4-FFF2-40B4-BE49-F238E27FC236}">
                <a16:creationId xmlns:a16="http://schemas.microsoft.com/office/drawing/2014/main" id="{2832474A-C845-E471-FCE5-80750107AD9F}"/>
              </a:ext>
            </a:extLst>
          </p:cNvPr>
          <p:cNvPicPr>
            <a:picLocks noChangeAspect="1"/>
          </p:cNvPicPr>
          <p:nvPr/>
        </p:nvPicPr>
        <p:blipFill>
          <a:blip r:embed="rId3"/>
          <a:stretch>
            <a:fillRect/>
          </a:stretch>
        </p:blipFill>
        <p:spPr>
          <a:xfrm>
            <a:off x="7551909" y="1038503"/>
            <a:ext cx="3775327" cy="5256784"/>
          </a:xfrm>
          <a:prstGeom prst="rect">
            <a:avLst/>
          </a:prstGeom>
        </p:spPr>
      </p:pic>
      <p:sp>
        <p:nvSpPr>
          <p:cNvPr id="13" name="TextBox 12">
            <a:extLst>
              <a:ext uri="{FF2B5EF4-FFF2-40B4-BE49-F238E27FC236}">
                <a16:creationId xmlns:a16="http://schemas.microsoft.com/office/drawing/2014/main" id="{D9A746A8-3A58-944B-0D43-2AB92D2B9BF5}"/>
              </a:ext>
            </a:extLst>
          </p:cNvPr>
          <p:cNvSpPr txBox="1"/>
          <p:nvPr/>
        </p:nvSpPr>
        <p:spPr>
          <a:xfrm>
            <a:off x="7467414" y="6295287"/>
            <a:ext cx="4478627" cy="523220"/>
          </a:xfrm>
          <a:prstGeom prst="rect">
            <a:avLst/>
          </a:prstGeom>
          <a:noFill/>
        </p:spPr>
        <p:txBody>
          <a:bodyPr wrap="square" rtlCol="0">
            <a:spAutoFit/>
          </a:bodyPr>
          <a:lstStyle/>
          <a:p>
            <a:r>
              <a:rPr lang="en-US" sz="1400" b="1" dirty="0"/>
              <a:t>8-&gt; 8</a:t>
            </a:r>
          </a:p>
          <a:p>
            <a:r>
              <a:rPr lang="en-US" sz="1400" b="1" dirty="0"/>
              <a:t>Distilled prediction </a:t>
            </a:r>
            <a:r>
              <a:rPr lang="en-US" sz="1400" b="1" dirty="0">
                <a:sym typeface="Wingdings" panose="05000000000000000000" pitchFamily="2" charset="2"/>
              </a:rPr>
              <a:t> Distilled prediction with FGSM </a:t>
            </a:r>
            <a:endParaRPr lang="en-IN" sz="1400" b="1" dirty="0"/>
          </a:p>
        </p:txBody>
      </p:sp>
      <p:sp>
        <p:nvSpPr>
          <p:cNvPr id="15" name="TextBox 14">
            <a:extLst>
              <a:ext uri="{FF2B5EF4-FFF2-40B4-BE49-F238E27FC236}">
                <a16:creationId xmlns:a16="http://schemas.microsoft.com/office/drawing/2014/main" id="{CD212CE5-59D8-ACC7-4E9E-D35F3BF9B061}"/>
              </a:ext>
            </a:extLst>
          </p:cNvPr>
          <p:cNvSpPr txBox="1"/>
          <p:nvPr/>
        </p:nvSpPr>
        <p:spPr>
          <a:xfrm>
            <a:off x="7551909" y="735559"/>
            <a:ext cx="4139882" cy="307777"/>
          </a:xfrm>
          <a:prstGeom prst="rect">
            <a:avLst/>
          </a:prstGeom>
          <a:noFill/>
          <a:ln>
            <a:solidFill>
              <a:srgbClr val="FF0000"/>
            </a:solidFill>
          </a:ln>
        </p:spPr>
        <p:txBody>
          <a:bodyPr wrap="square" rtlCol="0">
            <a:spAutoFit/>
          </a:bodyPr>
          <a:lstStyle/>
          <a:p>
            <a:r>
              <a:rPr lang="en-US" sz="1400" b="1" dirty="0"/>
              <a:t>Classification results distillation with FGSM:</a:t>
            </a:r>
            <a:r>
              <a:rPr lang="en-US" sz="1400" dirty="0"/>
              <a:t> </a:t>
            </a:r>
            <a:endParaRPr lang="en-IN" sz="1400" dirty="0"/>
          </a:p>
        </p:txBody>
      </p:sp>
    </p:spTree>
    <p:extLst>
      <p:ext uri="{BB962C8B-B14F-4D97-AF65-F5344CB8AC3E}">
        <p14:creationId xmlns:p14="http://schemas.microsoft.com/office/powerpoint/2010/main" val="41543360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8CE0E-38F9-D80C-921D-FB68EFB5DB81}"/>
              </a:ext>
            </a:extLst>
          </p:cNvPr>
          <p:cNvSpPr>
            <a:spLocks noGrp="1"/>
          </p:cNvSpPr>
          <p:nvPr>
            <p:ph type="title"/>
          </p:nvPr>
        </p:nvSpPr>
        <p:spPr/>
        <p:txBody>
          <a:bodyPr/>
          <a:lstStyle/>
          <a:p>
            <a:r>
              <a:rPr lang="en-US" dirty="0"/>
              <a:t>Why distillation fails?</a:t>
            </a:r>
            <a:endParaRPr lang="en-IN" dirty="0"/>
          </a:p>
        </p:txBody>
      </p:sp>
      <p:sp>
        <p:nvSpPr>
          <p:cNvPr id="3" name="Content Placeholder 2">
            <a:extLst>
              <a:ext uri="{FF2B5EF4-FFF2-40B4-BE49-F238E27FC236}">
                <a16:creationId xmlns:a16="http://schemas.microsoft.com/office/drawing/2014/main" id="{357F0440-B6BE-29B9-FF9D-A39176586315}"/>
              </a:ext>
            </a:extLst>
          </p:cNvPr>
          <p:cNvSpPr>
            <a:spLocks noGrp="1"/>
          </p:cNvSpPr>
          <p:nvPr>
            <p:ph idx="1"/>
          </p:nvPr>
        </p:nvSpPr>
        <p:spPr>
          <a:xfrm>
            <a:off x="1043492" y="1825625"/>
            <a:ext cx="10310308" cy="4351338"/>
          </a:xfrm>
        </p:spPr>
        <p:txBody>
          <a:bodyPr>
            <a:normAutofit/>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 defense that makes a model </a:t>
            </a:r>
            <a:r>
              <a:rPr lang="en-US" i="1" dirty="0"/>
              <a:t>harder to attack</a:t>
            </a:r>
            <a:r>
              <a:rPr lang="en-US" dirty="0"/>
              <a:t> is not the same as a defense that makes a model </a:t>
            </a:r>
            <a:r>
              <a:rPr lang="en-US" i="1" dirty="0"/>
              <a:t>more robust</a:t>
            </a:r>
            <a:endParaRPr lang="en-IN" dirty="0"/>
          </a:p>
        </p:txBody>
      </p:sp>
      <p:sp>
        <p:nvSpPr>
          <p:cNvPr id="4" name="TextBox 3">
            <a:extLst>
              <a:ext uri="{FF2B5EF4-FFF2-40B4-BE49-F238E27FC236}">
                <a16:creationId xmlns:a16="http://schemas.microsoft.com/office/drawing/2014/main" id="{7ECC9513-CAF8-2225-54F7-850579BC8B3C}"/>
              </a:ext>
            </a:extLst>
          </p:cNvPr>
          <p:cNvSpPr txBox="1"/>
          <p:nvPr/>
        </p:nvSpPr>
        <p:spPr>
          <a:xfrm>
            <a:off x="726688" y="3820015"/>
            <a:ext cx="10515600" cy="839096"/>
          </a:xfrm>
          <a:prstGeom prst="rect">
            <a:avLst/>
          </a:prstGeom>
          <a:noFill/>
          <a:ln>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2002473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15087-BC87-E749-E91F-88EF10D0FF5A}"/>
              </a:ext>
            </a:extLst>
          </p:cNvPr>
          <p:cNvSpPr>
            <a:spLocks noGrp="1"/>
          </p:cNvSpPr>
          <p:nvPr>
            <p:ph type="title"/>
          </p:nvPr>
        </p:nvSpPr>
        <p:spPr>
          <a:xfrm>
            <a:off x="654756" y="398992"/>
            <a:ext cx="10699044" cy="1325563"/>
          </a:xfrm>
        </p:spPr>
        <p:txBody>
          <a:bodyPr/>
          <a:lstStyle/>
          <a:p>
            <a:r>
              <a:rPr lang="en-US" dirty="0"/>
              <a:t>Limitation: </a:t>
            </a:r>
            <a:endParaRPr lang="en-IN" dirty="0"/>
          </a:p>
        </p:txBody>
      </p:sp>
      <p:sp>
        <p:nvSpPr>
          <p:cNvPr id="3" name="Content Placeholder 2">
            <a:extLst>
              <a:ext uri="{FF2B5EF4-FFF2-40B4-BE49-F238E27FC236}">
                <a16:creationId xmlns:a16="http://schemas.microsoft.com/office/drawing/2014/main" id="{C27B6ABE-47D4-4B9C-919C-77C743DCF711}"/>
              </a:ext>
            </a:extLst>
          </p:cNvPr>
          <p:cNvSpPr>
            <a:spLocks noGrp="1"/>
          </p:cNvSpPr>
          <p:nvPr>
            <p:ph idx="1"/>
          </p:nvPr>
        </p:nvSpPr>
        <p:spPr>
          <a:xfrm>
            <a:off x="1212574" y="1825625"/>
            <a:ext cx="10141226" cy="4351338"/>
          </a:xfrm>
        </p:spPr>
        <p:txBody>
          <a:bodyPr>
            <a:normAutofit/>
          </a:bodyPr>
          <a:lstStyle/>
          <a:p>
            <a:r>
              <a:rPr lang="en-US" sz="2400" dirty="0"/>
              <a:t>Student model is constrained by teacher model rules → limited ability to reject attacks.</a:t>
            </a:r>
          </a:p>
          <a:p>
            <a:r>
              <a:rPr lang="en-US" sz="2400" dirty="0"/>
              <a:t>Vulnerable to poisoning attacks (attacker corrupts training data).</a:t>
            </a:r>
          </a:p>
          <a:p>
            <a:pPr marL="0" indent="0">
              <a:buNone/>
            </a:pPr>
            <a:r>
              <a:rPr lang="en-US" sz="2400" dirty="0"/>
              <a:t>               Drawbacks are downplayed in the paper.</a:t>
            </a:r>
          </a:p>
          <a:p>
            <a:endParaRPr lang="en-US" sz="2400" dirty="0"/>
          </a:p>
          <a:p>
            <a:endParaRPr lang="en-IN" sz="2400" dirty="0"/>
          </a:p>
        </p:txBody>
      </p:sp>
    </p:spTree>
    <p:extLst>
      <p:ext uri="{BB962C8B-B14F-4D97-AF65-F5344CB8AC3E}">
        <p14:creationId xmlns:p14="http://schemas.microsoft.com/office/powerpoint/2010/main" val="6948357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descr="A white paper with black text&#10;&#10;AI-generated content may be incorrect.">
            <a:extLst>
              <a:ext uri="{FF2B5EF4-FFF2-40B4-BE49-F238E27FC236}">
                <a16:creationId xmlns:a16="http://schemas.microsoft.com/office/drawing/2014/main" id="{17D7BDD0-88B7-DC8A-0082-49DEB3870BF5}"/>
              </a:ext>
            </a:extLst>
          </p:cNvPr>
          <p:cNvPicPr>
            <a:picLocks noChangeAspect="1"/>
          </p:cNvPicPr>
          <p:nvPr/>
        </p:nvPicPr>
        <p:blipFill>
          <a:blip r:embed="rId3"/>
          <a:stretch>
            <a:fillRect/>
          </a:stretch>
        </p:blipFill>
        <p:spPr>
          <a:xfrm>
            <a:off x="895649" y="843104"/>
            <a:ext cx="4915604" cy="5171791"/>
          </a:xfrm>
          <a:prstGeom prst="rect">
            <a:avLst/>
          </a:prstGeom>
        </p:spPr>
      </p:pic>
    </p:spTree>
    <p:extLst>
      <p:ext uri="{BB962C8B-B14F-4D97-AF65-F5344CB8AC3E}">
        <p14:creationId xmlns:p14="http://schemas.microsoft.com/office/powerpoint/2010/main" val="29427578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63821-7628-FF38-16DD-7D0D4766D05A}"/>
              </a:ext>
            </a:extLst>
          </p:cNvPr>
          <p:cNvSpPr>
            <a:spLocks noGrp="1"/>
          </p:cNvSpPr>
          <p:nvPr>
            <p:ph type="title"/>
          </p:nvPr>
        </p:nvSpPr>
        <p:spPr/>
        <p:txBody>
          <a:bodyPr/>
          <a:lstStyle/>
          <a:p>
            <a:r>
              <a:rPr lang="en-US" dirty="0"/>
              <a:t>Results : FGSM in Presence of Distillation </a:t>
            </a:r>
            <a:endParaRPr lang="en-IN" dirty="0"/>
          </a:p>
        </p:txBody>
      </p:sp>
      <p:sp>
        <p:nvSpPr>
          <p:cNvPr id="3" name="Content Placeholder 2">
            <a:extLst>
              <a:ext uri="{FF2B5EF4-FFF2-40B4-BE49-F238E27FC236}">
                <a16:creationId xmlns:a16="http://schemas.microsoft.com/office/drawing/2014/main" id="{96FE1BF5-D835-8C02-DF8D-FF15B4596940}"/>
              </a:ext>
            </a:extLst>
          </p:cNvPr>
          <p:cNvSpPr>
            <a:spLocks noGrp="1"/>
          </p:cNvSpPr>
          <p:nvPr>
            <p:ph idx="1"/>
          </p:nvPr>
        </p:nvSpPr>
        <p:spPr/>
        <p:txBody>
          <a:bodyPr>
            <a:normAutofit/>
          </a:bodyPr>
          <a:lstStyle/>
          <a:p>
            <a:r>
              <a:rPr lang="en-US" dirty="0"/>
              <a:t>Results tell that FGSM attack reduces the test accuracy from 97.08% to 24.84% with epsilon from 0 to 0.3. </a:t>
            </a:r>
          </a:p>
          <a:p>
            <a:r>
              <a:rPr lang="en-US" dirty="0"/>
              <a:t>Results for Defensive distillation tells that FGSM attack reduces test accuracy from 90.33% to 88.01% epsilon from 0 to 0.3.</a:t>
            </a:r>
          </a:p>
          <a:p>
            <a:pPr lvl="1"/>
            <a:r>
              <a:rPr lang="en-US" dirty="0"/>
              <a:t> we can say that defensive distillation for the proposed network with temp of 100 was successful and it only reduced ~2% of test accuracy for max epsilon of 0.3.</a:t>
            </a:r>
          </a:p>
          <a:p>
            <a:endParaRPr lang="en-IN" dirty="0"/>
          </a:p>
        </p:txBody>
      </p:sp>
    </p:spTree>
    <p:extLst>
      <p:ext uri="{BB962C8B-B14F-4D97-AF65-F5344CB8AC3E}">
        <p14:creationId xmlns:p14="http://schemas.microsoft.com/office/powerpoint/2010/main" val="25934370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C6BC549-9ED2-15DF-4B31-8463FF848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718AF-9D46-21DA-0835-9A69E30315A5}"/>
              </a:ext>
            </a:extLst>
          </p:cNvPr>
          <p:cNvSpPr>
            <a:spLocks noGrp="1"/>
          </p:cNvSpPr>
          <p:nvPr>
            <p:ph type="title"/>
          </p:nvPr>
        </p:nvSpPr>
        <p:spPr>
          <a:xfrm>
            <a:off x="702734" y="253365"/>
            <a:ext cx="10021711" cy="1325563"/>
          </a:xfrm>
        </p:spPr>
        <p:txBody>
          <a:bodyPr>
            <a:normAutofit/>
          </a:bodyPr>
          <a:lstStyle/>
          <a:p>
            <a:r>
              <a:rPr lang="en-US" sz="3600" dirty="0"/>
              <a:t>Implementation : DNN architecture with distillation </a:t>
            </a:r>
            <a:endParaRPr lang="en-IN" sz="3600" dirty="0"/>
          </a:p>
        </p:txBody>
      </p:sp>
      <p:pic>
        <p:nvPicPr>
          <p:cNvPr id="10" name="Picture 9" descr="A screenshot of a computer program&#10;&#10;AI-generated content may be incorrect.">
            <a:extLst>
              <a:ext uri="{FF2B5EF4-FFF2-40B4-BE49-F238E27FC236}">
                <a16:creationId xmlns:a16="http://schemas.microsoft.com/office/drawing/2014/main" id="{8293AF77-CD6F-8872-DC7F-57ACABCE238A}"/>
              </a:ext>
            </a:extLst>
          </p:cNvPr>
          <p:cNvPicPr>
            <a:picLocks noChangeAspect="1"/>
          </p:cNvPicPr>
          <p:nvPr/>
        </p:nvPicPr>
        <p:blipFill>
          <a:blip r:embed="rId3"/>
          <a:stretch>
            <a:fillRect/>
          </a:stretch>
        </p:blipFill>
        <p:spPr>
          <a:xfrm>
            <a:off x="805963" y="2505730"/>
            <a:ext cx="3786950" cy="4216088"/>
          </a:xfrm>
          <a:prstGeom prst="rect">
            <a:avLst/>
          </a:prstGeom>
        </p:spPr>
      </p:pic>
      <p:pic>
        <p:nvPicPr>
          <p:cNvPr id="12" name="Picture 11" descr="A screenshot of a computer program&#10;&#10;AI-generated content may be incorrect.">
            <a:extLst>
              <a:ext uri="{FF2B5EF4-FFF2-40B4-BE49-F238E27FC236}">
                <a16:creationId xmlns:a16="http://schemas.microsoft.com/office/drawing/2014/main" id="{E04567A8-F69E-397B-5975-834084458FFA}"/>
              </a:ext>
            </a:extLst>
          </p:cNvPr>
          <p:cNvPicPr>
            <a:picLocks noChangeAspect="1"/>
          </p:cNvPicPr>
          <p:nvPr/>
        </p:nvPicPr>
        <p:blipFill>
          <a:blip r:embed="rId4"/>
          <a:stretch>
            <a:fillRect/>
          </a:stretch>
        </p:blipFill>
        <p:spPr>
          <a:xfrm>
            <a:off x="7835362" y="2453317"/>
            <a:ext cx="4138019" cy="4320914"/>
          </a:xfrm>
          <a:prstGeom prst="rect">
            <a:avLst/>
          </a:prstGeom>
        </p:spPr>
      </p:pic>
      <p:sp>
        <p:nvSpPr>
          <p:cNvPr id="13" name="TextBox 12">
            <a:extLst>
              <a:ext uri="{FF2B5EF4-FFF2-40B4-BE49-F238E27FC236}">
                <a16:creationId xmlns:a16="http://schemas.microsoft.com/office/drawing/2014/main" id="{E281BD9F-8828-FEF1-501B-F01C4C100AC3}"/>
              </a:ext>
            </a:extLst>
          </p:cNvPr>
          <p:cNvSpPr txBox="1"/>
          <p:nvPr/>
        </p:nvSpPr>
        <p:spPr>
          <a:xfrm>
            <a:off x="702734" y="1315679"/>
            <a:ext cx="10802456" cy="707886"/>
          </a:xfrm>
          <a:prstGeom prst="rect">
            <a:avLst/>
          </a:prstGeom>
          <a:noFill/>
        </p:spPr>
        <p:txBody>
          <a:bodyPr wrap="square" rtlCol="0">
            <a:spAutoFit/>
          </a:bodyPr>
          <a:lstStyle/>
          <a:p>
            <a:r>
              <a:rPr lang="en-US" sz="2000" dirty="0">
                <a:solidFill>
                  <a:srgbClr val="FF0000"/>
                </a:solidFill>
              </a:rPr>
              <a:t>Defense training</a:t>
            </a:r>
            <a:r>
              <a:rPr lang="en-US" sz="2000" dirty="0"/>
              <a:t>: instead of transferring knowledge between </a:t>
            </a:r>
            <a:r>
              <a:rPr lang="en-US" sz="2000" dirty="0">
                <a:solidFill>
                  <a:srgbClr val="00B050"/>
                </a:solidFill>
              </a:rPr>
              <a:t>different </a:t>
            </a:r>
            <a:r>
              <a:rPr lang="en-US" sz="2000" dirty="0"/>
              <a:t>architectures, we propose to use the knowledge extracted from a DNN to improve </a:t>
            </a:r>
            <a:r>
              <a:rPr lang="en-US" sz="2000" dirty="0">
                <a:solidFill>
                  <a:srgbClr val="FF0000"/>
                </a:solidFill>
              </a:rPr>
              <a:t>its own </a:t>
            </a:r>
            <a:r>
              <a:rPr lang="en-US" sz="2000" dirty="0"/>
              <a:t>resilience to adversarial samples.</a:t>
            </a:r>
            <a:endParaRPr lang="en-IN" sz="2000" dirty="0"/>
          </a:p>
        </p:txBody>
      </p:sp>
      <p:sp>
        <p:nvSpPr>
          <p:cNvPr id="15" name="TextBox 14">
            <a:extLst>
              <a:ext uri="{FF2B5EF4-FFF2-40B4-BE49-F238E27FC236}">
                <a16:creationId xmlns:a16="http://schemas.microsoft.com/office/drawing/2014/main" id="{BF302E0C-0389-5EBE-E1C6-A914208B6375}"/>
              </a:ext>
            </a:extLst>
          </p:cNvPr>
          <p:cNvSpPr txBox="1"/>
          <p:nvPr/>
        </p:nvSpPr>
        <p:spPr>
          <a:xfrm>
            <a:off x="1514708" y="2079981"/>
            <a:ext cx="1393902" cy="369332"/>
          </a:xfrm>
          <a:prstGeom prst="rect">
            <a:avLst/>
          </a:prstGeom>
          <a:noFill/>
          <a:ln>
            <a:solidFill>
              <a:schemeClr val="tx1"/>
            </a:solidFill>
          </a:ln>
        </p:spPr>
        <p:txBody>
          <a:bodyPr wrap="square" rtlCol="0">
            <a:spAutoFit/>
          </a:bodyPr>
          <a:lstStyle/>
          <a:p>
            <a:r>
              <a:rPr lang="en-US" dirty="0"/>
              <a:t>Teacher - F </a:t>
            </a:r>
            <a:endParaRPr lang="en-IN" dirty="0"/>
          </a:p>
        </p:txBody>
      </p:sp>
      <p:sp>
        <p:nvSpPr>
          <p:cNvPr id="17" name="TextBox 16">
            <a:extLst>
              <a:ext uri="{FF2B5EF4-FFF2-40B4-BE49-F238E27FC236}">
                <a16:creationId xmlns:a16="http://schemas.microsoft.com/office/drawing/2014/main" id="{504AF8B0-C2BB-98B7-2700-F98F2B04B4CC}"/>
              </a:ext>
            </a:extLst>
          </p:cNvPr>
          <p:cNvSpPr txBox="1"/>
          <p:nvPr/>
        </p:nvSpPr>
        <p:spPr>
          <a:xfrm>
            <a:off x="8361559" y="2053775"/>
            <a:ext cx="1641085" cy="369332"/>
          </a:xfrm>
          <a:prstGeom prst="rect">
            <a:avLst/>
          </a:prstGeom>
          <a:noFill/>
          <a:ln>
            <a:solidFill>
              <a:schemeClr val="tx1"/>
            </a:solidFill>
          </a:ln>
        </p:spPr>
        <p:txBody>
          <a:bodyPr wrap="square" rtlCol="0">
            <a:spAutoFit/>
          </a:bodyPr>
          <a:lstStyle/>
          <a:p>
            <a:r>
              <a:rPr lang="en-US" dirty="0"/>
              <a:t>Student – F1 </a:t>
            </a:r>
            <a:endParaRPr lang="en-IN" dirty="0"/>
          </a:p>
        </p:txBody>
      </p:sp>
      <p:sp>
        <p:nvSpPr>
          <p:cNvPr id="6" name="TextBox 5">
            <a:extLst>
              <a:ext uri="{FF2B5EF4-FFF2-40B4-BE49-F238E27FC236}">
                <a16:creationId xmlns:a16="http://schemas.microsoft.com/office/drawing/2014/main" id="{EE5CE8BD-590B-827B-F92C-87131921FED5}"/>
              </a:ext>
            </a:extLst>
          </p:cNvPr>
          <p:cNvSpPr txBox="1"/>
          <p:nvPr/>
        </p:nvSpPr>
        <p:spPr>
          <a:xfrm>
            <a:off x="3362906" y="6235303"/>
            <a:ext cx="4822089" cy="369332"/>
          </a:xfrm>
          <a:prstGeom prst="rect">
            <a:avLst/>
          </a:prstGeom>
          <a:noFill/>
        </p:spPr>
        <p:txBody>
          <a:bodyPr wrap="square">
            <a:spAutoFit/>
          </a:bodyPr>
          <a:lstStyle/>
          <a:p>
            <a:r>
              <a:rPr lang="en-IN" dirty="0"/>
              <a:t>output = </a:t>
            </a:r>
            <a:r>
              <a:rPr lang="en-IN" dirty="0" err="1"/>
              <a:t>F.log_softmax</a:t>
            </a:r>
            <a:r>
              <a:rPr lang="en-IN" dirty="0"/>
              <a:t>(output / Temp, dim=1)</a:t>
            </a:r>
          </a:p>
        </p:txBody>
      </p:sp>
      <p:sp>
        <p:nvSpPr>
          <p:cNvPr id="7" name="TextBox 6">
            <a:extLst>
              <a:ext uri="{FF2B5EF4-FFF2-40B4-BE49-F238E27FC236}">
                <a16:creationId xmlns:a16="http://schemas.microsoft.com/office/drawing/2014/main" id="{70FAB73E-2710-BDDB-3BE8-E76E89545C5B}"/>
              </a:ext>
            </a:extLst>
          </p:cNvPr>
          <p:cNvSpPr txBox="1"/>
          <p:nvPr/>
        </p:nvSpPr>
        <p:spPr>
          <a:xfrm>
            <a:off x="4356639" y="3925230"/>
            <a:ext cx="3242450" cy="1354217"/>
          </a:xfrm>
          <a:prstGeom prst="rect">
            <a:avLst/>
          </a:prstGeom>
          <a:noFill/>
        </p:spPr>
        <p:txBody>
          <a:bodyPr wrap="square" rtlCol="0">
            <a:spAutoFit/>
          </a:bodyPr>
          <a:lstStyle/>
          <a:p>
            <a:pPr algn="ctr"/>
            <a:r>
              <a:rPr lang="en-US" sz="1600" dirty="0"/>
              <a:t>Temp = 100 </a:t>
            </a:r>
          </a:p>
          <a:p>
            <a:pPr algn="ctr"/>
            <a:r>
              <a:rPr lang="en-IN" sz="1600" dirty="0"/>
              <a:t>epochs=10</a:t>
            </a:r>
          </a:p>
          <a:p>
            <a:pPr algn="ctr"/>
            <a:r>
              <a:rPr lang="en-IN" sz="1600" dirty="0"/>
              <a:t>Epsilons=[0,0.007,0.01,0.02,0.03,</a:t>
            </a:r>
          </a:p>
          <a:p>
            <a:pPr algn="ctr"/>
            <a:r>
              <a:rPr lang="en-IN" sz="1600" dirty="0"/>
              <a:t>0.05,0.1,0.2,0.3]</a:t>
            </a:r>
          </a:p>
          <a:p>
            <a:endParaRPr lang="en-IN" dirty="0"/>
          </a:p>
        </p:txBody>
      </p:sp>
    </p:spTree>
    <p:extLst>
      <p:ext uri="{BB962C8B-B14F-4D97-AF65-F5344CB8AC3E}">
        <p14:creationId xmlns:p14="http://schemas.microsoft.com/office/powerpoint/2010/main" val="1155104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9851F8-426C-1265-44D5-6894B1020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FB7D4-ADBE-BAB1-2B64-BC9576E5CD25}"/>
              </a:ext>
            </a:extLst>
          </p:cNvPr>
          <p:cNvSpPr>
            <a:spLocks noGrp="1"/>
          </p:cNvSpPr>
          <p:nvPr>
            <p:ph type="title"/>
          </p:nvPr>
        </p:nvSpPr>
        <p:spPr>
          <a:xfrm>
            <a:off x="838200" y="365125"/>
            <a:ext cx="10515600" cy="855191"/>
          </a:xfrm>
        </p:spPr>
        <p:txBody>
          <a:bodyPr/>
          <a:lstStyle/>
          <a:p>
            <a:r>
              <a:rPr lang="en-US" dirty="0"/>
              <a:t>Results : FGSM in Presence of Distillation </a:t>
            </a:r>
            <a:endParaRPr lang="en-IN" dirty="0"/>
          </a:p>
        </p:txBody>
      </p:sp>
      <p:pic>
        <p:nvPicPr>
          <p:cNvPr id="5" name="Picture 4">
            <a:extLst>
              <a:ext uri="{FF2B5EF4-FFF2-40B4-BE49-F238E27FC236}">
                <a16:creationId xmlns:a16="http://schemas.microsoft.com/office/drawing/2014/main" id="{BBA80A09-433C-9D93-DA8A-90BBC06225DF}"/>
              </a:ext>
            </a:extLst>
          </p:cNvPr>
          <p:cNvPicPr>
            <a:picLocks noChangeAspect="1"/>
          </p:cNvPicPr>
          <p:nvPr/>
        </p:nvPicPr>
        <p:blipFill>
          <a:blip r:embed="rId3"/>
          <a:stretch>
            <a:fillRect/>
          </a:stretch>
        </p:blipFill>
        <p:spPr>
          <a:xfrm>
            <a:off x="1309254" y="1220316"/>
            <a:ext cx="3688901" cy="3642402"/>
          </a:xfrm>
          <a:prstGeom prst="rect">
            <a:avLst/>
          </a:prstGeom>
        </p:spPr>
      </p:pic>
      <p:pic>
        <p:nvPicPr>
          <p:cNvPr id="8" name="Picture 7" descr="A table of numbers with black text&#10;&#10;AI-generated content may be incorrect.">
            <a:extLst>
              <a:ext uri="{FF2B5EF4-FFF2-40B4-BE49-F238E27FC236}">
                <a16:creationId xmlns:a16="http://schemas.microsoft.com/office/drawing/2014/main" id="{112E3AE5-1AD8-A962-7F54-32974A2A615D}"/>
              </a:ext>
            </a:extLst>
          </p:cNvPr>
          <p:cNvPicPr>
            <a:picLocks noChangeAspect="1"/>
          </p:cNvPicPr>
          <p:nvPr/>
        </p:nvPicPr>
        <p:blipFill>
          <a:blip r:embed="rId4"/>
          <a:srcRect r="7722"/>
          <a:stretch>
            <a:fillRect/>
          </a:stretch>
        </p:blipFill>
        <p:spPr>
          <a:xfrm>
            <a:off x="1309254" y="4924260"/>
            <a:ext cx="4181895" cy="1587298"/>
          </a:xfrm>
          <a:prstGeom prst="rect">
            <a:avLst/>
          </a:prstGeom>
        </p:spPr>
      </p:pic>
      <p:pic>
        <p:nvPicPr>
          <p:cNvPr id="4" name="Picture 3">
            <a:extLst>
              <a:ext uri="{FF2B5EF4-FFF2-40B4-BE49-F238E27FC236}">
                <a16:creationId xmlns:a16="http://schemas.microsoft.com/office/drawing/2014/main" id="{8E6CAC90-EEEC-0E36-B1B2-90E5EA7AAE13}"/>
              </a:ext>
            </a:extLst>
          </p:cNvPr>
          <p:cNvPicPr>
            <a:picLocks noChangeAspect="1"/>
          </p:cNvPicPr>
          <p:nvPr/>
        </p:nvPicPr>
        <p:blipFill>
          <a:blip r:embed="rId5"/>
          <a:stretch>
            <a:fillRect/>
          </a:stretch>
        </p:blipFill>
        <p:spPr>
          <a:xfrm>
            <a:off x="5916479" y="1356433"/>
            <a:ext cx="3688900" cy="5136442"/>
          </a:xfrm>
          <a:prstGeom prst="rect">
            <a:avLst/>
          </a:prstGeom>
        </p:spPr>
      </p:pic>
    </p:spTree>
    <p:extLst>
      <p:ext uri="{BB962C8B-B14F-4D97-AF65-F5344CB8AC3E}">
        <p14:creationId xmlns:p14="http://schemas.microsoft.com/office/powerpoint/2010/main" val="30583672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945E1-BE32-9BA5-E478-C81619D33CDB}"/>
              </a:ext>
            </a:extLst>
          </p:cNvPr>
          <p:cNvSpPr>
            <a:spLocks noGrp="1"/>
          </p:cNvSpPr>
          <p:nvPr>
            <p:ph type="title"/>
          </p:nvPr>
        </p:nvSpPr>
        <p:spPr/>
        <p:txBody>
          <a:bodyPr/>
          <a:lstStyle/>
          <a:p>
            <a:r>
              <a:rPr lang="en-US" dirty="0"/>
              <a:t>Methodology : Terms </a:t>
            </a:r>
            <a:endParaRPr lang="en-IN" dirty="0"/>
          </a:p>
        </p:txBody>
      </p:sp>
      <p:sp>
        <p:nvSpPr>
          <p:cNvPr id="3" name="Content Placeholder 2">
            <a:extLst>
              <a:ext uri="{FF2B5EF4-FFF2-40B4-BE49-F238E27FC236}">
                <a16:creationId xmlns:a16="http://schemas.microsoft.com/office/drawing/2014/main" id="{625D7ABB-808E-E401-CEEC-2CCD5AB9F485}"/>
              </a:ext>
            </a:extLst>
          </p:cNvPr>
          <p:cNvSpPr>
            <a:spLocks noGrp="1"/>
          </p:cNvSpPr>
          <p:nvPr>
            <p:ph idx="1"/>
          </p:nvPr>
        </p:nvSpPr>
        <p:spPr>
          <a:xfrm>
            <a:off x="1162594" y="1690688"/>
            <a:ext cx="10515600" cy="4351338"/>
          </a:xfrm>
        </p:spPr>
        <p:txBody>
          <a:bodyPr>
            <a:normAutofit/>
          </a:bodyPr>
          <a:lstStyle/>
          <a:p>
            <a:pPr marL="0" indent="0">
              <a:buNone/>
            </a:pPr>
            <a:r>
              <a:rPr lang="en-US" dirty="0"/>
              <a:t>Soft targets :</a:t>
            </a:r>
          </a:p>
          <a:p>
            <a:pPr lvl="1"/>
            <a:r>
              <a:rPr lang="en-US" dirty="0"/>
              <a:t>Teacher's output probabilities </a:t>
            </a:r>
            <a:r>
              <a:rPr lang="en-IN" dirty="0"/>
              <a:t>[0.85, 0.05, 0.04, 0.03, 0.01]</a:t>
            </a:r>
            <a:r>
              <a:rPr lang="en-US" dirty="0"/>
              <a:t> </a:t>
            </a:r>
            <a:r>
              <a:rPr lang="en-US" dirty="0">
                <a:sym typeface="Wingdings" panose="05000000000000000000" pitchFamily="2" charset="2"/>
              </a:rPr>
              <a:t></a:t>
            </a:r>
            <a:r>
              <a:rPr lang="en-US" dirty="0"/>
              <a:t> richer info than just the correct class.</a:t>
            </a:r>
          </a:p>
          <a:p>
            <a:pPr marL="0" indent="0">
              <a:buNone/>
            </a:pPr>
            <a:r>
              <a:rPr lang="en-US" dirty="0"/>
              <a:t>Hard targets :</a:t>
            </a:r>
          </a:p>
          <a:p>
            <a:pPr lvl="1"/>
            <a:r>
              <a:rPr lang="en-US" dirty="0"/>
              <a:t>One-hot true labels  [1, 0, 0, 0]) </a:t>
            </a:r>
            <a:r>
              <a:rPr lang="en-US" dirty="0">
                <a:sym typeface="Wingdings" panose="05000000000000000000" pitchFamily="2" charset="2"/>
              </a:rPr>
              <a:t> </a:t>
            </a:r>
            <a:r>
              <a:rPr lang="en-US" dirty="0"/>
              <a:t>standard classification loss</a:t>
            </a:r>
          </a:p>
          <a:p>
            <a:pPr lvl="2"/>
            <a:endParaRPr lang="en-US" dirty="0"/>
          </a:p>
        </p:txBody>
      </p:sp>
    </p:spTree>
    <p:extLst>
      <p:ext uri="{BB962C8B-B14F-4D97-AF65-F5344CB8AC3E}">
        <p14:creationId xmlns:p14="http://schemas.microsoft.com/office/powerpoint/2010/main" val="1455371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654C8F1-92E3-8D84-036E-A6DB0F972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86849-7FE9-DD56-D914-886652DA9AEC}"/>
              </a:ext>
            </a:extLst>
          </p:cNvPr>
          <p:cNvSpPr>
            <a:spLocks noGrp="1"/>
          </p:cNvSpPr>
          <p:nvPr>
            <p:ph type="title"/>
          </p:nvPr>
        </p:nvSpPr>
        <p:spPr>
          <a:xfrm>
            <a:off x="838200" y="365125"/>
            <a:ext cx="10515600" cy="855191"/>
          </a:xfrm>
        </p:spPr>
        <p:txBody>
          <a:bodyPr/>
          <a:lstStyle/>
          <a:p>
            <a:r>
              <a:rPr lang="en-US" dirty="0"/>
              <a:t>Results : FGSM in Presence of Distillation </a:t>
            </a:r>
            <a:endParaRPr lang="en-IN" dirty="0"/>
          </a:p>
        </p:txBody>
      </p:sp>
    </p:spTree>
    <p:extLst>
      <p:ext uri="{BB962C8B-B14F-4D97-AF65-F5344CB8AC3E}">
        <p14:creationId xmlns:p14="http://schemas.microsoft.com/office/powerpoint/2010/main" val="3799507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60351-1D97-7F7E-C4E0-8640D3BCFBC7}"/>
              </a:ext>
            </a:extLst>
          </p:cNvPr>
          <p:cNvSpPr>
            <a:spLocks noGrp="1"/>
          </p:cNvSpPr>
          <p:nvPr>
            <p:ph type="title"/>
          </p:nvPr>
        </p:nvSpPr>
        <p:spPr>
          <a:xfrm>
            <a:off x="924232" y="365125"/>
            <a:ext cx="10429568" cy="1325563"/>
          </a:xfrm>
        </p:spPr>
        <p:txBody>
          <a:bodyPr/>
          <a:lstStyle/>
          <a:p>
            <a:r>
              <a:rPr lang="en-US" dirty="0"/>
              <a:t>Robustness :</a:t>
            </a:r>
            <a:endParaRPr lang="en-IN" dirty="0"/>
          </a:p>
        </p:txBody>
      </p:sp>
      <p:sp>
        <p:nvSpPr>
          <p:cNvPr id="3" name="Content Placeholder 2">
            <a:extLst>
              <a:ext uri="{FF2B5EF4-FFF2-40B4-BE49-F238E27FC236}">
                <a16:creationId xmlns:a16="http://schemas.microsoft.com/office/drawing/2014/main" id="{805E73D6-B238-79B5-A8F2-699EC16C8856}"/>
              </a:ext>
            </a:extLst>
          </p:cNvPr>
          <p:cNvSpPr>
            <a:spLocks noGrp="1"/>
          </p:cNvSpPr>
          <p:nvPr>
            <p:ph idx="1"/>
          </p:nvPr>
        </p:nvSpPr>
        <p:spPr>
          <a:xfrm>
            <a:off x="1061884" y="1825625"/>
            <a:ext cx="10291916" cy="4351338"/>
          </a:xfrm>
        </p:spPr>
        <p:txBody>
          <a:bodyPr>
            <a:normAutofit/>
          </a:bodyPr>
          <a:lstStyle/>
          <a:p>
            <a:pPr marL="0" indent="0">
              <a:buNone/>
            </a:pPr>
            <a:r>
              <a:rPr lang="en-US" sz="2400" b="1" dirty="0"/>
              <a:t>Robustness :</a:t>
            </a:r>
            <a:r>
              <a:rPr lang="en-US" sz="2400" b="1" dirty="0">
                <a:sym typeface="Wingdings" panose="05000000000000000000" pitchFamily="2" charset="2"/>
              </a:rPr>
              <a:t> </a:t>
            </a:r>
            <a:r>
              <a:rPr lang="en-US" sz="2400" dirty="0">
                <a:sym typeface="Wingdings" panose="05000000000000000000" pitchFamily="2" charset="2"/>
              </a:rPr>
              <a:t>A network is robust if it returns output on all inputs.</a:t>
            </a:r>
          </a:p>
          <a:p>
            <a:pPr marL="0" indent="0">
              <a:buNone/>
            </a:pPr>
            <a:r>
              <a:rPr lang="en-US" sz="2400" dirty="0">
                <a:sym typeface="Wingdings" panose="05000000000000000000" pitchFamily="2" charset="2"/>
              </a:rPr>
              <a:t>        </a:t>
            </a:r>
          </a:p>
          <a:p>
            <a:pPr marL="0" indent="0">
              <a:buNone/>
            </a:pPr>
            <a:r>
              <a:rPr lang="en-US" sz="2400" dirty="0">
                <a:sym typeface="Wingdings" panose="05000000000000000000" pitchFamily="2" charset="2"/>
              </a:rPr>
              <a:t>             </a:t>
            </a:r>
            <a:r>
              <a:rPr lang="en-US" sz="2400" dirty="0"/>
              <a:t>Impractical: the input space is too large to be covered</a:t>
            </a:r>
          </a:p>
          <a:p>
            <a:pPr marL="0" indent="0">
              <a:buNone/>
            </a:pPr>
            <a:endParaRPr lang="en-US" sz="2400" dirty="0"/>
          </a:p>
          <a:p>
            <a:pPr marL="0" indent="0">
              <a:buNone/>
            </a:pPr>
            <a:r>
              <a:rPr lang="en-US" sz="2400" b="1" dirty="0"/>
              <a:t>Local Robustness (informal): </a:t>
            </a:r>
            <a:r>
              <a:rPr lang="en-US" sz="2400" dirty="0"/>
              <a:t>A learning model is locally-robust if it returns the correct output on inputs similar to inputs in the training set.</a:t>
            </a:r>
          </a:p>
          <a:p>
            <a:pPr marL="0" indent="0">
              <a:buNone/>
            </a:pPr>
            <a:endParaRPr lang="en-US" sz="2400" dirty="0"/>
          </a:p>
          <a:p>
            <a:pPr marL="0" indent="0">
              <a:buNone/>
            </a:pPr>
            <a:r>
              <a:rPr lang="en-US" sz="2400" dirty="0"/>
              <a:t>     This was believed to be evident by having high accuracy on the test set</a:t>
            </a:r>
            <a:endParaRPr lang="en-IN" sz="2400" dirty="0"/>
          </a:p>
        </p:txBody>
      </p:sp>
      <p:sp>
        <p:nvSpPr>
          <p:cNvPr id="4" name="TextBox 3">
            <a:extLst>
              <a:ext uri="{FF2B5EF4-FFF2-40B4-BE49-F238E27FC236}">
                <a16:creationId xmlns:a16="http://schemas.microsoft.com/office/drawing/2014/main" id="{83F48C63-B7C8-68FC-4160-1A3CD1187198}"/>
              </a:ext>
            </a:extLst>
          </p:cNvPr>
          <p:cNvSpPr txBox="1"/>
          <p:nvPr/>
        </p:nvSpPr>
        <p:spPr>
          <a:xfrm>
            <a:off x="1789471" y="2782529"/>
            <a:ext cx="7384026" cy="369332"/>
          </a:xfrm>
          <a:prstGeom prst="rect">
            <a:avLst/>
          </a:prstGeom>
          <a:noFill/>
          <a:ln>
            <a:solidFill>
              <a:schemeClr val="tx1"/>
            </a:solidFill>
          </a:ln>
        </p:spPr>
        <p:txBody>
          <a:bodyPr wrap="square" rtlCol="0">
            <a:spAutoFit/>
          </a:bodyPr>
          <a:lstStyle/>
          <a:p>
            <a:endParaRPr lang="en-IN" dirty="0"/>
          </a:p>
        </p:txBody>
      </p:sp>
      <p:sp>
        <p:nvSpPr>
          <p:cNvPr id="10" name="TextBox 9">
            <a:extLst>
              <a:ext uri="{FF2B5EF4-FFF2-40B4-BE49-F238E27FC236}">
                <a16:creationId xmlns:a16="http://schemas.microsoft.com/office/drawing/2014/main" id="{60C22276-11DF-23F4-1F6D-ECF3B3655207}"/>
              </a:ext>
            </a:extLst>
          </p:cNvPr>
          <p:cNvSpPr txBox="1"/>
          <p:nvPr/>
        </p:nvSpPr>
        <p:spPr>
          <a:xfrm>
            <a:off x="1415845" y="4843927"/>
            <a:ext cx="9261986" cy="494989"/>
          </a:xfrm>
          <a:prstGeom prst="rect">
            <a:avLst/>
          </a:prstGeom>
          <a:noFill/>
          <a:ln>
            <a:solidFill>
              <a:schemeClr val="tx1"/>
            </a:solidFill>
          </a:ln>
        </p:spPr>
        <p:txBody>
          <a:bodyPr wrap="square" rtlCol="0">
            <a:spAutoFit/>
          </a:bodyPr>
          <a:lstStyle/>
          <a:p>
            <a:endParaRPr lang="en-IN" dirty="0"/>
          </a:p>
        </p:txBody>
      </p:sp>
    </p:spTree>
    <p:extLst>
      <p:ext uri="{BB962C8B-B14F-4D97-AF65-F5344CB8AC3E}">
        <p14:creationId xmlns:p14="http://schemas.microsoft.com/office/powerpoint/2010/main" val="3435924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18DB-8AA7-AE01-D6E1-C4DBADC628FB}"/>
              </a:ext>
            </a:extLst>
          </p:cNvPr>
          <p:cNvSpPr>
            <a:spLocks noGrp="1"/>
          </p:cNvSpPr>
          <p:nvPr>
            <p:ph type="title"/>
          </p:nvPr>
        </p:nvSpPr>
        <p:spPr/>
        <p:txBody>
          <a:bodyPr/>
          <a:lstStyle/>
          <a:p>
            <a:r>
              <a:rPr lang="en-US" dirty="0"/>
              <a:t>Adversarial Examples:</a:t>
            </a:r>
            <a:endParaRPr lang="en-IN" dirty="0"/>
          </a:p>
        </p:txBody>
      </p:sp>
      <p:sp>
        <p:nvSpPr>
          <p:cNvPr id="3" name="Content Placeholder 2">
            <a:extLst>
              <a:ext uri="{FF2B5EF4-FFF2-40B4-BE49-F238E27FC236}">
                <a16:creationId xmlns:a16="http://schemas.microsoft.com/office/drawing/2014/main" id="{B1FDC3EA-B064-8902-46F5-B946A03ED1D0}"/>
              </a:ext>
            </a:extLst>
          </p:cNvPr>
          <p:cNvSpPr>
            <a:spLocks noGrp="1"/>
          </p:cNvSpPr>
          <p:nvPr>
            <p:ph idx="1"/>
          </p:nvPr>
        </p:nvSpPr>
        <p:spPr>
          <a:xfrm>
            <a:off x="1012370" y="1825625"/>
            <a:ext cx="10341429" cy="4351338"/>
          </a:xfrm>
        </p:spPr>
        <p:txBody>
          <a:bodyPr>
            <a:normAutofit/>
          </a:bodyPr>
          <a:lstStyle/>
          <a:p>
            <a:pPr marL="0" indent="0">
              <a:buNone/>
            </a:pPr>
            <a:r>
              <a:rPr lang="en-US" sz="3200" dirty="0"/>
              <a:t>Can we trust them ? </a:t>
            </a:r>
            <a:endParaRPr lang="en-IN" sz="3200" dirty="0"/>
          </a:p>
        </p:txBody>
      </p:sp>
      <p:pic>
        <p:nvPicPr>
          <p:cNvPr id="7" name="Picture 6">
            <a:extLst>
              <a:ext uri="{FF2B5EF4-FFF2-40B4-BE49-F238E27FC236}">
                <a16:creationId xmlns:a16="http://schemas.microsoft.com/office/drawing/2014/main" id="{E09FDCDA-7E22-C391-92DD-BE1D3C04ACD0}"/>
              </a:ext>
            </a:extLst>
          </p:cNvPr>
          <p:cNvPicPr>
            <a:picLocks noChangeAspect="1"/>
          </p:cNvPicPr>
          <p:nvPr/>
        </p:nvPicPr>
        <p:blipFill>
          <a:blip r:embed="rId2"/>
          <a:stretch>
            <a:fillRect/>
          </a:stretch>
        </p:blipFill>
        <p:spPr>
          <a:xfrm>
            <a:off x="1877903" y="2752907"/>
            <a:ext cx="8076776" cy="3109052"/>
          </a:xfrm>
          <a:prstGeom prst="rect">
            <a:avLst/>
          </a:prstGeom>
        </p:spPr>
      </p:pic>
    </p:spTree>
    <p:extLst>
      <p:ext uri="{BB962C8B-B14F-4D97-AF65-F5344CB8AC3E}">
        <p14:creationId xmlns:p14="http://schemas.microsoft.com/office/powerpoint/2010/main" val="31141966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2947</TotalTime>
  <Words>3695</Words>
  <Application>Microsoft Office PowerPoint</Application>
  <PresentationFormat>Widescreen</PresentationFormat>
  <Paragraphs>499</Paragraphs>
  <Slides>29</Slides>
  <Notes>24</Notes>
  <HiddenSlides>11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ff1</vt:lpstr>
      <vt:lpstr>Wingdings</vt:lpstr>
      <vt:lpstr>Office Theme</vt:lpstr>
      <vt:lpstr>Defensive distillation against Adversarial attacks for Deep neural networks</vt:lpstr>
      <vt:lpstr>Content </vt:lpstr>
      <vt:lpstr>Objective :</vt:lpstr>
      <vt:lpstr>Dataset Description :</vt:lpstr>
      <vt:lpstr>Implementation : Fast Gradient Sign Method  </vt:lpstr>
      <vt:lpstr>Implementation : Baseline model</vt:lpstr>
      <vt:lpstr>Implementation : Impacts Baseline model in Presence of FGSN</vt:lpstr>
      <vt:lpstr>Results : In Presence of FGSM  </vt:lpstr>
      <vt:lpstr>Implementation :CNN Architecture </vt:lpstr>
      <vt:lpstr>Distillation models: </vt:lpstr>
      <vt:lpstr>Defense Distillation: DNN Architecture  </vt:lpstr>
      <vt:lpstr>Distillation as Defense: CNN architecture </vt:lpstr>
      <vt:lpstr>Terms:</vt:lpstr>
      <vt:lpstr>Why it works?</vt:lpstr>
      <vt:lpstr>Results : In Presence of FGSM  </vt:lpstr>
      <vt:lpstr>Results : FGSM in Presence of Distillation </vt:lpstr>
      <vt:lpstr>Results : FGSM in Presence of Distillation </vt:lpstr>
      <vt:lpstr>Thank you !</vt:lpstr>
      <vt:lpstr>Results : FGSM in Presence of Distillation </vt:lpstr>
      <vt:lpstr>Why distillation fails?</vt:lpstr>
      <vt:lpstr>Limitation: </vt:lpstr>
      <vt:lpstr>PowerPoint Presentation</vt:lpstr>
      <vt:lpstr>Results : FGSM in Presence of Distillation </vt:lpstr>
      <vt:lpstr>Implementation : DNN architecture with distillation </vt:lpstr>
      <vt:lpstr>Results : FGSM in Presence of Distillation </vt:lpstr>
      <vt:lpstr>Methodology : Terms </vt:lpstr>
      <vt:lpstr>Results : FGSM in Presence of Distillation </vt:lpstr>
      <vt:lpstr>Robustness :</vt:lpstr>
      <vt:lpstr>Adversarial Examples: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Poornima Devi</dc:creator>
  <cp:lastModifiedBy>Poornima Devi</cp:lastModifiedBy>
  <cp:revision>11</cp:revision>
  <dcterms:created xsi:type="dcterms:W3CDTF">2025-11-27T20:36:11Z</dcterms:created>
  <dcterms:modified xsi:type="dcterms:W3CDTF">2026-01-20T08:22:14Z</dcterms:modified>
</cp:coreProperties>
</file>